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4.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Longest gap (days)</c:v>
                </c:pt>
              </c:strCache>
            </c:strRef>
          </c:tx>
          <c:spPr>
            <a:solidFill>
              <a:srgbClr val="008C9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Sheet1!$A$2:$A$11</c:f>
              <c:multiLvlStrCache>
                <c:ptCount val="10"/>
                <c:lvl>
                  <c:pt idx="0">
                    <c:v>45</c:v>
                  </c:pt>
                  <c:pt idx="1">
                    <c:v>9</c:v>
                  </c:pt>
                  <c:pt idx="2">
                    <c:v>184</c:v>
                  </c:pt>
                  <c:pt idx="3">
                    <c:v>109</c:v>
                  </c:pt>
                  <c:pt idx="4">
                    <c:v>99</c:v>
                  </c:pt>
                  <c:pt idx="5">
                    <c:v>244</c:v>
                  </c:pt>
                  <c:pt idx="6">
                    <c:v>119</c:v>
                  </c:pt>
                  <c:pt idx="7">
                    <c:v>116</c:v>
                  </c:pt>
                  <c:pt idx="8">
                    <c:v>122</c:v>
                  </c:pt>
                  <c:pt idx="9">
                    <c:v>3</c:v>
                  </c:pt>
                </c:lvl>
              </c:multiLvlStrCache>
            </c:multiLvlStrRef>
          </c:cat>
          <c:val>
            <c:numRef>
              <c:f>Sheet1!$B$2:$B$11</c:f>
              <c:numCache>
                <c:formatCode>General</c:formatCode>
                <c:ptCount val="10"/>
                <c:pt idx="0">
                  <c:v>241</c:v>
                </c:pt>
                <c:pt idx="1">
                  <c:v>231</c:v>
                </c:pt>
                <c:pt idx="2">
                  <c:v>224</c:v>
                </c:pt>
                <c:pt idx="3">
                  <c:v>218</c:v>
                </c:pt>
                <c:pt idx="4">
                  <c:v>217</c:v>
                </c:pt>
                <c:pt idx="5">
                  <c:v>213</c:v>
                </c:pt>
                <c:pt idx="6">
                  <c:v>212</c:v>
                </c:pt>
                <c:pt idx="7">
                  <c:v>209</c:v>
                </c:pt>
                <c:pt idx="8">
                  <c:v>208</c:v>
                </c:pt>
                <c:pt idx="9">
                  <c:v>205</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6708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8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6708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Customers</c:v>
                </c:pt>
              </c:strCache>
            </c:strRef>
          </c:tx>
          <c:spPr>
            <a:solidFill>
              <a:schemeClr val="accent1"/>
            </a:solidFill>
            <a:ln w="9525" cap="flat">
              <a:solidFill>
                <a:srgbClr val="F9F9F9"/>
              </a:solidFill>
              <a:prstDash val="solid"/>
              <a:round/>
            </a:ln>
            <a:effectLst/>
          </c:spPr>
          <c:dPt>
            <c:idx val="0"/>
            <c:bubble3D val="0"/>
            <c:spPr>
              <a:solidFill>
                <a:srgbClr val="008C95"/>
              </a:solidFill>
              <a:effectLst/>
            </c:spPr>
          </c:dPt>
          <c:dPt>
            <c:idx val="1"/>
            <c:bubble3D val="0"/>
            <c:spPr>
              <a:solidFill>
                <a:srgbClr val="EEF2F6"/>
              </a:solidFill>
              <a:effectLst/>
            </c:spPr>
          </c:dPt>
          <c:dLbls>
            <c:dLbl>
              <c:idx val="0"/>
              <c:numFmt formatCode="General" sourceLinked="0"/>
              <c:spPr/>
              <c:txPr>
                <a:bodyPr/>
                <a:lstStyle/>
                <a:p>
                  <a:pPr>
                    <a:defRPr sz="1200" b="0" i="0" u="none" strike="noStrike">
                      <a:solidFill>
                        <a:srgbClr val="14213D"/>
                      </a:solidFill>
                      <a:latin typeface="Arial"/>
                    </a:defRPr>
                  </a:pPr>
                </a:p>
              </c:txPr>
              <c:showLegendKey val="0"/>
              <c:showVal val="1"/>
              <c:showCatName val="0"/>
              <c:showSerName val="0"/>
              <c:showPercent val="0"/>
              <c:showBubbleSize val="0"/>
            </c:dLbl>
            <c:dLbl>
              <c:idx val="1"/>
              <c:numFmt formatCode="General" sourceLinked="0"/>
              <c:spPr/>
              <c:txPr>
                <a:bodyPr/>
                <a:lstStyle/>
                <a:p>
                  <a:pPr>
                    <a:defRPr sz="1200" b="0" i="0" u="none" strike="noStrike">
                      <a:solidFill>
                        <a:srgbClr val="14213D"/>
                      </a:solidFill>
                      <a:latin typeface="Arial"/>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Repeat</c:v>
                </c:pt>
                <c:pt idx="1">
                  <c:v>One-time</c:v>
                </c:pt>
              </c:strCache>
            </c:strRef>
          </c:cat>
          <c:val>
            <c:numRef>
              <c:f>Sheet1!$B$2:$B$3</c:f>
              <c:numCache>
                <c:ptCount val="2"/>
                <c:pt idx="0">
                  <c:v>43</c:v>
                </c:pt>
                <c:pt idx="1">
                  <c:v>93</c:v>
                </c:pt>
              </c:numCache>
            </c:numRef>
          </c:val>
        </c:ser>
        <c:firstSliceAng val="0"/>
        <c:holeSize val="68"/>
      </c:doughnutChart>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This deck presents a portfolio-style SQL analytics case study using a relational retail database. The emphasis is on analytical SQL patterns and the business meaning of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summary: The analysis surfaces three themes—retention, customer cadence, and inventory pressure. The goal is not only to calculate metrics but to identify decisions the business can make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schema: customers place orders, orders contain order_items, products are held in inventory, and stores fulfill the retail relationship. The analysis queries operate at different grains, so joins and aggregations must respect the grain.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the SQL techniques used across the examples: window functions, CTEs, CASE expressions, date functions, aggregation, joins, and null-handling.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LAG: within each customer, each order gets the timestamp from the prior order. DATEDIFF then turns the pair into an interval. The aggregation identifies the largest observed gap and average cadence. Customer 45 has the largest reported gap at 241 days and average gap of 121.5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the top ten customers by maximum purchase gap from the provided output. The key observation is the long tail: the top customer is at 241 days, while many others in the output have far shorter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query is intentionally staged: sales, inventory, product-level analytics, then global thresholds. The final filter surfaces products that are both high-volume and relatively understocked.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a compact watchlist from the provided result set. Products with zero inventory and high unit sales are the clearest urgent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repeat rate is calculated across customers who have at least one order. 43 customers have more than one order, 93 have exactly one, giving a reported repeat rate of 31.62%.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Recommendations are derived from the patterns in the supplied outputs. The next step in a production setting would be to validate these hypotheses with additional dimensions such as product category, seasonality, store, margin and customer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logical extensions rather than claims from the current dataset. They show how the same relational model could support deeper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Portfolio slide. The provided repository URL is shown exactly as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as the bridge from the project artifact to the professional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60-second project pitch. Emphasize business framing, the analytical patterns used, the actual output values, and the resulting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SQL is valuable when it moves from syntax to decisions. Thank the audience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502920" y="6446520"/>
            <a:ext cx="11155680" cy="0"/>
          </a:xfrm>
          <a:prstGeom prst="line">
            <a:avLst/>
          </a:prstGeom>
          <a:noFill/>
          <a:ln w="8890">
            <a:solidFill>
              <a:srgbClr val="DDE3EC"/>
            </a:solidFill>
            <a:prstDash val="solid"/>
          </a:ln>
        </p:spPr>
      </p:sp>
      <p:sp>
        <p:nvSpPr>
          <p:cNvPr id="3" name="Text 1"/>
          <p:cNvSpPr txBox="1"/>
          <p:nvPr/>
        </p:nvSpPr>
        <p:spPr>
          <a:xfrm>
            <a:off x="502920" y="6483096"/>
            <a:ext cx="3291840" cy="164592"/>
          </a:xfrm>
          <a:prstGeom prst="rect">
            <a:avLst/>
          </a:prstGeom>
          <a:noFill/>
          <a:ln/>
        </p:spPr>
        <p:txBody>
          <a:bodyPr wrap="square" lIns="0" tIns="0" rIns="0" bIns="0" rtlCol="0" anchor="ctr"/>
          <a:lstStyle/>
          <a:p>
            <a:pPr indent="0" marL="0">
              <a:buNone/>
            </a:pPr>
            <a:r>
              <a:rPr lang="en-US" sz="800" b="1" dirty="0">
                <a:solidFill>
                  <a:srgbClr val="7A8595"/>
                </a:solidFill>
                <a:latin typeface="Arial" pitchFamily="34" charset="0"/>
                <a:ea typeface="Arial" pitchFamily="34" charset="-122"/>
                <a:cs typeface="Arial" pitchFamily="34" charset="-120"/>
              </a:rPr>
              <a:t>SQL DATA SCIENCE MASTERY</a:t>
            </a:r>
            <a:endParaRPr lang="en-US" sz="800" dirty="0"/>
          </a:p>
        </p:txBody>
      </p:sp>
      <p:sp>
        <p:nvSpPr>
          <p:cNvPr id="4" name="Text 2"/>
          <p:cNvSpPr txBox="1"/>
          <p:nvPr/>
        </p:nvSpPr>
        <p:spPr>
          <a:xfrm>
            <a:off x="9509760" y="6483096"/>
            <a:ext cx="2148840" cy="164592"/>
          </a:xfrm>
          <a:prstGeom prst="rect">
            <a:avLst/>
          </a:prstGeom>
          <a:noFill/>
          <a:ln/>
        </p:spPr>
        <p:txBody>
          <a:bodyPr wrap="square" lIns="0" tIns="0" rIns="0" bIns="0" rtlCol="0" anchor="ctr"/>
          <a:lstStyle/>
          <a:p>
            <a:pPr algn="r" indent="0" marL="0">
              <a:buNone/>
            </a:pPr>
            <a:r>
              <a:rPr lang="en-US" sz="800" b="1" dirty="0">
                <a:solidFill>
                  <a:srgbClr val="7A8595"/>
                </a:solidFill>
                <a:latin typeface="Arial" pitchFamily="34" charset="0"/>
                <a:ea typeface="Arial" pitchFamily="34" charset="-122"/>
                <a:cs typeface="Arial" pitchFamily="34" charset="-120"/>
              </a:rPr>
              <a:t>PORTFOLIO PROJECT</a:t>
            </a:r>
            <a:endParaRPr lang="en-US" sz="800" dirty="0"/>
          </a:p>
        </p:txBody>
      </p:sp>
      <p:sp>
        <p:nvSpPr>
          <p:cNvPr id="25" name="Slide Number Placeholder 0"/>
          <p:cNvSpPr>
            <a:spLocks noGrp="1"/>
          </p:cNvSpPr>
          <p:nvPr>
            <p:ph type="sldNum" sz="quarter" idx="4294967295"/>
          </p:nvPr>
        </p:nvSpPr>
        <p:spPr>
          <a:xfrm>
            <a:off x="11686032" y="646480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8595"/>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86032" y="646480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8595"/>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github.com/kalipindiprasanthsai1267-hub/sql-data-science-mastery" TargetMode="External"/><Relationship Id="rId4" Type="http://schemas.openxmlformats.org/officeDocument/2006/relationships/hyperlink" Target="https://www.linkedin.com/in/prasanth-sai-kalipindi-8b8951321/"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9646920" y="914400"/>
            <a:ext cx="502920" cy="502920"/>
          </a:xfrm>
          <a:prstGeom prst="ellipse">
            <a:avLst/>
          </a:prstGeom>
          <a:solidFill>
            <a:srgbClr val="36C5D8"/>
          </a:solidFill>
          <a:ln w="12700">
            <a:solidFill>
              <a:srgbClr val="36C5D8">
                <a:alpha val="0"/>
              </a:srgbClr>
            </a:solidFill>
            <a:prstDash val="solid"/>
          </a:ln>
        </p:spPr>
        <p:txBody>
          <a:bodyPr/>
          <a:p/>
        </p:txBody>
      </p:sp>
      <p:sp>
        <p:nvSpPr>
          <p:cNvPr id="3" name="Shape 1"/>
          <p:cNvSpPr/>
          <p:nvPr/>
        </p:nvSpPr>
        <p:spPr>
          <a:xfrm>
            <a:off x="10442448" y="1627632"/>
            <a:ext cx="320040" cy="320040"/>
          </a:xfrm>
          <a:prstGeom prst="ellipse">
            <a:avLst/>
          </a:prstGeom>
          <a:solidFill>
            <a:srgbClr val="F4A261"/>
          </a:solidFill>
          <a:ln w="12700">
            <a:solidFill>
              <a:srgbClr val="F4A261">
                <a:alpha val="0"/>
              </a:srgbClr>
            </a:solidFill>
            <a:prstDash val="solid"/>
          </a:ln>
        </p:spPr>
        <p:txBody>
          <a:bodyPr/>
          <a:p/>
        </p:txBody>
      </p:sp>
      <p:sp>
        <p:nvSpPr>
          <p:cNvPr id="4" name="Shape 2"/>
          <p:cNvSpPr/>
          <p:nvPr/>
        </p:nvSpPr>
        <p:spPr>
          <a:xfrm>
            <a:off x="9857232" y="2304288"/>
            <a:ext cx="256032" cy="256032"/>
          </a:xfrm>
          <a:prstGeom prst="ellipse">
            <a:avLst/>
          </a:prstGeom>
          <a:solidFill>
            <a:srgbClr val="008C95"/>
          </a:solidFill>
          <a:ln w="12700">
            <a:solidFill>
              <a:srgbClr val="008C95">
                <a:alpha val="0"/>
              </a:srgbClr>
            </a:solidFill>
            <a:prstDash val="solid"/>
          </a:ln>
        </p:spPr>
        <p:txBody>
          <a:bodyPr/>
          <a:p/>
        </p:txBody>
      </p:sp>
      <p:sp>
        <p:nvSpPr>
          <p:cNvPr id="5" name="Shape 3"/>
          <p:cNvSpPr/>
          <p:nvPr/>
        </p:nvSpPr>
        <p:spPr>
          <a:xfrm>
            <a:off x="10744200" y="2834640"/>
            <a:ext cx="438912" cy="438912"/>
          </a:xfrm>
          <a:prstGeom prst="ellipse">
            <a:avLst/>
          </a:prstGeom>
          <a:solidFill>
            <a:srgbClr val="F6BD60"/>
          </a:solidFill>
          <a:ln w="12700">
            <a:solidFill>
              <a:srgbClr val="F6BD60">
                <a:alpha val="0"/>
              </a:srgbClr>
            </a:solidFill>
            <a:prstDash val="solid"/>
          </a:ln>
        </p:spPr>
        <p:txBody>
          <a:bodyPr/>
          <a:p/>
        </p:txBody>
      </p:sp>
      <p:sp>
        <p:nvSpPr>
          <p:cNvPr id="6" name="Shape 4"/>
          <p:cNvSpPr/>
          <p:nvPr/>
        </p:nvSpPr>
        <p:spPr>
          <a:xfrm>
            <a:off x="9418320" y="3337560"/>
            <a:ext cx="384048" cy="384048"/>
          </a:xfrm>
          <a:prstGeom prst="ellipse">
            <a:avLst/>
          </a:prstGeom>
          <a:solidFill>
            <a:srgbClr val="36C5D8"/>
          </a:solidFill>
          <a:ln w="12700">
            <a:solidFill>
              <a:srgbClr val="36C5D8">
                <a:alpha val="0"/>
              </a:srgbClr>
            </a:solidFill>
            <a:prstDash val="solid"/>
          </a:ln>
        </p:spPr>
        <p:txBody>
          <a:bodyPr/>
          <a:p/>
        </p:txBody>
      </p:sp>
      <p:sp>
        <p:nvSpPr>
          <p:cNvPr id="7" name="Shape 5"/>
          <p:cNvSpPr/>
          <p:nvPr/>
        </p:nvSpPr>
        <p:spPr>
          <a:xfrm>
            <a:off x="10607040" y="4160520"/>
            <a:ext cx="274320" cy="274320"/>
          </a:xfrm>
          <a:prstGeom prst="ellipse">
            <a:avLst/>
          </a:prstGeom>
          <a:solidFill>
            <a:srgbClr val="008C95"/>
          </a:solidFill>
          <a:ln w="12700">
            <a:solidFill>
              <a:srgbClr val="008C95">
                <a:alpha val="0"/>
              </a:srgbClr>
            </a:solidFill>
            <a:prstDash val="solid"/>
          </a:ln>
        </p:spPr>
        <p:txBody>
          <a:bodyPr/>
          <a:p/>
        </p:txBody>
      </p:sp>
      <p:sp>
        <p:nvSpPr>
          <p:cNvPr id="8" name="Shape 6"/>
          <p:cNvSpPr/>
          <p:nvPr/>
        </p:nvSpPr>
        <p:spPr>
          <a:xfrm>
            <a:off x="9893808" y="1298448"/>
            <a:ext cx="594360" cy="484632"/>
          </a:xfrm>
          <a:prstGeom prst="line">
            <a:avLst/>
          </a:prstGeom>
          <a:noFill/>
          <a:ln w="17780">
            <a:solidFill>
              <a:srgbClr val="5B6F91">
                <a:alpha val="75000"/>
              </a:srgbClr>
            </a:solidFill>
            <a:prstDash val="solid"/>
          </a:ln>
        </p:spPr>
        <p:txBody>
          <a:bodyPr/>
          <a:p/>
        </p:txBody>
      </p:sp>
      <p:sp>
        <p:nvSpPr>
          <p:cNvPr id="9" name="Shape 7"/>
          <p:cNvSpPr/>
          <p:nvPr/>
        </p:nvSpPr>
        <p:spPr>
          <a:xfrm>
            <a:off x="10561320" y="1938528"/>
            <a:ext cx="-228600" cy="896112"/>
          </a:xfrm>
          <a:prstGeom prst="line">
            <a:avLst/>
          </a:prstGeom>
          <a:noFill/>
          <a:ln w="17780">
            <a:solidFill>
              <a:srgbClr val="5B6F91">
                <a:alpha val="75000"/>
              </a:srgbClr>
            </a:solidFill>
            <a:prstDash val="solid"/>
          </a:ln>
        </p:spPr>
        <p:txBody>
          <a:bodyPr/>
          <a:p/>
        </p:txBody>
      </p:sp>
      <p:sp>
        <p:nvSpPr>
          <p:cNvPr id="10" name="Shape 8"/>
          <p:cNvSpPr/>
          <p:nvPr/>
        </p:nvSpPr>
        <p:spPr>
          <a:xfrm>
            <a:off x="10021824" y="2542032"/>
            <a:ext cx="685800" cy="320040"/>
          </a:xfrm>
          <a:prstGeom prst="line">
            <a:avLst/>
          </a:prstGeom>
          <a:noFill/>
          <a:ln w="17780">
            <a:solidFill>
              <a:srgbClr val="5B6F91">
                <a:alpha val="75000"/>
              </a:srgbClr>
            </a:solidFill>
            <a:prstDash val="solid"/>
          </a:ln>
        </p:spPr>
        <p:txBody>
          <a:bodyPr/>
          <a:p/>
        </p:txBody>
      </p:sp>
      <p:sp>
        <p:nvSpPr>
          <p:cNvPr id="11" name="Shape 9"/>
          <p:cNvSpPr/>
          <p:nvPr/>
        </p:nvSpPr>
        <p:spPr>
          <a:xfrm>
            <a:off x="10104120" y="3657600"/>
            <a:ext cx="484632" cy="502920"/>
          </a:xfrm>
          <a:prstGeom prst="line">
            <a:avLst/>
          </a:prstGeom>
          <a:noFill/>
          <a:ln w="17780">
            <a:solidFill>
              <a:srgbClr val="5B6F91">
                <a:alpha val="75000"/>
              </a:srgbClr>
            </a:solidFill>
            <a:prstDash val="solid"/>
          </a:ln>
        </p:spPr>
        <p:txBody>
          <a:bodyPr/>
          <a:p/>
        </p:txBody>
      </p:sp>
      <p:sp>
        <p:nvSpPr>
          <p:cNvPr id="12" name="Shape 10"/>
          <p:cNvSpPr/>
          <p:nvPr/>
        </p:nvSpPr>
        <p:spPr>
          <a:xfrm>
            <a:off x="594360" y="566928"/>
            <a:ext cx="2468880" cy="310896"/>
          </a:xfrm>
          <a:prstGeom prst="roundRect">
            <a:avLst>
              <a:gd name="adj" fmla="val 50000"/>
            </a:avLst>
          </a:prstGeom>
          <a:solidFill>
            <a:srgbClr val="214E64"/>
          </a:solidFill>
          <a:ln w="12700">
            <a:solidFill>
              <a:srgbClr val="214E64">
                <a:alpha val="0"/>
              </a:srgbClr>
            </a:solidFill>
            <a:prstDash val="solid"/>
          </a:ln>
        </p:spPr>
        <p:txBody>
          <a:bodyPr/>
          <a:p/>
        </p:txBody>
      </p:sp>
      <p:sp>
        <p:nvSpPr>
          <p:cNvPr id="13" name="Text 11"/>
          <p:cNvSpPr txBox="1"/>
          <p:nvPr/>
        </p:nvSpPr>
        <p:spPr>
          <a:xfrm>
            <a:off x="594360" y="585216"/>
            <a:ext cx="2468880" cy="201168"/>
          </a:xfrm>
          <a:prstGeom prst="rect">
            <a:avLst/>
          </a:prstGeom>
          <a:noFill/>
          <a:ln/>
        </p:spPr>
        <p:txBody>
          <a:bodyPr wrap="square" lIns="0" tIns="0" rIns="0" bIns="0" rtlCol="0" anchor="ctr">
            <a:normAutofit/>
          </a:bodyPr>
          <a:lstStyle/>
          <a:p>
            <a:pPr algn="ctr" indent="0" marL="0">
              <a:buNone/>
            </a:pPr>
            <a:r>
              <a:rPr lang="en-US" sz="900" b="1" dirty="0">
                <a:solidFill>
                  <a:srgbClr val="8FE7EF"/>
                </a:solidFill>
                <a:latin typeface="Arial" pitchFamily="34" charset="0"/>
                <a:ea typeface="Arial" pitchFamily="34" charset="-122"/>
                <a:cs typeface="Arial" pitchFamily="34" charset="-120"/>
              </a:rPr>
              <a:t>SQL • DATA SCIENCE FOUNDATION</a:t>
            </a:r>
            <a:endParaRPr lang="en-US" sz="900" dirty="0"/>
          </a:p>
        </p:txBody>
      </p:sp>
      <p:sp>
        <p:nvSpPr>
          <p:cNvPr id="14" name="Text 12"/>
          <p:cNvSpPr txBox="1"/>
          <p:nvPr/>
        </p:nvSpPr>
        <p:spPr>
          <a:xfrm>
            <a:off x="594360" y="1170432"/>
            <a:ext cx="7635240" cy="1417320"/>
          </a:xfrm>
          <a:prstGeom prst="rect">
            <a:avLst/>
          </a:prstGeom>
          <a:noFill/>
          <a:ln/>
        </p:spPr>
        <p:txBody>
          <a:bodyPr wrap="square" lIns="0" tIns="0" rIns="0" bIns="0" rtlCol="0" anchor="ctr">
            <a:normAutofit/>
          </a:bodyPr>
          <a:lstStyle/>
          <a:p>
            <a:pPr algn="l" indent="0" marL="0">
              <a:buNone/>
            </a:pPr>
            <a:r>
              <a:rPr lang="en-US" sz="4000" b="1" dirty="0">
                <a:solidFill>
                  <a:srgbClr val="FFFFFF"/>
                </a:solidFill>
                <a:latin typeface="Cambria" pitchFamily="34" charset="0"/>
                <a:ea typeface="Cambria" pitchFamily="34" charset="-122"/>
                <a:cs typeface="Cambria" pitchFamily="34" charset="-120"/>
              </a:rPr>
              <a:t>SQL Data Science</a:t>
            </a:r>
            <a:endParaRPr lang="en-US" sz="4000" dirty="0"/>
          </a:p>
          <a:p>
            <a:pPr algn="l" indent="0" marL="0">
              <a:buNone/>
            </a:pPr>
            <a:r>
              <a:rPr lang="en-US" sz="4000" b="1" dirty="0">
                <a:solidFill>
                  <a:srgbClr val="FFFFFF"/>
                </a:solidFill>
                <a:latin typeface="Cambria" pitchFamily="34" charset="0"/>
                <a:ea typeface="Cambria" pitchFamily="34" charset="-122"/>
                <a:cs typeface="Cambria" pitchFamily="34" charset="-120"/>
              </a:rPr>
              <a:t>Mastery</a:t>
            </a:r>
            <a:endParaRPr lang="en-US" sz="4000" dirty="0"/>
          </a:p>
        </p:txBody>
      </p:sp>
      <p:sp>
        <p:nvSpPr>
          <p:cNvPr id="15" name="Text 13"/>
          <p:cNvSpPr txBox="1"/>
          <p:nvPr/>
        </p:nvSpPr>
        <p:spPr>
          <a:xfrm>
            <a:off x="621792" y="2788920"/>
            <a:ext cx="6263640" cy="502920"/>
          </a:xfrm>
          <a:prstGeom prst="rect">
            <a:avLst/>
          </a:prstGeom>
          <a:noFill/>
          <a:ln/>
        </p:spPr>
        <p:txBody>
          <a:bodyPr wrap="square" lIns="0" tIns="0" rIns="0" bIns="0" rtlCol="0" anchor="ctr">
            <a:normAutofit/>
          </a:bodyPr>
          <a:lstStyle/>
          <a:p>
            <a:pPr algn="l" indent="0" marL="0">
              <a:buNone/>
            </a:pPr>
            <a:r>
              <a:rPr lang="en-US" sz="1800" dirty="0">
                <a:solidFill>
                  <a:srgbClr val="D9E4F1"/>
                </a:solidFill>
                <a:latin typeface="Arial" pitchFamily="34" charset="0"/>
                <a:ea typeface="Arial" pitchFamily="34" charset="-122"/>
                <a:cs typeface="Arial" pitchFamily="34" charset="-120"/>
              </a:rPr>
              <a:t>Retail order analytics using relational data</a:t>
            </a:r>
            <a:endParaRPr lang="en-US" sz="1800" dirty="0"/>
          </a:p>
        </p:txBody>
      </p:sp>
      <p:sp>
        <p:nvSpPr>
          <p:cNvPr id="16" name="Text 14"/>
          <p:cNvSpPr txBox="1"/>
          <p:nvPr/>
        </p:nvSpPr>
        <p:spPr>
          <a:xfrm>
            <a:off x="621792" y="3364992"/>
            <a:ext cx="5715000" cy="310896"/>
          </a:xfrm>
          <a:prstGeom prst="rect">
            <a:avLst/>
          </a:prstGeom>
          <a:noFill/>
          <a:ln/>
        </p:spPr>
        <p:txBody>
          <a:bodyPr wrap="square" lIns="0" tIns="0" rIns="0" bIns="0" rtlCol="0" anchor="ctr">
            <a:normAutofit/>
          </a:bodyPr>
          <a:lstStyle/>
          <a:p>
            <a:pPr algn="l" indent="0" marL="0">
              <a:buNone/>
            </a:pPr>
            <a:r>
              <a:rPr lang="en-US" sz="1250" dirty="0">
                <a:solidFill>
                  <a:srgbClr val="AFC0D6"/>
                </a:solidFill>
                <a:latin typeface="Arial" pitchFamily="34" charset="0"/>
                <a:ea typeface="Arial" pitchFamily="34" charset="-122"/>
                <a:cs typeface="Arial" pitchFamily="34" charset="-120"/>
              </a:rPr>
              <a:t>SQL analysis • customer behavior • inventory</a:t>
            </a:r>
            <a:endParaRPr lang="en-US" sz="1250" dirty="0"/>
          </a:p>
        </p:txBody>
      </p:sp>
      <p:sp>
        <p:nvSpPr>
          <p:cNvPr id="17" name="Shape 15"/>
          <p:cNvSpPr/>
          <p:nvPr/>
        </p:nvSpPr>
        <p:spPr>
          <a:xfrm>
            <a:off x="621792" y="4160520"/>
            <a:ext cx="2240280" cy="1051560"/>
          </a:xfrm>
          <a:prstGeom prst="roundRect">
            <a:avLst>
              <a:gd name="adj" fmla="val 13913"/>
            </a:avLst>
          </a:prstGeom>
          <a:solidFill>
            <a:srgbClr val="FFFFFF"/>
          </a:solidFill>
          <a:ln w="12700">
            <a:solidFill>
              <a:srgbClr val="FFFFFF">
                <a:alpha val="0"/>
              </a:srgbClr>
            </a:solidFill>
            <a:prstDash val="solid"/>
          </a:ln>
        </p:spPr>
        <p:txBody>
          <a:bodyPr/>
          <a:p/>
        </p:txBody>
      </p:sp>
      <p:sp>
        <p:nvSpPr>
          <p:cNvPr id="18" name="Shape 16"/>
          <p:cNvSpPr/>
          <p:nvPr/>
        </p:nvSpPr>
        <p:spPr>
          <a:xfrm>
            <a:off x="786384" y="4325112"/>
            <a:ext cx="201168" cy="201168"/>
          </a:xfrm>
          <a:prstGeom prst="ellipse">
            <a:avLst/>
          </a:prstGeom>
          <a:solidFill>
            <a:srgbClr val="36C5D8"/>
          </a:solidFill>
          <a:ln w="12700">
            <a:solidFill>
              <a:srgbClr val="36C5D8">
                <a:alpha val="0"/>
              </a:srgbClr>
            </a:solidFill>
            <a:prstDash val="solid"/>
          </a:ln>
        </p:spPr>
        <p:txBody>
          <a:bodyPr/>
          <a:p/>
        </p:txBody>
      </p:sp>
      <p:sp>
        <p:nvSpPr>
          <p:cNvPr id="19" name="Text 17"/>
          <p:cNvSpPr txBox="1"/>
          <p:nvPr/>
        </p:nvSpPr>
        <p:spPr>
          <a:xfrm>
            <a:off x="1078992" y="4297680"/>
            <a:ext cx="164592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31.62%</a:t>
            </a:r>
            <a:endParaRPr lang="en-US" sz="2700" dirty="0"/>
          </a:p>
        </p:txBody>
      </p:sp>
      <p:sp>
        <p:nvSpPr>
          <p:cNvPr id="20" name="Text 18"/>
          <p:cNvSpPr txBox="1"/>
          <p:nvPr/>
        </p:nvSpPr>
        <p:spPr>
          <a:xfrm>
            <a:off x="1078992" y="4764024"/>
            <a:ext cx="160020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Repeat customer rate</a:t>
            </a:r>
            <a:endParaRPr lang="en-US" sz="1050" dirty="0"/>
          </a:p>
        </p:txBody>
      </p:sp>
      <p:sp>
        <p:nvSpPr>
          <p:cNvPr id="21" name="Shape 19"/>
          <p:cNvSpPr/>
          <p:nvPr/>
        </p:nvSpPr>
        <p:spPr>
          <a:xfrm>
            <a:off x="3017520" y="4160520"/>
            <a:ext cx="2240280" cy="1051560"/>
          </a:xfrm>
          <a:prstGeom prst="roundRect">
            <a:avLst>
              <a:gd name="adj" fmla="val 13913"/>
            </a:avLst>
          </a:prstGeom>
          <a:solidFill>
            <a:srgbClr val="FFFFFF"/>
          </a:solidFill>
          <a:ln w="12700">
            <a:solidFill>
              <a:srgbClr val="FFFFFF">
                <a:alpha val="0"/>
              </a:srgbClr>
            </a:solidFill>
            <a:prstDash val="solid"/>
          </a:ln>
        </p:spPr>
        <p:txBody>
          <a:bodyPr/>
          <a:p/>
        </p:txBody>
      </p:sp>
      <p:sp>
        <p:nvSpPr>
          <p:cNvPr id="22" name="Shape 20"/>
          <p:cNvSpPr/>
          <p:nvPr/>
        </p:nvSpPr>
        <p:spPr>
          <a:xfrm>
            <a:off x="3182112" y="4325112"/>
            <a:ext cx="201168" cy="201168"/>
          </a:xfrm>
          <a:prstGeom prst="ellipse">
            <a:avLst/>
          </a:prstGeom>
          <a:solidFill>
            <a:srgbClr val="F4A261"/>
          </a:solidFill>
          <a:ln w="12700">
            <a:solidFill>
              <a:srgbClr val="F4A261">
                <a:alpha val="0"/>
              </a:srgbClr>
            </a:solidFill>
            <a:prstDash val="solid"/>
          </a:ln>
        </p:spPr>
        <p:txBody>
          <a:bodyPr/>
          <a:p/>
        </p:txBody>
      </p:sp>
      <p:sp>
        <p:nvSpPr>
          <p:cNvPr id="23" name="Text 21"/>
          <p:cNvSpPr txBox="1"/>
          <p:nvPr/>
        </p:nvSpPr>
        <p:spPr>
          <a:xfrm>
            <a:off x="3474720" y="4297680"/>
            <a:ext cx="164592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241 days</a:t>
            </a:r>
            <a:endParaRPr lang="en-US" sz="2700" dirty="0"/>
          </a:p>
        </p:txBody>
      </p:sp>
      <p:sp>
        <p:nvSpPr>
          <p:cNvPr id="24" name="Text 22"/>
          <p:cNvSpPr txBox="1"/>
          <p:nvPr/>
        </p:nvSpPr>
        <p:spPr>
          <a:xfrm>
            <a:off x="3474720" y="4764024"/>
            <a:ext cx="160020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Longest purchase gap</a:t>
            </a:r>
            <a:endParaRPr lang="en-US" sz="1050" dirty="0"/>
          </a:p>
        </p:txBody>
      </p:sp>
      <p:sp>
        <p:nvSpPr>
          <p:cNvPr id="25" name="Shape 23"/>
          <p:cNvSpPr/>
          <p:nvPr/>
        </p:nvSpPr>
        <p:spPr>
          <a:xfrm>
            <a:off x="5413248" y="4160520"/>
            <a:ext cx="2240280" cy="1051560"/>
          </a:xfrm>
          <a:prstGeom prst="roundRect">
            <a:avLst>
              <a:gd name="adj" fmla="val 13913"/>
            </a:avLst>
          </a:prstGeom>
          <a:solidFill>
            <a:srgbClr val="FFFFFF"/>
          </a:solidFill>
          <a:ln w="12700">
            <a:solidFill>
              <a:srgbClr val="FFFFFF">
                <a:alpha val="0"/>
              </a:srgbClr>
            </a:solidFill>
            <a:prstDash val="solid"/>
          </a:ln>
        </p:spPr>
        <p:txBody>
          <a:bodyPr/>
          <a:p/>
        </p:txBody>
      </p:sp>
      <p:sp>
        <p:nvSpPr>
          <p:cNvPr id="26" name="Shape 24"/>
          <p:cNvSpPr/>
          <p:nvPr/>
        </p:nvSpPr>
        <p:spPr>
          <a:xfrm>
            <a:off x="5577840" y="4325112"/>
            <a:ext cx="201168" cy="201168"/>
          </a:xfrm>
          <a:prstGeom prst="ellipse">
            <a:avLst/>
          </a:prstGeom>
          <a:solidFill>
            <a:srgbClr val="008C95"/>
          </a:solidFill>
          <a:ln w="12700">
            <a:solidFill>
              <a:srgbClr val="008C95">
                <a:alpha val="0"/>
              </a:srgbClr>
            </a:solidFill>
            <a:prstDash val="solid"/>
          </a:ln>
        </p:spPr>
        <p:txBody>
          <a:bodyPr/>
          <a:p/>
        </p:txBody>
      </p:sp>
      <p:sp>
        <p:nvSpPr>
          <p:cNvPr id="27" name="Text 25"/>
          <p:cNvSpPr txBox="1"/>
          <p:nvPr/>
        </p:nvSpPr>
        <p:spPr>
          <a:xfrm>
            <a:off x="5870448" y="4297680"/>
            <a:ext cx="164592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39 units</a:t>
            </a:r>
            <a:endParaRPr lang="en-US" sz="2700" dirty="0"/>
          </a:p>
        </p:txBody>
      </p:sp>
      <p:sp>
        <p:nvSpPr>
          <p:cNvPr id="28" name="Text 26"/>
          <p:cNvSpPr txBox="1"/>
          <p:nvPr/>
        </p:nvSpPr>
        <p:spPr>
          <a:xfrm>
            <a:off x="5870448" y="4764024"/>
            <a:ext cx="160020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Highest flagged sales</a:t>
            </a:r>
            <a:endParaRPr lang="en-US" sz="1050" dirty="0"/>
          </a:p>
        </p:txBody>
      </p:sp>
      <p:sp>
        <p:nvSpPr>
          <p:cNvPr id="29" name="Text 27"/>
          <p:cNvSpPr txBox="1"/>
          <p:nvPr/>
        </p:nvSpPr>
        <p:spPr>
          <a:xfrm>
            <a:off x="621792" y="5742432"/>
            <a:ext cx="3840480" cy="256032"/>
          </a:xfrm>
          <a:prstGeom prst="rect">
            <a:avLst/>
          </a:prstGeom>
          <a:noFill/>
          <a:ln/>
        </p:spPr>
        <p:txBody>
          <a:bodyPr wrap="square" lIns="0" tIns="0" rIns="0" bIns="0" rtlCol="0" anchor="ctr">
            <a:normAutofit/>
          </a:bodyPr>
          <a:lstStyle/>
          <a:p>
            <a:pPr algn="l" indent="0" marL="0">
              <a:buNone/>
            </a:pPr>
            <a:r>
              <a:rPr lang="en-US" sz="1050" dirty="0">
                <a:solidFill>
                  <a:srgbClr val="AFC0D6"/>
                </a:solidFill>
                <a:latin typeface="Arial" pitchFamily="34" charset="0"/>
                <a:ea typeface="Arial" pitchFamily="34" charset="-122"/>
                <a:cs typeface="Arial" pitchFamily="34" charset="-120"/>
              </a:rPr>
              <a:t>Prepared by Prasanth Sai Kalipindi</a:t>
            </a:r>
            <a:endParaRPr lang="en-US" sz="1050" dirty="0"/>
          </a:p>
        </p:txBody>
      </p:sp>
      <p:sp>
        <p:nvSpPr>
          <p:cNvPr id="30" name="Text 28"/>
          <p:cNvSpPr txBox="1"/>
          <p:nvPr/>
        </p:nvSpPr>
        <p:spPr>
          <a:xfrm>
            <a:off x="621792" y="6035040"/>
            <a:ext cx="8412480" cy="201168"/>
          </a:xfrm>
          <a:prstGeom prst="rect">
            <a:avLst/>
          </a:prstGeom>
          <a:noFill/>
          <a:ln/>
        </p:spPr>
        <p:txBody>
          <a:bodyPr wrap="square" lIns="0" tIns="0" rIns="0" bIns="0" rtlCol="0" anchor="ctr">
            <a:normAutofit/>
          </a:bodyPr>
          <a:lstStyle/>
          <a:p>
            <a:pPr algn="l" indent="0" marL="0">
              <a:buNone/>
            </a:pPr>
            <a:r>
              <a:rPr lang="en-US" sz="950" dirty="0">
                <a:solidFill>
                  <a:srgbClr val="8FE7EF"/>
                </a:solidFill>
                <a:latin typeface="Arial" pitchFamily="34" charset="0"/>
                <a:ea typeface="Arial" pitchFamily="34" charset="-122"/>
                <a:cs typeface="Arial" pitchFamily="34" charset="-120"/>
              </a:rPr>
              <a:t>github.com/kalipindiprasanthsai1267-hub/sql-data-science-mastery</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2560320" cy="228600"/>
          </a:xfrm>
          <a:prstGeom prst="rect">
            <a:avLst/>
          </a:prstGeom>
          <a:noFill/>
          <a:ln/>
        </p:spPr>
        <p:txBody>
          <a:bodyPr wrap="square" lIns="0" tIns="0" rIns="0" bIns="0" rtlCol="0" anchor="ctr">
            <a:normAutofit/>
          </a:bodyPr>
          <a:lstStyle/>
          <a:p>
            <a:pPr algn="l" indent="0" marL="0">
              <a:buNone/>
            </a:pPr>
            <a:r>
              <a:rPr lang="en-US" sz="900" b="1" spc="110" kern="0" dirty="0">
                <a:solidFill>
                  <a:srgbClr val="008C95"/>
                </a:solidFill>
                <a:latin typeface="Arial" pitchFamily="34" charset="0"/>
                <a:ea typeface="Arial" pitchFamily="34" charset="-122"/>
                <a:cs typeface="Arial" pitchFamily="34" charset="-120"/>
              </a:rPr>
              <a:t>01 • PROJECT OVERVIEW</a:t>
            </a:r>
            <a:endParaRPr lang="en-US" sz="900" dirty="0"/>
          </a:p>
        </p:txBody>
      </p:sp>
      <p:sp>
        <p:nvSpPr>
          <p:cNvPr id="3" name="Text 1"/>
          <p:cNvSpPr txBox="1"/>
          <p:nvPr/>
        </p:nvSpPr>
        <p:spPr>
          <a:xfrm>
            <a:off x="548640" y="640080"/>
            <a:ext cx="10607040" cy="566928"/>
          </a:xfrm>
          <a:prstGeom prst="rect">
            <a:avLst/>
          </a:prstGeom>
          <a:noFill/>
          <a:ln/>
        </p:spPr>
        <p:txBody>
          <a:bodyPr wrap="square" lIns="0" tIns="0" rIns="0" bIns="0" rtlCol="0" anchor="ctr">
            <a:normAutofit/>
          </a:bodyPr>
          <a:lstStyle/>
          <a:p>
            <a:pPr algn="l" indent="0" marL="0">
              <a:buNone/>
            </a:pPr>
            <a:r>
              <a:rPr lang="en-US" sz="2900" b="1" dirty="0">
                <a:solidFill>
                  <a:srgbClr val="14213D"/>
                </a:solidFill>
                <a:latin typeface="Cambria" pitchFamily="34" charset="0"/>
                <a:ea typeface="Cambria" pitchFamily="34" charset="-122"/>
                <a:cs typeface="Cambria" pitchFamily="34" charset="-120"/>
              </a:rPr>
              <a:t>Project overview</a:t>
            </a:r>
            <a:endParaRPr lang="en-US" sz="2900" dirty="0"/>
          </a:p>
        </p:txBody>
      </p:sp>
      <p:sp>
        <p:nvSpPr>
          <p:cNvPr id="4" name="Text 2"/>
          <p:cNvSpPr txBox="1"/>
          <p:nvPr/>
        </p:nvSpPr>
        <p:spPr>
          <a:xfrm>
            <a:off x="548640" y="1243584"/>
            <a:ext cx="10607040" cy="384048"/>
          </a:xfrm>
          <a:prstGeom prst="rect">
            <a:avLst/>
          </a:prstGeom>
          <a:noFill/>
          <a:ln/>
        </p:spPr>
        <p:txBody>
          <a:bodyPr wrap="square" lIns="0" tIns="0" rIns="0" bIns="0" rtlCol="0" anchor="ctr">
            <a:normAutofit/>
          </a:bodyPr>
          <a:lstStyle/>
          <a:p>
            <a:pPr algn="l" indent="0" marL="0">
              <a:buNone/>
            </a:pPr>
            <a:r>
              <a:rPr lang="en-US" sz="1250" dirty="0">
                <a:solidFill>
                  <a:srgbClr val="667085"/>
                </a:solidFill>
                <a:latin typeface="Arial" pitchFamily="34" charset="0"/>
                <a:ea typeface="Arial" pitchFamily="34" charset="-122"/>
                <a:cs typeface="Arial" pitchFamily="34" charset="-120"/>
              </a:rPr>
              <a:t>Retail order analytics across customers, orders, products, inventory, and stores.</a:t>
            </a:r>
            <a:endParaRPr lang="en-US" sz="1250" dirty="0"/>
          </a:p>
        </p:txBody>
      </p:sp>
      <p:sp>
        <p:nvSpPr>
          <p:cNvPr id="5" name="Shape 3"/>
          <p:cNvSpPr/>
          <p:nvPr/>
        </p:nvSpPr>
        <p:spPr>
          <a:xfrm>
            <a:off x="594360" y="1783080"/>
            <a:ext cx="2331720" cy="1051560"/>
          </a:xfrm>
          <a:prstGeom prst="roundRect">
            <a:avLst>
              <a:gd name="adj" fmla="val 13913"/>
            </a:avLst>
          </a:prstGeom>
          <a:solidFill>
            <a:srgbClr val="FFFFFF"/>
          </a:solidFill>
          <a:ln w="12700">
            <a:solidFill>
              <a:srgbClr val="FFFFFF">
                <a:alpha val="0"/>
              </a:srgbClr>
            </a:solidFill>
            <a:prstDash val="solid"/>
          </a:ln>
        </p:spPr>
        <p:txBody>
          <a:bodyPr/>
          <a:p/>
        </p:txBody>
      </p:sp>
      <p:sp>
        <p:nvSpPr>
          <p:cNvPr id="6" name="Shape 4"/>
          <p:cNvSpPr/>
          <p:nvPr/>
        </p:nvSpPr>
        <p:spPr>
          <a:xfrm>
            <a:off x="758952" y="1947672"/>
            <a:ext cx="201168" cy="201168"/>
          </a:xfrm>
          <a:prstGeom prst="ellipse">
            <a:avLst/>
          </a:prstGeom>
          <a:solidFill>
            <a:srgbClr val="008C95"/>
          </a:solidFill>
          <a:ln w="12700">
            <a:solidFill>
              <a:srgbClr val="008C95">
                <a:alpha val="0"/>
              </a:srgbClr>
            </a:solidFill>
            <a:prstDash val="solid"/>
          </a:ln>
        </p:spPr>
        <p:txBody>
          <a:bodyPr/>
          <a:p/>
        </p:txBody>
      </p:sp>
      <p:sp>
        <p:nvSpPr>
          <p:cNvPr id="7" name="Text 5"/>
          <p:cNvSpPr txBox="1"/>
          <p:nvPr/>
        </p:nvSpPr>
        <p:spPr>
          <a:xfrm>
            <a:off x="1051560" y="1920240"/>
            <a:ext cx="173736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136</a:t>
            </a:r>
            <a:endParaRPr lang="en-US" sz="2700" dirty="0"/>
          </a:p>
        </p:txBody>
      </p:sp>
      <p:sp>
        <p:nvSpPr>
          <p:cNvPr id="8" name="Text 6"/>
          <p:cNvSpPr txBox="1"/>
          <p:nvPr/>
        </p:nvSpPr>
        <p:spPr>
          <a:xfrm>
            <a:off x="1051560" y="2386584"/>
            <a:ext cx="169164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customers with orders</a:t>
            </a:r>
            <a:endParaRPr lang="en-US" sz="1050" dirty="0"/>
          </a:p>
        </p:txBody>
      </p:sp>
      <p:sp>
        <p:nvSpPr>
          <p:cNvPr id="9" name="Shape 7"/>
          <p:cNvSpPr/>
          <p:nvPr/>
        </p:nvSpPr>
        <p:spPr>
          <a:xfrm>
            <a:off x="3154680" y="1783080"/>
            <a:ext cx="2331720" cy="1051560"/>
          </a:xfrm>
          <a:prstGeom prst="roundRect">
            <a:avLst>
              <a:gd name="adj" fmla="val 13913"/>
            </a:avLst>
          </a:prstGeom>
          <a:solidFill>
            <a:srgbClr val="FFFFFF"/>
          </a:solidFill>
          <a:ln w="12700">
            <a:solidFill>
              <a:srgbClr val="FFFFFF">
                <a:alpha val="0"/>
              </a:srgbClr>
            </a:solidFill>
            <a:prstDash val="solid"/>
          </a:ln>
        </p:spPr>
        <p:txBody>
          <a:bodyPr/>
          <a:p/>
        </p:txBody>
      </p:sp>
      <p:sp>
        <p:nvSpPr>
          <p:cNvPr id="10" name="Shape 8"/>
          <p:cNvSpPr/>
          <p:nvPr/>
        </p:nvSpPr>
        <p:spPr>
          <a:xfrm>
            <a:off x="3319272" y="1947672"/>
            <a:ext cx="201168" cy="201168"/>
          </a:xfrm>
          <a:prstGeom prst="ellipse">
            <a:avLst/>
          </a:prstGeom>
          <a:solidFill>
            <a:srgbClr val="36C5D8"/>
          </a:solidFill>
          <a:ln w="12700">
            <a:solidFill>
              <a:srgbClr val="36C5D8">
                <a:alpha val="0"/>
              </a:srgbClr>
            </a:solidFill>
            <a:prstDash val="solid"/>
          </a:ln>
        </p:spPr>
        <p:txBody>
          <a:bodyPr/>
          <a:p/>
        </p:txBody>
      </p:sp>
      <p:sp>
        <p:nvSpPr>
          <p:cNvPr id="11" name="Text 9"/>
          <p:cNvSpPr txBox="1"/>
          <p:nvPr/>
        </p:nvSpPr>
        <p:spPr>
          <a:xfrm>
            <a:off x="3611880" y="1920240"/>
            <a:ext cx="173736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43</a:t>
            </a:r>
            <a:endParaRPr lang="en-US" sz="2700" dirty="0"/>
          </a:p>
        </p:txBody>
      </p:sp>
      <p:sp>
        <p:nvSpPr>
          <p:cNvPr id="12" name="Text 10"/>
          <p:cNvSpPr txBox="1"/>
          <p:nvPr/>
        </p:nvSpPr>
        <p:spPr>
          <a:xfrm>
            <a:off x="3611880" y="2386584"/>
            <a:ext cx="169164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repeat customers</a:t>
            </a:r>
            <a:endParaRPr lang="en-US" sz="1050" dirty="0"/>
          </a:p>
        </p:txBody>
      </p:sp>
      <p:sp>
        <p:nvSpPr>
          <p:cNvPr id="13" name="Shape 11"/>
          <p:cNvSpPr/>
          <p:nvPr/>
        </p:nvSpPr>
        <p:spPr>
          <a:xfrm>
            <a:off x="5715000" y="1783080"/>
            <a:ext cx="2331720" cy="1051560"/>
          </a:xfrm>
          <a:prstGeom prst="roundRect">
            <a:avLst>
              <a:gd name="adj" fmla="val 13913"/>
            </a:avLst>
          </a:prstGeom>
          <a:solidFill>
            <a:srgbClr val="FFFFFF"/>
          </a:solidFill>
          <a:ln w="12700">
            <a:solidFill>
              <a:srgbClr val="FFFFFF">
                <a:alpha val="0"/>
              </a:srgbClr>
            </a:solidFill>
            <a:prstDash val="solid"/>
          </a:ln>
        </p:spPr>
        <p:txBody>
          <a:bodyPr/>
          <a:p/>
        </p:txBody>
      </p:sp>
      <p:sp>
        <p:nvSpPr>
          <p:cNvPr id="14" name="Shape 12"/>
          <p:cNvSpPr/>
          <p:nvPr/>
        </p:nvSpPr>
        <p:spPr>
          <a:xfrm>
            <a:off x="5879592" y="1947672"/>
            <a:ext cx="201168" cy="201168"/>
          </a:xfrm>
          <a:prstGeom prst="ellipse">
            <a:avLst/>
          </a:prstGeom>
          <a:solidFill>
            <a:srgbClr val="F4A261"/>
          </a:solidFill>
          <a:ln w="12700">
            <a:solidFill>
              <a:srgbClr val="F4A261">
                <a:alpha val="0"/>
              </a:srgbClr>
            </a:solidFill>
            <a:prstDash val="solid"/>
          </a:ln>
        </p:spPr>
        <p:txBody>
          <a:bodyPr/>
          <a:p/>
        </p:txBody>
      </p:sp>
      <p:sp>
        <p:nvSpPr>
          <p:cNvPr id="15" name="Text 13"/>
          <p:cNvSpPr txBox="1"/>
          <p:nvPr/>
        </p:nvSpPr>
        <p:spPr>
          <a:xfrm>
            <a:off x="6172200" y="1920240"/>
            <a:ext cx="173736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93</a:t>
            </a:r>
            <a:endParaRPr lang="en-US" sz="2700" dirty="0"/>
          </a:p>
        </p:txBody>
      </p:sp>
      <p:sp>
        <p:nvSpPr>
          <p:cNvPr id="16" name="Text 14"/>
          <p:cNvSpPr txBox="1"/>
          <p:nvPr/>
        </p:nvSpPr>
        <p:spPr>
          <a:xfrm>
            <a:off x="6172200" y="2386584"/>
            <a:ext cx="169164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one-time customers</a:t>
            </a:r>
            <a:endParaRPr lang="en-US" sz="1050" dirty="0"/>
          </a:p>
        </p:txBody>
      </p:sp>
      <p:sp>
        <p:nvSpPr>
          <p:cNvPr id="17" name="Shape 15"/>
          <p:cNvSpPr/>
          <p:nvPr/>
        </p:nvSpPr>
        <p:spPr>
          <a:xfrm>
            <a:off x="8275320" y="1783080"/>
            <a:ext cx="2331720" cy="1051560"/>
          </a:xfrm>
          <a:prstGeom prst="roundRect">
            <a:avLst>
              <a:gd name="adj" fmla="val 13913"/>
            </a:avLst>
          </a:prstGeom>
          <a:solidFill>
            <a:srgbClr val="FFFFFF"/>
          </a:solidFill>
          <a:ln w="12700">
            <a:solidFill>
              <a:srgbClr val="FFFFFF">
                <a:alpha val="0"/>
              </a:srgbClr>
            </a:solidFill>
            <a:prstDash val="solid"/>
          </a:ln>
        </p:spPr>
        <p:txBody>
          <a:bodyPr/>
          <a:p/>
        </p:txBody>
      </p:sp>
      <p:sp>
        <p:nvSpPr>
          <p:cNvPr id="18" name="Shape 16"/>
          <p:cNvSpPr/>
          <p:nvPr/>
        </p:nvSpPr>
        <p:spPr>
          <a:xfrm>
            <a:off x="8439912" y="1947672"/>
            <a:ext cx="201168" cy="201168"/>
          </a:xfrm>
          <a:prstGeom prst="ellipse">
            <a:avLst/>
          </a:prstGeom>
          <a:solidFill>
            <a:srgbClr val="14213D"/>
          </a:solidFill>
          <a:ln w="12700">
            <a:solidFill>
              <a:srgbClr val="14213D">
                <a:alpha val="0"/>
              </a:srgbClr>
            </a:solidFill>
            <a:prstDash val="solid"/>
          </a:ln>
        </p:spPr>
        <p:txBody>
          <a:bodyPr/>
          <a:p/>
        </p:txBody>
      </p:sp>
      <p:sp>
        <p:nvSpPr>
          <p:cNvPr id="19" name="Text 17"/>
          <p:cNvSpPr txBox="1"/>
          <p:nvPr/>
        </p:nvSpPr>
        <p:spPr>
          <a:xfrm>
            <a:off x="8732520" y="1920240"/>
            <a:ext cx="173736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31.62%</a:t>
            </a:r>
            <a:endParaRPr lang="en-US" sz="2700" dirty="0"/>
          </a:p>
        </p:txBody>
      </p:sp>
      <p:sp>
        <p:nvSpPr>
          <p:cNvPr id="20" name="Text 18"/>
          <p:cNvSpPr txBox="1"/>
          <p:nvPr/>
        </p:nvSpPr>
        <p:spPr>
          <a:xfrm>
            <a:off x="8732520" y="2386584"/>
            <a:ext cx="169164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repeat rate</a:t>
            </a:r>
            <a:endParaRPr lang="en-US" sz="1050" dirty="0"/>
          </a:p>
        </p:txBody>
      </p:sp>
      <p:sp>
        <p:nvSpPr>
          <p:cNvPr id="21" name="Shape 19"/>
          <p:cNvSpPr/>
          <p:nvPr/>
        </p:nvSpPr>
        <p:spPr>
          <a:xfrm>
            <a:off x="594360" y="3154680"/>
            <a:ext cx="3429000" cy="1234440"/>
          </a:xfrm>
          <a:prstGeom prst="roundRect">
            <a:avLst>
              <a:gd name="adj" fmla="val 11852"/>
            </a:avLst>
          </a:prstGeom>
          <a:solidFill>
            <a:srgbClr val="FFFFFF"/>
          </a:solidFill>
          <a:ln w="12700">
            <a:solidFill>
              <a:srgbClr val="FFFFFF">
                <a:alpha val="0"/>
              </a:srgbClr>
            </a:solidFill>
            <a:prstDash val="solid"/>
          </a:ln>
        </p:spPr>
        <p:txBody>
          <a:bodyPr/>
          <a:p/>
        </p:txBody>
      </p:sp>
      <p:sp>
        <p:nvSpPr>
          <p:cNvPr id="22" name="Shape 20"/>
          <p:cNvSpPr/>
          <p:nvPr/>
        </p:nvSpPr>
        <p:spPr>
          <a:xfrm>
            <a:off x="777240" y="3337560"/>
            <a:ext cx="347472" cy="347472"/>
          </a:xfrm>
          <a:prstGeom prst="ellipse">
            <a:avLst/>
          </a:prstGeom>
          <a:solidFill>
            <a:srgbClr val="008C95"/>
          </a:solidFill>
          <a:ln w="12700">
            <a:solidFill>
              <a:srgbClr val="008C95">
                <a:alpha val="0"/>
              </a:srgbClr>
            </a:solidFill>
            <a:prstDash val="solid"/>
          </a:ln>
        </p:spPr>
        <p:txBody>
          <a:bodyPr/>
          <a:p/>
        </p:txBody>
      </p:sp>
      <p:sp>
        <p:nvSpPr>
          <p:cNvPr id="23" name="Text 21"/>
          <p:cNvSpPr txBox="1"/>
          <p:nvPr/>
        </p:nvSpPr>
        <p:spPr>
          <a:xfrm>
            <a:off x="777240" y="3355848"/>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24" name="Text 22"/>
          <p:cNvSpPr txBox="1"/>
          <p:nvPr/>
        </p:nvSpPr>
        <p:spPr>
          <a:xfrm>
            <a:off x="1234440" y="3310128"/>
            <a:ext cx="26060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Customer retention</a:t>
            </a:r>
            <a:endParaRPr lang="en-US" sz="1600" dirty="0"/>
          </a:p>
        </p:txBody>
      </p:sp>
      <p:sp>
        <p:nvSpPr>
          <p:cNvPr id="25" name="Text 23"/>
          <p:cNvSpPr txBox="1"/>
          <p:nvPr/>
        </p:nvSpPr>
        <p:spPr>
          <a:xfrm>
            <a:off x="1234440" y="3657600"/>
            <a:ext cx="2606040" cy="621792"/>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43 repeat customers vs. 93 one-time customers in the ordered-customer base.</a:t>
            </a:r>
            <a:endParaRPr lang="en-US" sz="1150" dirty="0"/>
          </a:p>
        </p:txBody>
      </p:sp>
      <p:sp>
        <p:nvSpPr>
          <p:cNvPr id="26" name="Shape 24"/>
          <p:cNvSpPr/>
          <p:nvPr/>
        </p:nvSpPr>
        <p:spPr>
          <a:xfrm>
            <a:off x="4251960" y="3154680"/>
            <a:ext cx="3429000" cy="1234440"/>
          </a:xfrm>
          <a:prstGeom prst="roundRect">
            <a:avLst>
              <a:gd name="adj" fmla="val 11852"/>
            </a:avLst>
          </a:prstGeom>
          <a:solidFill>
            <a:srgbClr val="FFFFFF"/>
          </a:solidFill>
          <a:ln w="12700">
            <a:solidFill>
              <a:srgbClr val="FFFFFF">
                <a:alpha val="0"/>
              </a:srgbClr>
            </a:solidFill>
            <a:prstDash val="solid"/>
          </a:ln>
        </p:spPr>
        <p:txBody>
          <a:bodyPr/>
          <a:p/>
        </p:txBody>
      </p:sp>
      <p:sp>
        <p:nvSpPr>
          <p:cNvPr id="27" name="Shape 25"/>
          <p:cNvSpPr/>
          <p:nvPr/>
        </p:nvSpPr>
        <p:spPr>
          <a:xfrm>
            <a:off x="4434840" y="3337560"/>
            <a:ext cx="347472" cy="347472"/>
          </a:xfrm>
          <a:prstGeom prst="ellipse">
            <a:avLst/>
          </a:prstGeom>
          <a:solidFill>
            <a:srgbClr val="F4A261"/>
          </a:solidFill>
          <a:ln w="12700">
            <a:solidFill>
              <a:srgbClr val="F4A261">
                <a:alpha val="0"/>
              </a:srgbClr>
            </a:solidFill>
            <a:prstDash val="solid"/>
          </a:ln>
        </p:spPr>
        <p:txBody>
          <a:bodyPr/>
          <a:p/>
        </p:txBody>
      </p:sp>
      <p:sp>
        <p:nvSpPr>
          <p:cNvPr id="28" name="Text 26"/>
          <p:cNvSpPr txBox="1"/>
          <p:nvPr/>
        </p:nvSpPr>
        <p:spPr>
          <a:xfrm>
            <a:off x="4434840" y="3355848"/>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9" name="Text 27"/>
          <p:cNvSpPr txBox="1"/>
          <p:nvPr/>
        </p:nvSpPr>
        <p:spPr>
          <a:xfrm>
            <a:off x="4892040" y="3310128"/>
            <a:ext cx="26060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Purchase cadence</a:t>
            </a:r>
            <a:endParaRPr lang="en-US" sz="1600" dirty="0"/>
          </a:p>
        </p:txBody>
      </p:sp>
      <p:sp>
        <p:nvSpPr>
          <p:cNvPr id="30" name="Text 28"/>
          <p:cNvSpPr txBox="1"/>
          <p:nvPr/>
        </p:nvSpPr>
        <p:spPr>
          <a:xfrm>
            <a:off x="4892040" y="3657600"/>
            <a:ext cx="2606040" cy="621792"/>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The longest observed purchase gap is 241 days.</a:t>
            </a:r>
            <a:endParaRPr lang="en-US" sz="1150" dirty="0"/>
          </a:p>
        </p:txBody>
      </p:sp>
      <p:sp>
        <p:nvSpPr>
          <p:cNvPr id="31" name="Shape 29"/>
          <p:cNvSpPr/>
          <p:nvPr/>
        </p:nvSpPr>
        <p:spPr>
          <a:xfrm>
            <a:off x="7909560" y="3154680"/>
            <a:ext cx="3429000" cy="1234440"/>
          </a:xfrm>
          <a:prstGeom prst="roundRect">
            <a:avLst>
              <a:gd name="adj" fmla="val 11852"/>
            </a:avLst>
          </a:prstGeom>
          <a:solidFill>
            <a:srgbClr val="FFFFFF"/>
          </a:solidFill>
          <a:ln w="12700">
            <a:solidFill>
              <a:srgbClr val="FFFFFF">
                <a:alpha val="0"/>
              </a:srgbClr>
            </a:solidFill>
            <a:prstDash val="solid"/>
          </a:ln>
        </p:spPr>
        <p:txBody>
          <a:bodyPr/>
          <a:p/>
        </p:txBody>
      </p:sp>
      <p:sp>
        <p:nvSpPr>
          <p:cNvPr id="32" name="Shape 30"/>
          <p:cNvSpPr/>
          <p:nvPr/>
        </p:nvSpPr>
        <p:spPr>
          <a:xfrm>
            <a:off x="8092440" y="3337560"/>
            <a:ext cx="347472" cy="347472"/>
          </a:xfrm>
          <a:prstGeom prst="ellipse">
            <a:avLst/>
          </a:prstGeom>
          <a:solidFill>
            <a:srgbClr val="36C5D8"/>
          </a:solidFill>
          <a:ln w="12700">
            <a:solidFill>
              <a:srgbClr val="36C5D8">
                <a:alpha val="0"/>
              </a:srgbClr>
            </a:solidFill>
            <a:prstDash val="solid"/>
          </a:ln>
        </p:spPr>
        <p:txBody>
          <a:bodyPr/>
          <a:p/>
        </p:txBody>
      </p:sp>
      <p:sp>
        <p:nvSpPr>
          <p:cNvPr id="33" name="Text 31"/>
          <p:cNvSpPr txBox="1"/>
          <p:nvPr/>
        </p:nvSpPr>
        <p:spPr>
          <a:xfrm>
            <a:off x="8092440" y="3355848"/>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4" name="Text 32"/>
          <p:cNvSpPr txBox="1"/>
          <p:nvPr/>
        </p:nvSpPr>
        <p:spPr>
          <a:xfrm>
            <a:off x="8549640" y="3310128"/>
            <a:ext cx="26060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Inventory pressure</a:t>
            </a:r>
            <a:endParaRPr lang="en-US" sz="1600" dirty="0"/>
          </a:p>
        </p:txBody>
      </p:sp>
      <p:sp>
        <p:nvSpPr>
          <p:cNvPr id="35" name="Text 33"/>
          <p:cNvSpPr txBox="1"/>
          <p:nvPr/>
        </p:nvSpPr>
        <p:spPr>
          <a:xfrm>
            <a:off x="8549640" y="3657600"/>
            <a:ext cx="2606040" cy="621792"/>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12 products exceed average sales while remaining below average inventory.</a:t>
            </a:r>
            <a:endParaRPr lang="en-US" sz="1150" dirty="0"/>
          </a:p>
        </p:txBody>
      </p:sp>
      <p:sp>
        <p:nvSpPr>
          <p:cNvPr id="36" name="Text 34"/>
          <p:cNvSpPr txBox="1"/>
          <p:nvPr/>
        </p:nvSpPr>
        <p:spPr>
          <a:xfrm>
            <a:off x="594360" y="4864608"/>
            <a:ext cx="1828800" cy="228600"/>
          </a:xfrm>
          <a:prstGeom prst="rect">
            <a:avLst/>
          </a:prstGeom>
          <a:noFill/>
          <a:ln/>
        </p:spPr>
        <p:txBody>
          <a:bodyPr wrap="square" lIns="0" tIns="0" rIns="0" bIns="0" rtlCol="0" anchor="ctr">
            <a:normAutofit/>
          </a:bodyPr>
          <a:lstStyle/>
          <a:p>
            <a:pPr algn="l" indent="0" marL="0">
              <a:buNone/>
            </a:pPr>
            <a:r>
              <a:rPr lang="en-US" sz="1000" b="1" dirty="0">
                <a:solidFill>
                  <a:srgbClr val="008C95"/>
                </a:solidFill>
                <a:latin typeface="Arial" pitchFamily="34" charset="0"/>
                <a:ea typeface="Arial" pitchFamily="34" charset="-122"/>
                <a:cs typeface="Arial" pitchFamily="34" charset="-120"/>
              </a:rPr>
              <a:t>Project focus</a:t>
            </a:r>
            <a:endParaRPr lang="en-US" sz="1000" dirty="0"/>
          </a:p>
        </p:txBody>
      </p:sp>
      <p:sp>
        <p:nvSpPr>
          <p:cNvPr id="37" name="Text 35"/>
          <p:cNvSpPr txBox="1"/>
          <p:nvPr/>
        </p:nvSpPr>
        <p:spPr>
          <a:xfrm>
            <a:off x="594360" y="5175504"/>
            <a:ext cx="6583680" cy="457200"/>
          </a:xfrm>
          <a:prstGeom prst="rect">
            <a:avLst/>
          </a:prstGeom>
          <a:noFill/>
          <a:ln/>
        </p:spPr>
        <p:txBody>
          <a:bodyPr wrap="square" lIns="0" tIns="0" rIns="0" bIns="0" rtlCol="0" anchor="ctr">
            <a:normAutofit/>
          </a:bodyPr>
          <a:lstStyle/>
          <a:p>
            <a:pPr algn="l" indent="0" marL="0">
              <a:buNone/>
            </a:pPr>
            <a:r>
              <a:rPr lang="en-US" sz="2400" b="1" dirty="0">
                <a:solidFill>
                  <a:srgbClr val="14213D"/>
                </a:solidFill>
                <a:latin typeface="Cambria" pitchFamily="34" charset="0"/>
                <a:ea typeface="Cambria" pitchFamily="34" charset="-122"/>
                <a:cs typeface="Cambria" pitchFamily="34" charset="-120"/>
              </a:rPr>
              <a:t>Customer retention • purchase cadence • inventory pressure</a:t>
            </a:r>
            <a:endParaRPr lang="en-US" sz="2400" dirty="0"/>
          </a:p>
        </p:txBody>
      </p:sp>
      <p:sp>
        <p:nvSpPr>
          <p:cNvPr id="25" name="Slide Number Placeholder 0"/>
          <p:cNvSpPr>
            <a:spLocks noGrp="1"/>
          </p:cNvSpPr>
          <p:nvPr>
            <p:ph type="sldNum" sz="quarter" idx="4294967295"/>
          </p:nvPr>
        </p:nvSpPr>
        <p:spPr>
          <a:xfrm>
            <a:off x="11686032" y="646480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8595"/>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2560320" cy="228600"/>
          </a:xfrm>
          <a:prstGeom prst="rect">
            <a:avLst/>
          </a:prstGeom>
          <a:noFill/>
          <a:ln/>
        </p:spPr>
        <p:txBody>
          <a:bodyPr wrap="square" lIns="0" tIns="0" rIns="0" bIns="0" rtlCol="0" anchor="ctr">
            <a:normAutofit/>
          </a:bodyPr>
          <a:lstStyle/>
          <a:p>
            <a:pPr algn="l" indent="0" marL="0">
              <a:buNone/>
            </a:pPr>
            <a:r>
              <a:rPr lang="en-US" sz="900" b="1" spc="110" kern="0" dirty="0">
                <a:solidFill>
                  <a:srgbClr val="008C95"/>
                </a:solidFill>
                <a:latin typeface="Arial" pitchFamily="34" charset="0"/>
                <a:ea typeface="Arial" pitchFamily="34" charset="-122"/>
                <a:cs typeface="Arial" pitchFamily="34" charset="-120"/>
              </a:rPr>
              <a:t>02 • DATA MODEL</a:t>
            </a:r>
            <a:endParaRPr lang="en-US" sz="900" dirty="0"/>
          </a:p>
        </p:txBody>
      </p:sp>
      <p:sp>
        <p:nvSpPr>
          <p:cNvPr id="3" name="Text 1"/>
          <p:cNvSpPr txBox="1"/>
          <p:nvPr/>
        </p:nvSpPr>
        <p:spPr>
          <a:xfrm>
            <a:off x="548640" y="640080"/>
            <a:ext cx="10607040" cy="566928"/>
          </a:xfrm>
          <a:prstGeom prst="rect">
            <a:avLst/>
          </a:prstGeom>
          <a:noFill/>
          <a:ln/>
        </p:spPr>
        <p:txBody>
          <a:bodyPr wrap="square" lIns="0" tIns="0" rIns="0" bIns="0" rtlCol="0" anchor="ctr">
            <a:normAutofit/>
          </a:bodyPr>
          <a:lstStyle/>
          <a:p>
            <a:pPr algn="l" indent="0" marL="0">
              <a:buNone/>
            </a:pPr>
            <a:r>
              <a:rPr lang="en-US" sz="2900" b="1" dirty="0">
                <a:solidFill>
                  <a:srgbClr val="14213D"/>
                </a:solidFill>
                <a:latin typeface="Cambria" pitchFamily="34" charset="0"/>
                <a:ea typeface="Cambria" pitchFamily="34" charset="-122"/>
                <a:cs typeface="Cambria" pitchFamily="34" charset="-120"/>
              </a:rPr>
              <a:t>Relational data model</a:t>
            </a:r>
            <a:endParaRPr lang="en-US" sz="2900" dirty="0"/>
          </a:p>
        </p:txBody>
      </p:sp>
      <p:sp>
        <p:nvSpPr>
          <p:cNvPr id="4" name="Text 2"/>
          <p:cNvSpPr txBox="1"/>
          <p:nvPr/>
        </p:nvSpPr>
        <p:spPr>
          <a:xfrm>
            <a:off x="548640" y="1243584"/>
            <a:ext cx="10607040" cy="384048"/>
          </a:xfrm>
          <a:prstGeom prst="rect">
            <a:avLst/>
          </a:prstGeom>
          <a:noFill/>
          <a:ln/>
        </p:spPr>
        <p:txBody>
          <a:bodyPr wrap="square" lIns="0" tIns="0" rIns="0" bIns="0" rtlCol="0" anchor="ctr">
            <a:normAutofit/>
          </a:bodyPr>
          <a:lstStyle/>
          <a:p>
            <a:pPr algn="l" indent="0" marL="0">
              <a:buNone/>
            </a:pPr>
            <a:r>
              <a:rPr lang="en-US" sz="1250" dirty="0">
                <a:solidFill>
                  <a:srgbClr val="667085"/>
                </a:solidFill>
                <a:latin typeface="Arial" pitchFamily="34" charset="0"/>
                <a:ea typeface="Arial" pitchFamily="34" charset="-122"/>
                <a:cs typeface="Arial" pitchFamily="34" charset="-120"/>
              </a:rPr>
              <a:t>Orders connect customers, stores, products, inventory, and line-level order items.</a:t>
            </a:r>
            <a:endParaRPr lang="en-US" sz="1250" dirty="0"/>
          </a:p>
        </p:txBody>
      </p:sp>
      <p:pic>
        <p:nvPicPr>
          <p:cNvPr id="5" name="Image 0" descr="/mnt/data/sql_deck_assets/er.png">    </p:cNvPr>
          <p:cNvPicPr>
            <a:picLocks noChangeAspect="1"/>
          </p:cNvPicPr>
          <p:nvPr/>
        </p:nvPicPr>
        <p:blipFill>
          <a:blip r:embed="rId1"/>
          <a:stretch>
            <a:fillRect/>
          </a:stretch>
        </p:blipFill>
        <p:spPr>
          <a:xfrm>
            <a:off x="658368" y="1645920"/>
            <a:ext cx="6949440" cy="4526280"/>
          </a:xfrm>
          <a:prstGeom prst="rect">
            <a:avLst/>
          </a:prstGeom>
        </p:spPr>
      </p:pic>
      <p:sp>
        <p:nvSpPr>
          <p:cNvPr id="6" name="Shape 3"/>
          <p:cNvSpPr/>
          <p:nvPr/>
        </p:nvSpPr>
        <p:spPr>
          <a:xfrm>
            <a:off x="7909560" y="1645920"/>
            <a:ext cx="3520440" cy="1005840"/>
          </a:xfrm>
          <a:prstGeom prst="roundRect">
            <a:avLst>
              <a:gd name="adj" fmla="val 13636"/>
            </a:avLst>
          </a:prstGeom>
          <a:solidFill>
            <a:srgbClr val="FFFFFF"/>
          </a:solidFill>
          <a:ln w="12700">
            <a:solidFill>
              <a:srgbClr val="FFFFFF">
                <a:alpha val="0"/>
              </a:srgbClr>
            </a:solidFill>
            <a:prstDash val="solid"/>
          </a:ln>
        </p:spPr>
        <p:txBody>
          <a:bodyPr/>
          <a:p/>
        </p:txBody>
      </p:sp>
      <p:sp>
        <p:nvSpPr>
          <p:cNvPr id="7" name="Text 4"/>
          <p:cNvSpPr txBox="1"/>
          <p:nvPr/>
        </p:nvSpPr>
        <p:spPr>
          <a:xfrm>
            <a:off x="8156448" y="1828800"/>
            <a:ext cx="2971800" cy="182880"/>
          </a:xfrm>
          <a:prstGeom prst="rect">
            <a:avLst/>
          </a:prstGeom>
          <a:noFill/>
          <a:ln/>
        </p:spPr>
        <p:txBody>
          <a:bodyPr wrap="square" lIns="0" tIns="0" rIns="0" bIns="0" rtlCol="0" anchor="ctr">
            <a:normAutofit/>
          </a:bodyPr>
          <a:lstStyle/>
          <a:p>
            <a:pPr algn="l" indent="0" marL="0">
              <a:buNone/>
            </a:pPr>
            <a:r>
              <a:rPr lang="en-US" sz="1000" b="1" dirty="0">
                <a:solidFill>
                  <a:srgbClr val="008C95"/>
                </a:solidFill>
                <a:latin typeface="Arial" pitchFamily="34" charset="0"/>
                <a:ea typeface="Arial" pitchFamily="34" charset="-122"/>
                <a:cs typeface="Arial" pitchFamily="34" charset="-120"/>
              </a:rPr>
              <a:t>CORE ENTITIES</a:t>
            </a:r>
            <a:endParaRPr lang="en-US" sz="1000" dirty="0"/>
          </a:p>
        </p:txBody>
      </p:sp>
      <p:sp>
        <p:nvSpPr>
          <p:cNvPr id="8" name="Text 5"/>
          <p:cNvSpPr txBox="1"/>
          <p:nvPr/>
        </p:nvSpPr>
        <p:spPr>
          <a:xfrm>
            <a:off x="8156448" y="2084832"/>
            <a:ext cx="2926080" cy="384048"/>
          </a:xfrm>
          <a:prstGeom prst="rect">
            <a:avLst/>
          </a:prstGeom>
          <a:noFill/>
          <a:ln/>
        </p:spPr>
        <p:txBody>
          <a:bodyPr wrap="square" lIns="0" tIns="0" rIns="0" bIns="0" rtlCol="0" anchor="ctr">
            <a:normAutofit/>
          </a:bodyPr>
          <a:lstStyle/>
          <a:p>
            <a:pPr algn="l" indent="0" marL="0">
              <a:buNone/>
            </a:pPr>
            <a:r>
              <a:rPr lang="en-US" sz="1300" b="1" dirty="0">
                <a:solidFill>
                  <a:srgbClr val="14213D"/>
                </a:solidFill>
                <a:latin typeface="Arial" pitchFamily="34" charset="0"/>
                <a:ea typeface="Arial" pitchFamily="34" charset="-122"/>
                <a:cs typeface="Arial" pitchFamily="34" charset="-120"/>
              </a:rPr>
              <a:t>Customers • Orders • Order Items</a:t>
            </a:r>
            <a:endParaRPr lang="en-US" sz="1300" dirty="0"/>
          </a:p>
          <a:p>
            <a:pPr algn="l" indent="0" marL="0">
              <a:buNone/>
            </a:pPr>
            <a:r>
              <a:rPr lang="en-US" sz="1300" b="1" dirty="0">
                <a:solidFill>
                  <a:srgbClr val="14213D"/>
                </a:solidFill>
                <a:latin typeface="Arial" pitchFamily="34" charset="0"/>
                <a:ea typeface="Arial" pitchFamily="34" charset="-122"/>
                <a:cs typeface="Arial" pitchFamily="34" charset="-120"/>
              </a:rPr>
              <a:t>Products • Inventory • Stores</a:t>
            </a:r>
            <a:endParaRPr lang="en-US" sz="1300" dirty="0"/>
          </a:p>
        </p:txBody>
      </p:sp>
      <p:sp>
        <p:nvSpPr>
          <p:cNvPr id="9" name="Shape 6"/>
          <p:cNvSpPr/>
          <p:nvPr/>
        </p:nvSpPr>
        <p:spPr>
          <a:xfrm>
            <a:off x="7909560" y="2852928"/>
            <a:ext cx="3520440" cy="1005840"/>
          </a:xfrm>
          <a:prstGeom prst="roundRect">
            <a:avLst>
              <a:gd name="adj" fmla="val 13636"/>
            </a:avLst>
          </a:prstGeom>
          <a:solidFill>
            <a:srgbClr val="FFFFFF"/>
          </a:solidFill>
          <a:ln w="12700">
            <a:solidFill>
              <a:srgbClr val="FFFFFF">
                <a:alpha val="0"/>
              </a:srgbClr>
            </a:solidFill>
            <a:prstDash val="solid"/>
          </a:ln>
        </p:spPr>
        <p:txBody>
          <a:bodyPr/>
          <a:p/>
        </p:txBody>
      </p:sp>
      <p:sp>
        <p:nvSpPr>
          <p:cNvPr id="10" name="Text 7"/>
          <p:cNvSpPr txBox="1"/>
          <p:nvPr/>
        </p:nvSpPr>
        <p:spPr>
          <a:xfrm>
            <a:off x="8156448" y="3035808"/>
            <a:ext cx="2926080" cy="182880"/>
          </a:xfrm>
          <a:prstGeom prst="rect">
            <a:avLst/>
          </a:prstGeom>
          <a:noFill/>
          <a:ln/>
        </p:spPr>
        <p:txBody>
          <a:bodyPr wrap="square" lIns="0" tIns="0" rIns="0" bIns="0" rtlCol="0" anchor="ctr">
            <a:normAutofit/>
          </a:bodyPr>
          <a:lstStyle/>
          <a:p>
            <a:pPr algn="l" indent="0" marL="0">
              <a:buNone/>
            </a:pPr>
            <a:r>
              <a:rPr lang="en-US" sz="1000" b="1" dirty="0">
                <a:solidFill>
                  <a:srgbClr val="F4A261"/>
                </a:solidFill>
                <a:latin typeface="Arial" pitchFamily="34" charset="0"/>
                <a:ea typeface="Arial" pitchFamily="34" charset="-122"/>
                <a:cs typeface="Arial" pitchFamily="34" charset="-120"/>
              </a:rPr>
              <a:t>ANALYTICAL GRAIN</a:t>
            </a:r>
            <a:endParaRPr lang="en-US" sz="1000" dirty="0"/>
          </a:p>
        </p:txBody>
      </p:sp>
      <p:sp>
        <p:nvSpPr>
          <p:cNvPr id="11" name="Text 8"/>
          <p:cNvSpPr txBox="1"/>
          <p:nvPr/>
        </p:nvSpPr>
        <p:spPr>
          <a:xfrm>
            <a:off x="8156448" y="3291840"/>
            <a:ext cx="2926080" cy="384048"/>
          </a:xfrm>
          <a:prstGeom prst="rect">
            <a:avLst/>
          </a:prstGeom>
          <a:noFill/>
          <a:ln/>
        </p:spPr>
        <p:txBody>
          <a:bodyPr wrap="square" lIns="0" tIns="0" rIns="0" bIns="0" rtlCol="0" anchor="ctr">
            <a:normAutofit/>
          </a:bodyPr>
          <a:lstStyle/>
          <a:p>
            <a:pPr algn="l" indent="0" marL="0">
              <a:buNone/>
            </a:pPr>
            <a:r>
              <a:rPr lang="en-US" sz="1300" b="1" dirty="0">
                <a:solidFill>
                  <a:srgbClr val="14213D"/>
                </a:solidFill>
                <a:latin typeface="Arial" pitchFamily="34" charset="0"/>
                <a:ea typeface="Arial" pitchFamily="34" charset="-122"/>
                <a:cs typeface="Arial" pitchFamily="34" charset="-120"/>
              </a:rPr>
              <a:t>Order-level → line-item → product</a:t>
            </a:r>
            <a:endParaRPr lang="en-US" sz="1300" dirty="0"/>
          </a:p>
          <a:p>
            <a:pPr algn="l" indent="0" marL="0">
              <a:buNone/>
            </a:pPr>
            <a:r>
              <a:rPr lang="en-US" sz="1300" b="1" dirty="0">
                <a:solidFill>
                  <a:srgbClr val="14213D"/>
                </a:solidFill>
                <a:latin typeface="Arial" pitchFamily="34" charset="0"/>
                <a:ea typeface="Arial" pitchFamily="34" charset="-122"/>
                <a:cs typeface="Arial" pitchFamily="34" charset="-120"/>
              </a:rPr>
              <a:t>Customer-level → time-gap metrics</a:t>
            </a:r>
            <a:endParaRPr lang="en-US" sz="1300" dirty="0"/>
          </a:p>
        </p:txBody>
      </p:sp>
      <p:sp>
        <p:nvSpPr>
          <p:cNvPr id="12" name="Shape 9"/>
          <p:cNvSpPr/>
          <p:nvPr/>
        </p:nvSpPr>
        <p:spPr>
          <a:xfrm>
            <a:off x="7909560" y="4069080"/>
            <a:ext cx="3520440" cy="1325880"/>
          </a:xfrm>
          <a:prstGeom prst="roundRect">
            <a:avLst>
              <a:gd name="adj" fmla="val 10345"/>
            </a:avLst>
          </a:prstGeom>
          <a:solidFill>
            <a:srgbClr val="FFFFFF"/>
          </a:solidFill>
          <a:ln w="12700">
            <a:solidFill>
              <a:srgbClr val="FFFFFF">
                <a:alpha val="0"/>
              </a:srgbClr>
            </a:solidFill>
            <a:prstDash val="solid"/>
          </a:ln>
        </p:spPr>
        <p:txBody>
          <a:bodyPr/>
          <a:p/>
        </p:txBody>
      </p:sp>
      <p:sp>
        <p:nvSpPr>
          <p:cNvPr id="13" name="Text 10"/>
          <p:cNvSpPr txBox="1"/>
          <p:nvPr/>
        </p:nvSpPr>
        <p:spPr>
          <a:xfrm>
            <a:off x="8156448" y="4270248"/>
            <a:ext cx="2971800" cy="182880"/>
          </a:xfrm>
          <a:prstGeom prst="rect">
            <a:avLst/>
          </a:prstGeom>
          <a:noFill/>
          <a:ln/>
        </p:spPr>
        <p:txBody>
          <a:bodyPr wrap="square" lIns="0" tIns="0" rIns="0" bIns="0" rtlCol="0" anchor="ctr">
            <a:normAutofit/>
          </a:bodyPr>
          <a:lstStyle/>
          <a:p>
            <a:pPr algn="l" indent="0" marL="0">
              <a:buNone/>
            </a:pPr>
            <a:r>
              <a:rPr lang="en-US" sz="1000" b="1" dirty="0">
                <a:solidFill>
                  <a:srgbClr val="008C95"/>
                </a:solidFill>
                <a:latin typeface="Arial" pitchFamily="34" charset="0"/>
                <a:ea typeface="Arial" pitchFamily="34" charset="-122"/>
                <a:cs typeface="Arial" pitchFamily="34" charset="-120"/>
              </a:rPr>
              <a:t>ANALYTICAL VALUE</a:t>
            </a:r>
            <a:endParaRPr lang="en-US" sz="1000" dirty="0"/>
          </a:p>
        </p:txBody>
      </p:sp>
      <p:sp>
        <p:nvSpPr>
          <p:cNvPr id="14" name="Text 11"/>
          <p:cNvSpPr txBox="1"/>
          <p:nvPr/>
        </p:nvSpPr>
        <p:spPr>
          <a:xfrm>
            <a:off x="8156448" y="4526280"/>
            <a:ext cx="2907792" cy="603504"/>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Separating orders from order_items supports accurate product-level sales analysis.</a:t>
            </a:r>
            <a:endParaRPr lang="en-US" sz="1150" dirty="0"/>
          </a:p>
        </p:txBody>
      </p:sp>
      <p:sp>
        <p:nvSpPr>
          <p:cNvPr id="15" name="Text 12"/>
          <p:cNvSpPr txBox="1"/>
          <p:nvPr/>
        </p:nvSpPr>
        <p:spPr>
          <a:xfrm>
            <a:off x="7909560" y="5715000"/>
            <a:ext cx="3520440" cy="201168"/>
          </a:xfrm>
          <a:prstGeom prst="rect">
            <a:avLst/>
          </a:prstGeom>
          <a:noFill/>
          <a:ln/>
        </p:spPr>
        <p:txBody>
          <a:bodyPr wrap="square" lIns="0" tIns="0" rIns="0" bIns="0" rtlCol="0" anchor="ctr">
            <a:normAutofit/>
          </a:bodyPr>
          <a:lstStyle/>
          <a:p>
            <a:pPr algn="l" indent="0" marL="0">
              <a:buNone/>
            </a:pPr>
            <a:r>
              <a:rPr lang="en-US" sz="950" i="1" dirty="0">
                <a:solidFill>
                  <a:srgbClr val="667085"/>
                </a:solidFill>
                <a:latin typeface="Arial" pitchFamily="34" charset="0"/>
                <a:ea typeface="Arial" pitchFamily="34" charset="-122"/>
                <a:cs typeface="Arial" pitchFamily="34" charset="-120"/>
              </a:rPr>
              <a:t>Entity relationships used for analysis</a:t>
            </a:r>
            <a:endParaRPr lang="en-US" sz="950" dirty="0"/>
          </a:p>
        </p:txBody>
      </p:sp>
      <p:sp>
        <p:nvSpPr>
          <p:cNvPr id="25" name="Slide Number Placeholder 0"/>
          <p:cNvSpPr>
            <a:spLocks noGrp="1"/>
          </p:cNvSpPr>
          <p:nvPr>
            <p:ph type="sldNum" sz="quarter" idx="4294967295"/>
          </p:nvPr>
        </p:nvSpPr>
        <p:spPr>
          <a:xfrm>
            <a:off x="11686032" y="646480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8595"/>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2560320" cy="228600"/>
          </a:xfrm>
          <a:prstGeom prst="rect">
            <a:avLst/>
          </a:prstGeom>
          <a:noFill/>
          <a:ln/>
        </p:spPr>
        <p:txBody>
          <a:bodyPr wrap="square" lIns="0" tIns="0" rIns="0" bIns="0" rtlCol="0" anchor="ctr">
            <a:normAutofit/>
          </a:bodyPr>
          <a:lstStyle/>
          <a:p>
            <a:pPr algn="l" indent="0" marL="0">
              <a:buNone/>
            </a:pPr>
            <a:r>
              <a:rPr lang="en-US" sz="900" b="1" spc="110" kern="0" dirty="0">
                <a:solidFill>
                  <a:srgbClr val="008C95"/>
                </a:solidFill>
                <a:latin typeface="Arial" pitchFamily="34" charset="0"/>
                <a:ea typeface="Arial" pitchFamily="34" charset="-122"/>
                <a:cs typeface="Arial" pitchFamily="34" charset="-120"/>
              </a:rPr>
              <a:t>03 • SQL TECHNIQUES</a:t>
            </a:r>
            <a:endParaRPr lang="en-US" sz="900" dirty="0"/>
          </a:p>
        </p:txBody>
      </p:sp>
      <p:sp>
        <p:nvSpPr>
          <p:cNvPr id="3" name="Text 1"/>
          <p:cNvSpPr txBox="1"/>
          <p:nvPr/>
        </p:nvSpPr>
        <p:spPr>
          <a:xfrm>
            <a:off x="548640" y="640080"/>
            <a:ext cx="10607040" cy="566928"/>
          </a:xfrm>
          <a:prstGeom prst="rect">
            <a:avLst/>
          </a:prstGeom>
          <a:noFill/>
          <a:ln/>
        </p:spPr>
        <p:txBody>
          <a:bodyPr wrap="square" lIns="0" tIns="0" rIns="0" bIns="0" rtlCol="0" anchor="ctr">
            <a:normAutofit/>
          </a:bodyPr>
          <a:lstStyle/>
          <a:p>
            <a:pPr algn="l" indent="0" marL="0">
              <a:buNone/>
            </a:pPr>
            <a:r>
              <a:rPr lang="en-US" sz="2900" b="1" dirty="0">
                <a:solidFill>
                  <a:srgbClr val="14213D"/>
                </a:solidFill>
                <a:latin typeface="Cambria" pitchFamily="34" charset="0"/>
                <a:ea typeface="Cambria" pitchFamily="34" charset="-122"/>
                <a:cs typeface="Cambria" pitchFamily="34" charset="-120"/>
              </a:rPr>
              <a:t>SQL techniques used</a:t>
            </a:r>
            <a:endParaRPr lang="en-US" sz="2900" dirty="0"/>
          </a:p>
        </p:txBody>
      </p:sp>
      <p:sp>
        <p:nvSpPr>
          <p:cNvPr id="4" name="Text 2"/>
          <p:cNvSpPr txBox="1"/>
          <p:nvPr/>
        </p:nvSpPr>
        <p:spPr>
          <a:xfrm>
            <a:off x="548640" y="1243584"/>
            <a:ext cx="10607040" cy="384048"/>
          </a:xfrm>
          <a:prstGeom prst="rect">
            <a:avLst/>
          </a:prstGeom>
          <a:noFill/>
          <a:ln/>
        </p:spPr>
        <p:txBody>
          <a:bodyPr wrap="square" lIns="0" tIns="0" rIns="0" bIns="0" rtlCol="0" anchor="ctr">
            <a:normAutofit/>
          </a:bodyPr>
          <a:lstStyle/>
          <a:p>
            <a:pPr algn="l" indent="0" marL="0">
              <a:buNone/>
            </a:pPr>
            <a:r>
              <a:rPr lang="en-US" sz="1250" dirty="0">
                <a:solidFill>
                  <a:srgbClr val="667085"/>
                </a:solidFill>
                <a:latin typeface="Arial" pitchFamily="34" charset="0"/>
                <a:ea typeface="Arial" pitchFamily="34" charset="-122"/>
                <a:cs typeface="Arial" pitchFamily="34" charset="-120"/>
              </a:rPr>
              <a:t>Window functions, CTEs, conditional logic, date functions, aggregation, and joins.</a:t>
            </a:r>
            <a:endParaRPr lang="en-US" sz="1250" dirty="0"/>
          </a:p>
        </p:txBody>
      </p:sp>
      <p:sp>
        <p:nvSpPr>
          <p:cNvPr id="5" name="Shape 3"/>
          <p:cNvSpPr/>
          <p:nvPr/>
        </p:nvSpPr>
        <p:spPr>
          <a:xfrm>
            <a:off x="594360" y="1783080"/>
            <a:ext cx="5257800" cy="1078992"/>
          </a:xfrm>
          <a:prstGeom prst="roundRect">
            <a:avLst>
              <a:gd name="adj" fmla="val 13559"/>
            </a:avLst>
          </a:prstGeom>
          <a:solidFill>
            <a:srgbClr val="FFFFFF"/>
          </a:solidFill>
          <a:ln w="12700">
            <a:solidFill>
              <a:srgbClr val="FFFFFF">
                <a:alpha val="0"/>
              </a:srgbClr>
            </a:solidFill>
            <a:prstDash val="solid"/>
          </a:ln>
        </p:spPr>
        <p:txBody>
          <a:bodyPr/>
          <a:p/>
        </p:txBody>
      </p:sp>
      <p:sp>
        <p:nvSpPr>
          <p:cNvPr id="6" name="Shape 4"/>
          <p:cNvSpPr/>
          <p:nvPr/>
        </p:nvSpPr>
        <p:spPr>
          <a:xfrm>
            <a:off x="777240" y="1965960"/>
            <a:ext cx="347472" cy="347472"/>
          </a:xfrm>
          <a:prstGeom prst="ellipse">
            <a:avLst/>
          </a:prstGeom>
          <a:solidFill>
            <a:srgbClr val="008C95"/>
          </a:solidFill>
          <a:ln w="12700">
            <a:solidFill>
              <a:srgbClr val="008C95">
                <a:alpha val="0"/>
              </a:srgbClr>
            </a:solidFill>
            <a:prstDash val="solid"/>
          </a:ln>
        </p:spPr>
        <p:txBody>
          <a:bodyPr/>
          <a:p/>
        </p:txBody>
      </p:sp>
      <p:sp>
        <p:nvSpPr>
          <p:cNvPr id="7" name="Text 5"/>
          <p:cNvSpPr txBox="1"/>
          <p:nvPr/>
        </p:nvSpPr>
        <p:spPr>
          <a:xfrm>
            <a:off x="777240" y="1984248"/>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txBox="1"/>
          <p:nvPr/>
        </p:nvSpPr>
        <p:spPr>
          <a:xfrm>
            <a:off x="1234440" y="1938528"/>
            <a:ext cx="44348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Window functions</a:t>
            </a:r>
            <a:endParaRPr lang="en-US" sz="1600" dirty="0"/>
          </a:p>
        </p:txBody>
      </p:sp>
      <p:sp>
        <p:nvSpPr>
          <p:cNvPr id="9" name="Text 7"/>
          <p:cNvSpPr txBox="1"/>
          <p:nvPr/>
        </p:nvSpPr>
        <p:spPr>
          <a:xfrm>
            <a:off x="1234440" y="2286000"/>
            <a:ext cx="4434840" cy="466344"/>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LAG() compares each order to the previous order within a customer.</a:t>
            </a:r>
            <a:endParaRPr lang="en-US" sz="1150" dirty="0"/>
          </a:p>
        </p:txBody>
      </p:sp>
      <p:sp>
        <p:nvSpPr>
          <p:cNvPr id="10" name="Shape 8"/>
          <p:cNvSpPr/>
          <p:nvPr/>
        </p:nvSpPr>
        <p:spPr>
          <a:xfrm>
            <a:off x="6172200" y="1783080"/>
            <a:ext cx="5257800" cy="1078992"/>
          </a:xfrm>
          <a:prstGeom prst="roundRect">
            <a:avLst>
              <a:gd name="adj" fmla="val 13559"/>
            </a:avLst>
          </a:prstGeom>
          <a:solidFill>
            <a:srgbClr val="FFFFFF"/>
          </a:solidFill>
          <a:ln w="12700">
            <a:solidFill>
              <a:srgbClr val="FFFFFF">
                <a:alpha val="0"/>
              </a:srgbClr>
            </a:solidFill>
            <a:prstDash val="solid"/>
          </a:ln>
        </p:spPr>
        <p:txBody>
          <a:bodyPr/>
          <a:p/>
        </p:txBody>
      </p:sp>
      <p:sp>
        <p:nvSpPr>
          <p:cNvPr id="11" name="Shape 9"/>
          <p:cNvSpPr/>
          <p:nvPr/>
        </p:nvSpPr>
        <p:spPr>
          <a:xfrm>
            <a:off x="6355080" y="1965960"/>
            <a:ext cx="347472" cy="347472"/>
          </a:xfrm>
          <a:prstGeom prst="ellipse">
            <a:avLst/>
          </a:prstGeom>
          <a:solidFill>
            <a:srgbClr val="36C5D8"/>
          </a:solidFill>
          <a:ln w="12700">
            <a:solidFill>
              <a:srgbClr val="36C5D8">
                <a:alpha val="0"/>
              </a:srgbClr>
            </a:solidFill>
            <a:prstDash val="solid"/>
          </a:ln>
        </p:spPr>
        <p:txBody>
          <a:bodyPr/>
          <a:p/>
        </p:txBody>
      </p:sp>
      <p:sp>
        <p:nvSpPr>
          <p:cNvPr id="12" name="Text 10"/>
          <p:cNvSpPr txBox="1"/>
          <p:nvPr/>
        </p:nvSpPr>
        <p:spPr>
          <a:xfrm>
            <a:off x="6355080" y="1984248"/>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txBox="1"/>
          <p:nvPr/>
        </p:nvSpPr>
        <p:spPr>
          <a:xfrm>
            <a:off x="6812280" y="1938528"/>
            <a:ext cx="44348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CTEs</a:t>
            </a:r>
            <a:endParaRPr lang="en-US" sz="1600" dirty="0"/>
          </a:p>
        </p:txBody>
      </p:sp>
      <p:sp>
        <p:nvSpPr>
          <p:cNvPr id="14" name="Text 12"/>
          <p:cNvSpPr txBox="1"/>
          <p:nvPr/>
        </p:nvSpPr>
        <p:spPr>
          <a:xfrm>
            <a:off x="6812280" y="2286000"/>
            <a:ext cx="4434840" cy="466344"/>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Breaks a complex question into named, testable analytical stages.</a:t>
            </a:r>
            <a:endParaRPr lang="en-US" sz="1150" dirty="0"/>
          </a:p>
        </p:txBody>
      </p:sp>
      <p:sp>
        <p:nvSpPr>
          <p:cNvPr id="15" name="Shape 13"/>
          <p:cNvSpPr/>
          <p:nvPr/>
        </p:nvSpPr>
        <p:spPr>
          <a:xfrm>
            <a:off x="594360" y="3108960"/>
            <a:ext cx="5257800" cy="1078992"/>
          </a:xfrm>
          <a:prstGeom prst="roundRect">
            <a:avLst>
              <a:gd name="adj" fmla="val 13559"/>
            </a:avLst>
          </a:prstGeom>
          <a:solidFill>
            <a:srgbClr val="FFFFFF"/>
          </a:solidFill>
          <a:ln w="12700">
            <a:solidFill>
              <a:srgbClr val="FFFFFF">
                <a:alpha val="0"/>
              </a:srgbClr>
            </a:solidFill>
            <a:prstDash val="solid"/>
          </a:ln>
        </p:spPr>
        <p:txBody>
          <a:bodyPr/>
          <a:p/>
        </p:txBody>
      </p:sp>
      <p:sp>
        <p:nvSpPr>
          <p:cNvPr id="16" name="Shape 14"/>
          <p:cNvSpPr/>
          <p:nvPr/>
        </p:nvSpPr>
        <p:spPr>
          <a:xfrm>
            <a:off x="777240" y="3291840"/>
            <a:ext cx="347472" cy="347472"/>
          </a:xfrm>
          <a:prstGeom prst="ellipse">
            <a:avLst/>
          </a:prstGeom>
          <a:solidFill>
            <a:srgbClr val="F4A261"/>
          </a:solidFill>
          <a:ln w="12700">
            <a:solidFill>
              <a:srgbClr val="F4A261">
                <a:alpha val="0"/>
              </a:srgbClr>
            </a:solidFill>
            <a:prstDash val="solid"/>
          </a:ln>
        </p:spPr>
        <p:txBody>
          <a:bodyPr/>
          <a:p/>
        </p:txBody>
      </p:sp>
      <p:sp>
        <p:nvSpPr>
          <p:cNvPr id="17" name="Text 15"/>
          <p:cNvSpPr txBox="1"/>
          <p:nvPr/>
        </p:nvSpPr>
        <p:spPr>
          <a:xfrm>
            <a:off x="777240" y="3310128"/>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8" name="Text 16"/>
          <p:cNvSpPr txBox="1"/>
          <p:nvPr/>
        </p:nvSpPr>
        <p:spPr>
          <a:xfrm>
            <a:off x="1234440" y="3264408"/>
            <a:ext cx="44348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Conditional logic</a:t>
            </a:r>
            <a:endParaRPr lang="en-US" sz="1600" dirty="0"/>
          </a:p>
        </p:txBody>
      </p:sp>
      <p:sp>
        <p:nvSpPr>
          <p:cNvPr id="19" name="Text 17"/>
          <p:cNvSpPr txBox="1"/>
          <p:nvPr/>
        </p:nvSpPr>
        <p:spPr>
          <a:xfrm>
            <a:off x="1234440" y="3611880"/>
            <a:ext cx="4434840" cy="466344"/>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CASE WHEN turns row-level conditions into repeat / one-time segments.</a:t>
            </a:r>
            <a:endParaRPr lang="en-US" sz="1150" dirty="0"/>
          </a:p>
        </p:txBody>
      </p:sp>
      <p:sp>
        <p:nvSpPr>
          <p:cNvPr id="20" name="Shape 18"/>
          <p:cNvSpPr/>
          <p:nvPr/>
        </p:nvSpPr>
        <p:spPr>
          <a:xfrm>
            <a:off x="6172200" y="3108960"/>
            <a:ext cx="5257800" cy="1078992"/>
          </a:xfrm>
          <a:prstGeom prst="roundRect">
            <a:avLst>
              <a:gd name="adj" fmla="val 13559"/>
            </a:avLst>
          </a:prstGeom>
          <a:solidFill>
            <a:srgbClr val="FFFFFF"/>
          </a:solidFill>
          <a:ln w="12700">
            <a:solidFill>
              <a:srgbClr val="FFFFFF">
                <a:alpha val="0"/>
              </a:srgbClr>
            </a:solidFill>
            <a:prstDash val="solid"/>
          </a:ln>
        </p:spPr>
        <p:txBody>
          <a:bodyPr/>
          <a:p/>
        </p:txBody>
      </p:sp>
      <p:sp>
        <p:nvSpPr>
          <p:cNvPr id="21" name="Shape 19"/>
          <p:cNvSpPr/>
          <p:nvPr/>
        </p:nvSpPr>
        <p:spPr>
          <a:xfrm>
            <a:off x="6355080" y="3291840"/>
            <a:ext cx="347472" cy="347472"/>
          </a:xfrm>
          <a:prstGeom prst="ellipse">
            <a:avLst/>
          </a:prstGeom>
          <a:solidFill>
            <a:srgbClr val="14213D"/>
          </a:solidFill>
          <a:ln w="12700">
            <a:solidFill>
              <a:srgbClr val="14213D">
                <a:alpha val="0"/>
              </a:srgbClr>
            </a:solidFill>
            <a:prstDash val="solid"/>
          </a:ln>
        </p:spPr>
        <p:txBody>
          <a:bodyPr/>
          <a:p/>
        </p:txBody>
      </p:sp>
      <p:sp>
        <p:nvSpPr>
          <p:cNvPr id="22" name="Text 20"/>
          <p:cNvSpPr txBox="1"/>
          <p:nvPr/>
        </p:nvSpPr>
        <p:spPr>
          <a:xfrm>
            <a:off x="6355080" y="3310128"/>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3" name="Text 21"/>
          <p:cNvSpPr txBox="1"/>
          <p:nvPr/>
        </p:nvSpPr>
        <p:spPr>
          <a:xfrm>
            <a:off x="6812280" y="3264408"/>
            <a:ext cx="44348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Date analytics</a:t>
            </a:r>
            <a:endParaRPr lang="en-US" sz="1600" dirty="0"/>
          </a:p>
        </p:txBody>
      </p:sp>
      <p:sp>
        <p:nvSpPr>
          <p:cNvPr id="24" name="Text 22"/>
          <p:cNvSpPr txBox="1"/>
          <p:nvPr/>
        </p:nvSpPr>
        <p:spPr>
          <a:xfrm>
            <a:off x="6812280" y="3611880"/>
            <a:ext cx="4434840" cy="466344"/>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DATEDIFF measures time between purchase events.</a:t>
            </a:r>
            <a:endParaRPr lang="en-US" sz="1150" dirty="0"/>
          </a:p>
        </p:txBody>
      </p:sp>
      <p:sp>
        <p:nvSpPr>
          <p:cNvPr id="25" name="Shape 23"/>
          <p:cNvSpPr/>
          <p:nvPr/>
        </p:nvSpPr>
        <p:spPr>
          <a:xfrm>
            <a:off x="594360" y="4434840"/>
            <a:ext cx="5257800" cy="1078992"/>
          </a:xfrm>
          <a:prstGeom prst="roundRect">
            <a:avLst>
              <a:gd name="adj" fmla="val 13559"/>
            </a:avLst>
          </a:prstGeom>
          <a:solidFill>
            <a:srgbClr val="FFFFFF"/>
          </a:solidFill>
          <a:ln w="12700">
            <a:solidFill>
              <a:srgbClr val="FFFFFF">
                <a:alpha val="0"/>
              </a:srgbClr>
            </a:solidFill>
            <a:prstDash val="solid"/>
          </a:ln>
        </p:spPr>
        <p:txBody>
          <a:bodyPr/>
          <a:p/>
        </p:txBody>
      </p:sp>
      <p:sp>
        <p:nvSpPr>
          <p:cNvPr id="26" name="Shape 24"/>
          <p:cNvSpPr/>
          <p:nvPr/>
        </p:nvSpPr>
        <p:spPr>
          <a:xfrm>
            <a:off x="777240" y="4617720"/>
            <a:ext cx="347472" cy="347472"/>
          </a:xfrm>
          <a:prstGeom prst="ellipse">
            <a:avLst/>
          </a:prstGeom>
          <a:solidFill>
            <a:srgbClr val="2A9D8F"/>
          </a:solidFill>
          <a:ln w="12700">
            <a:solidFill>
              <a:srgbClr val="2A9D8F">
                <a:alpha val="0"/>
              </a:srgbClr>
            </a:solidFill>
            <a:prstDash val="solid"/>
          </a:ln>
        </p:spPr>
        <p:txBody>
          <a:bodyPr/>
          <a:p/>
        </p:txBody>
      </p:sp>
      <p:sp>
        <p:nvSpPr>
          <p:cNvPr id="27" name="Text 25"/>
          <p:cNvSpPr txBox="1"/>
          <p:nvPr/>
        </p:nvSpPr>
        <p:spPr>
          <a:xfrm>
            <a:off x="777240" y="4636008"/>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28" name="Text 26"/>
          <p:cNvSpPr txBox="1"/>
          <p:nvPr/>
        </p:nvSpPr>
        <p:spPr>
          <a:xfrm>
            <a:off x="1234440" y="4590288"/>
            <a:ext cx="44348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Aggregation</a:t>
            </a:r>
            <a:endParaRPr lang="en-US" sz="1600" dirty="0"/>
          </a:p>
        </p:txBody>
      </p:sp>
      <p:sp>
        <p:nvSpPr>
          <p:cNvPr id="29" name="Text 27"/>
          <p:cNvSpPr txBox="1"/>
          <p:nvPr/>
        </p:nvSpPr>
        <p:spPr>
          <a:xfrm>
            <a:off x="1234440" y="4937760"/>
            <a:ext cx="4434840" cy="466344"/>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SUM / AVG / MAX / COUNT translate transactions into KPIs.</a:t>
            </a:r>
            <a:endParaRPr lang="en-US" sz="1150" dirty="0"/>
          </a:p>
        </p:txBody>
      </p:sp>
      <p:sp>
        <p:nvSpPr>
          <p:cNvPr id="30" name="Shape 28"/>
          <p:cNvSpPr/>
          <p:nvPr/>
        </p:nvSpPr>
        <p:spPr>
          <a:xfrm>
            <a:off x="6172200" y="4434840"/>
            <a:ext cx="5257800" cy="1078992"/>
          </a:xfrm>
          <a:prstGeom prst="roundRect">
            <a:avLst>
              <a:gd name="adj" fmla="val 13559"/>
            </a:avLst>
          </a:prstGeom>
          <a:solidFill>
            <a:srgbClr val="FFFFFF"/>
          </a:solidFill>
          <a:ln w="12700">
            <a:solidFill>
              <a:srgbClr val="FFFFFF">
                <a:alpha val="0"/>
              </a:srgbClr>
            </a:solidFill>
            <a:prstDash val="solid"/>
          </a:ln>
        </p:spPr>
        <p:txBody>
          <a:bodyPr/>
          <a:p/>
        </p:txBody>
      </p:sp>
      <p:sp>
        <p:nvSpPr>
          <p:cNvPr id="31" name="Shape 29"/>
          <p:cNvSpPr/>
          <p:nvPr/>
        </p:nvSpPr>
        <p:spPr>
          <a:xfrm>
            <a:off x="6355080" y="4617720"/>
            <a:ext cx="347472" cy="347472"/>
          </a:xfrm>
          <a:prstGeom prst="ellipse">
            <a:avLst/>
          </a:prstGeom>
          <a:solidFill>
            <a:srgbClr val="F6BD60"/>
          </a:solidFill>
          <a:ln w="12700">
            <a:solidFill>
              <a:srgbClr val="F6BD60">
                <a:alpha val="0"/>
              </a:srgbClr>
            </a:solidFill>
            <a:prstDash val="solid"/>
          </a:ln>
        </p:spPr>
        <p:txBody>
          <a:bodyPr/>
          <a:p/>
        </p:txBody>
      </p:sp>
      <p:sp>
        <p:nvSpPr>
          <p:cNvPr id="32" name="Text 30"/>
          <p:cNvSpPr txBox="1"/>
          <p:nvPr/>
        </p:nvSpPr>
        <p:spPr>
          <a:xfrm>
            <a:off x="6355080" y="4636008"/>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33" name="Text 31"/>
          <p:cNvSpPr txBox="1"/>
          <p:nvPr/>
        </p:nvSpPr>
        <p:spPr>
          <a:xfrm>
            <a:off x="6812280" y="4590288"/>
            <a:ext cx="44348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Joins + COALESCE</a:t>
            </a:r>
            <a:endParaRPr lang="en-US" sz="1600" dirty="0"/>
          </a:p>
        </p:txBody>
      </p:sp>
      <p:sp>
        <p:nvSpPr>
          <p:cNvPr id="34" name="Text 32"/>
          <p:cNvSpPr txBox="1"/>
          <p:nvPr/>
        </p:nvSpPr>
        <p:spPr>
          <a:xfrm>
            <a:off x="6812280" y="4937760"/>
            <a:ext cx="4434840" cy="466344"/>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Combines sales with inventory while preserving products with zero stock.</a:t>
            </a:r>
            <a:endParaRPr lang="en-US" sz="1150" dirty="0"/>
          </a:p>
        </p:txBody>
      </p:sp>
      <p:sp>
        <p:nvSpPr>
          <p:cNvPr id="35" name="Text 33"/>
          <p:cNvSpPr txBox="1"/>
          <p:nvPr/>
        </p:nvSpPr>
        <p:spPr>
          <a:xfrm>
            <a:off x="594360" y="5934456"/>
            <a:ext cx="1188720" cy="201168"/>
          </a:xfrm>
          <a:prstGeom prst="rect">
            <a:avLst/>
          </a:prstGeom>
          <a:noFill/>
          <a:ln/>
        </p:spPr>
        <p:txBody>
          <a:bodyPr wrap="square" lIns="0" tIns="0" rIns="0" bIns="0" rtlCol="0" anchor="ctr">
            <a:normAutofit/>
          </a:bodyPr>
          <a:lstStyle/>
          <a:p>
            <a:pPr algn="l" indent="0" marL="0">
              <a:buNone/>
            </a:pPr>
            <a:r>
              <a:rPr lang="en-US" sz="1000" b="1" dirty="0">
                <a:solidFill>
                  <a:srgbClr val="008C95"/>
                </a:solidFill>
                <a:latin typeface="Arial" pitchFamily="34" charset="0"/>
                <a:ea typeface="Arial" pitchFamily="34" charset="-122"/>
                <a:cs typeface="Arial" pitchFamily="34" charset="-120"/>
              </a:rPr>
              <a:t>Query structure</a:t>
            </a:r>
            <a:endParaRPr lang="en-US" sz="1000" dirty="0"/>
          </a:p>
        </p:txBody>
      </p:sp>
      <p:sp>
        <p:nvSpPr>
          <p:cNvPr id="36" name="Text 34"/>
          <p:cNvSpPr txBox="1"/>
          <p:nvPr/>
        </p:nvSpPr>
        <p:spPr>
          <a:xfrm>
            <a:off x="1691640" y="5870448"/>
            <a:ext cx="8869680" cy="310896"/>
          </a:xfrm>
          <a:prstGeom prst="rect">
            <a:avLst/>
          </a:prstGeom>
          <a:noFill/>
          <a:ln/>
        </p:spPr>
        <p:txBody>
          <a:bodyPr wrap="square" lIns="0" tIns="0" rIns="0" bIns="0" rtlCol="0" anchor="ctr">
            <a:normAutofit/>
          </a:bodyPr>
          <a:lstStyle/>
          <a:p>
            <a:pPr algn="l" indent="0" marL="0">
              <a:buNone/>
            </a:pPr>
            <a:r>
              <a:rPr lang="en-US" sz="1700" b="1" dirty="0">
                <a:solidFill>
                  <a:srgbClr val="14213D"/>
                </a:solidFill>
                <a:latin typeface="Cambria" pitchFamily="34" charset="0"/>
                <a:ea typeface="Cambria" pitchFamily="34" charset="-122"/>
                <a:cs typeface="Cambria" pitchFamily="34" charset="-120"/>
              </a:rPr>
              <a:t>Each CTE isolates a reusable analytical step.</a:t>
            </a:r>
            <a:endParaRPr lang="en-US" sz="1700" dirty="0"/>
          </a:p>
        </p:txBody>
      </p:sp>
      <p:sp>
        <p:nvSpPr>
          <p:cNvPr id="25" name="Slide Number Placeholder 0"/>
          <p:cNvSpPr>
            <a:spLocks noGrp="1"/>
          </p:cNvSpPr>
          <p:nvPr>
            <p:ph type="sldNum" sz="quarter" idx="4294967295"/>
          </p:nvPr>
        </p:nvSpPr>
        <p:spPr>
          <a:xfrm>
            <a:off x="11686032" y="646480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8595"/>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2560320" cy="228600"/>
          </a:xfrm>
          <a:prstGeom prst="rect">
            <a:avLst/>
          </a:prstGeom>
          <a:noFill/>
          <a:ln/>
        </p:spPr>
        <p:txBody>
          <a:bodyPr wrap="square" lIns="0" tIns="0" rIns="0" bIns="0" rtlCol="0" anchor="ctr">
            <a:normAutofit/>
          </a:bodyPr>
          <a:lstStyle/>
          <a:p>
            <a:pPr algn="l" indent="0" marL="0">
              <a:buNone/>
            </a:pPr>
            <a:r>
              <a:rPr lang="en-US" sz="900" b="1" spc="110" kern="0" dirty="0">
                <a:solidFill>
                  <a:srgbClr val="008C95"/>
                </a:solidFill>
                <a:latin typeface="Arial" pitchFamily="34" charset="0"/>
                <a:ea typeface="Arial" pitchFamily="34" charset="-122"/>
                <a:cs typeface="Arial" pitchFamily="34" charset="-120"/>
              </a:rPr>
              <a:t>04 • ANALYSIS 1</a:t>
            </a:r>
            <a:endParaRPr lang="en-US" sz="900" dirty="0"/>
          </a:p>
        </p:txBody>
      </p:sp>
      <p:sp>
        <p:nvSpPr>
          <p:cNvPr id="3" name="Text 1"/>
          <p:cNvSpPr txBox="1"/>
          <p:nvPr/>
        </p:nvSpPr>
        <p:spPr>
          <a:xfrm>
            <a:off x="548640" y="640080"/>
            <a:ext cx="10607040" cy="566928"/>
          </a:xfrm>
          <a:prstGeom prst="rect">
            <a:avLst/>
          </a:prstGeom>
          <a:noFill/>
          <a:ln/>
        </p:spPr>
        <p:txBody>
          <a:bodyPr wrap="square" lIns="0" tIns="0" rIns="0" bIns="0" rtlCol="0" anchor="ctr">
            <a:normAutofit/>
          </a:bodyPr>
          <a:lstStyle/>
          <a:p>
            <a:pPr algn="l" indent="0" marL="0">
              <a:buNone/>
            </a:pPr>
            <a:r>
              <a:rPr lang="en-US" sz="2900" b="1" dirty="0">
                <a:solidFill>
                  <a:srgbClr val="14213D"/>
                </a:solidFill>
                <a:latin typeface="Cambria" pitchFamily="34" charset="0"/>
                <a:ea typeface="Cambria" pitchFamily="34" charset="-122"/>
                <a:cs typeface="Cambria" pitchFamily="34" charset="-120"/>
              </a:rPr>
              <a:t>Longest purchase gap by customer</a:t>
            </a:r>
            <a:endParaRPr lang="en-US" sz="2900" dirty="0"/>
          </a:p>
        </p:txBody>
      </p:sp>
      <p:sp>
        <p:nvSpPr>
          <p:cNvPr id="4" name="Text 2"/>
          <p:cNvSpPr txBox="1"/>
          <p:nvPr/>
        </p:nvSpPr>
        <p:spPr>
          <a:xfrm>
            <a:off x="548640" y="1243584"/>
            <a:ext cx="10607040" cy="384048"/>
          </a:xfrm>
          <a:prstGeom prst="rect">
            <a:avLst/>
          </a:prstGeom>
          <a:noFill/>
          <a:ln/>
        </p:spPr>
        <p:txBody>
          <a:bodyPr wrap="square" lIns="0" tIns="0" rIns="0" bIns="0" rtlCol="0" anchor="ctr">
            <a:normAutofit/>
          </a:bodyPr>
          <a:lstStyle/>
          <a:p>
            <a:pPr algn="l" indent="0" marL="0">
              <a:buNone/>
            </a:pPr>
            <a:r>
              <a:rPr lang="en-US" sz="1250" dirty="0">
                <a:solidFill>
                  <a:srgbClr val="667085"/>
                </a:solidFill>
                <a:latin typeface="Arial" pitchFamily="34" charset="0"/>
                <a:ea typeface="Arial" pitchFamily="34" charset="-122"/>
                <a:cs typeface="Arial" pitchFamily="34" charset="-120"/>
              </a:rPr>
              <a:t>Maximum and average days between consecutive orders for each customer.</a:t>
            </a:r>
            <a:endParaRPr lang="en-US" sz="1250" dirty="0"/>
          </a:p>
        </p:txBody>
      </p:sp>
      <p:sp>
        <p:nvSpPr>
          <p:cNvPr id="5" name="Shape 3"/>
          <p:cNvSpPr/>
          <p:nvPr/>
        </p:nvSpPr>
        <p:spPr>
          <a:xfrm>
            <a:off x="594360" y="1755648"/>
            <a:ext cx="6903720" cy="3456432"/>
          </a:xfrm>
          <a:prstGeom prst="roundRect">
            <a:avLst>
              <a:gd name="adj" fmla="val 3968"/>
            </a:avLst>
          </a:prstGeom>
          <a:solidFill>
            <a:srgbClr val="14213D"/>
          </a:solidFill>
          <a:ln w="12700">
            <a:solidFill>
              <a:srgbClr val="14213D">
                <a:alpha val="0"/>
              </a:srgbClr>
            </a:solidFill>
            <a:prstDash val="solid"/>
          </a:ln>
        </p:spPr>
        <p:txBody>
          <a:bodyPr/>
          <a:p/>
        </p:txBody>
      </p:sp>
      <p:sp>
        <p:nvSpPr>
          <p:cNvPr id="6" name="Text 4"/>
          <p:cNvSpPr txBox="1"/>
          <p:nvPr/>
        </p:nvSpPr>
        <p:spPr>
          <a:xfrm>
            <a:off x="758952" y="1901952"/>
            <a:ext cx="6574536" cy="3200400"/>
          </a:xfrm>
          <a:prstGeom prst="rect">
            <a:avLst/>
          </a:prstGeom>
          <a:noFill/>
          <a:ln/>
        </p:spPr>
        <p:txBody>
          <a:bodyPr wrap="square" lIns="0" tIns="0" rIns="0" bIns="0" rtlCol="0" anchor="t">
            <a:normAutofit/>
          </a:bodyPr>
          <a:lstStyle/>
          <a:p>
            <a:pPr algn="l" indent="0" marL="0">
              <a:buNone/>
            </a:pPr>
            <a:r>
              <a:rPr lang="en-US" sz="1060" dirty="0">
                <a:solidFill>
                  <a:srgbClr val="EAF0F7"/>
                </a:solidFill>
                <a:latin typeface="Courier New" pitchFamily="34" charset="0"/>
                <a:ea typeface="Courier New" pitchFamily="34" charset="-122"/>
                <a:cs typeface="Courier New" pitchFamily="34" charset="-120"/>
              </a:rPr>
              <a:t>WITH Order_Gaps AS (</a:t>
            </a:r>
            <a:endParaRPr lang="en-US" sz="1060" dirty="0"/>
          </a:p>
          <a:p>
            <a:pPr algn="l" indent="0" marL="0">
              <a:buNone/>
            </a:pPr>
            <a:r>
              <a:rPr lang="en-US" sz="1060" dirty="0">
                <a:solidFill>
                  <a:srgbClr val="EAF0F7"/>
                </a:solidFill>
                <a:latin typeface="Courier New" pitchFamily="34" charset="0"/>
                <a:ea typeface="Courier New" pitchFamily="34" charset="-122"/>
                <a:cs typeface="Courier New" pitchFamily="34" charset="-120"/>
              </a:rPr>
              <a:t>  SELECT Customer_ID, Order_Id, Order_Tms,</a:t>
            </a:r>
            <a:endParaRPr lang="en-US" sz="1060" dirty="0"/>
          </a:p>
          <a:p>
            <a:pPr algn="l" indent="0" marL="0">
              <a:buNone/>
            </a:pPr>
            <a:r>
              <a:rPr lang="en-US" sz="1060" dirty="0">
                <a:solidFill>
                  <a:srgbClr val="EAF0F7"/>
                </a:solidFill>
                <a:latin typeface="Courier New" pitchFamily="34" charset="0"/>
                <a:ea typeface="Courier New" pitchFamily="34" charset="-122"/>
                <a:cs typeface="Courier New" pitchFamily="34" charset="-120"/>
              </a:rPr>
              <a:t>    LAG(Order_Tms) OVER (</a:t>
            </a:r>
            <a:endParaRPr lang="en-US" sz="1060" dirty="0"/>
          </a:p>
          <a:p>
            <a:pPr algn="l" indent="0" marL="0">
              <a:buNone/>
            </a:pPr>
            <a:r>
              <a:rPr lang="en-US" sz="1060" dirty="0">
                <a:solidFill>
                  <a:srgbClr val="EAF0F7"/>
                </a:solidFill>
                <a:latin typeface="Courier New" pitchFamily="34" charset="0"/>
                <a:ea typeface="Courier New" pitchFamily="34" charset="-122"/>
                <a:cs typeface="Courier New" pitchFamily="34" charset="-120"/>
              </a:rPr>
              <a:t>      PARTITION BY Customer_ID</a:t>
            </a:r>
            <a:endParaRPr lang="en-US" sz="1060" dirty="0"/>
          </a:p>
          <a:p>
            <a:pPr algn="l" indent="0" marL="0">
              <a:buNone/>
            </a:pPr>
            <a:r>
              <a:rPr lang="en-US" sz="1060" dirty="0">
                <a:solidFill>
                  <a:srgbClr val="EAF0F7"/>
                </a:solidFill>
                <a:latin typeface="Courier New" pitchFamily="34" charset="0"/>
                <a:ea typeface="Courier New" pitchFamily="34" charset="-122"/>
                <a:cs typeface="Courier New" pitchFamily="34" charset="-120"/>
              </a:rPr>
              <a:t>      ORDER BY Order_Tms</a:t>
            </a:r>
            <a:endParaRPr lang="en-US" sz="1060" dirty="0"/>
          </a:p>
          <a:p>
            <a:pPr algn="l" indent="0" marL="0">
              <a:buNone/>
            </a:pPr>
            <a:r>
              <a:rPr lang="en-US" sz="1060" dirty="0">
                <a:solidFill>
                  <a:srgbClr val="EAF0F7"/>
                </a:solidFill>
                <a:latin typeface="Courier New" pitchFamily="34" charset="0"/>
                <a:ea typeface="Courier New" pitchFamily="34" charset="-122"/>
                <a:cs typeface="Courier New" pitchFamily="34" charset="-120"/>
              </a:rPr>
              <a:t>    ) AS Previous_Order</a:t>
            </a:r>
            <a:endParaRPr lang="en-US" sz="1060" dirty="0"/>
          </a:p>
          <a:p>
            <a:pPr algn="l" indent="0" marL="0">
              <a:buNone/>
            </a:pPr>
            <a:r>
              <a:rPr lang="en-US" sz="1060" dirty="0">
                <a:solidFill>
                  <a:srgbClr val="EAF0F7"/>
                </a:solidFill>
                <a:latin typeface="Courier New" pitchFamily="34" charset="0"/>
                <a:ea typeface="Courier New" pitchFamily="34" charset="-122"/>
                <a:cs typeface="Courier New" pitchFamily="34" charset="-120"/>
              </a:rPr>
              <a:t>  FROM Orders</a:t>
            </a:r>
            <a:endParaRPr lang="en-US" sz="1060" dirty="0"/>
          </a:p>
          <a:p>
            <a:pPr algn="l" indent="0" marL="0">
              <a:buNone/>
            </a:pPr>
            <a:r>
              <a:rPr lang="en-US" sz="1060" dirty="0">
                <a:solidFill>
                  <a:srgbClr val="EAF0F7"/>
                </a:solidFill>
                <a:latin typeface="Courier New" pitchFamily="34" charset="0"/>
                <a:ea typeface="Courier New" pitchFamily="34" charset="-122"/>
                <a:cs typeface="Courier New" pitchFamily="34" charset="-120"/>
              </a:rPr>
              <a:t>), Customer_Gaps AS (</a:t>
            </a:r>
            <a:endParaRPr lang="en-US" sz="1060" dirty="0"/>
          </a:p>
          <a:p>
            <a:pPr algn="l" indent="0" marL="0">
              <a:buNone/>
            </a:pPr>
            <a:r>
              <a:rPr lang="en-US" sz="1060" dirty="0">
                <a:solidFill>
                  <a:srgbClr val="EAF0F7"/>
                </a:solidFill>
                <a:latin typeface="Courier New" pitchFamily="34" charset="0"/>
                <a:ea typeface="Courier New" pitchFamily="34" charset="-122"/>
                <a:cs typeface="Courier New" pitchFamily="34" charset="-120"/>
              </a:rPr>
              <a:t>  SELECT *, DATEDIFF(Order_Tms, Previous_Order)</a:t>
            </a:r>
            <a:endParaRPr lang="en-US" sz="1060" dirty="0"/>
          </a:p>
          <a:p>
            <a:pPr algn="l" indent="0" marL="0">
              <a:buNone/>
            </a:pPr>
            <a:r>
              <a:rPr lang="en-US" sz="1060" dirty="0">
                <a:solidFill>
                  <a:srgbClr val="EAF0F7"/>
                </a:solidFill>
                <a:latin typeface="Courier New" pitchFamily="34" charset="0"/>
                <a:ea typeface="Courier New" pitchFamily="34" charset="-122"/>
                <a:cs typeface="Courier New" pitchFamily="34" charset="-120"/>
              </a:rPr>
              <a:t>         AS Days_Between_Orders</a:t>
            </a:r>
            <a:endParaRPr lang="en-US" sz="1060" dirty="0"/>
          </a:p>
          <a:p>
            <a:pPr algn="l" indent="0" marL="0">
              <a:buNone/>
            </a:pPr>
            <a:r>
              <a:rPr lang="en-US" sz="1060" dirty="0">
                <a:solidFill>
                  <a:srgbClr val="EAF0F7"/>
                </a:solidFill>
                <a:latin typeface="Courier New" pitchFamily="34" charset="0"/>
                <a:ea typeface="Courier New" pitchFamily="34" charset="-122"/>
                <a:cs typeface="Courier New" pitchFamily="34" charset="-120"/>
              </a:rPr>
              <a:t>  FROM Order_Gaps</a:t>
            </a:r>
            <a:endParaRPr lang="en-US" sz="1060" dirty="0"/>
          </a:p>
          <a:p>
            <a:pPr algn="l" indent="0" marL="0">
              <a:buNone/>
            </a:pPr>
            <a:r>
              <a:rPr lang="en-US" sz="1060" dirty="0">
                <a:solidFill>
                  <a:srgbClr val="EAF0F7"/>
                </a:solidFill>
                <a:latin typeface="Courier New" pitchFamily="34" charset="0"/>
                <a:ea typeface="Courier New" pitchFamily="34" charset="-122"/>
                <a:cs typeface="Courier New" pitchFamily="34" charset="-120"/>
              </a:rPr>
              <a:t>  WHERE Previous_Order IS NOT NULL</a:t>
            </a:r>
            <a:endParaRPr lang="en-US" sz="1060" dirty="0"/>
          </a:p>
          <a:p>
            <a:pPr algn="l" indent="0" marL="0">
              <a:buNone/>
            </a:pPr>
            <a:r>
              <a:rPr lang="en-US" sz="1060" dirty="0">
                <a:solidFill>
                  <a:srgbClr val="EAF0F7"/>
                </a:solidFill>
                <a:latin typeface="Courier New" pitchFamily="34" charset="0"/>
                <a:ea typeface="Courier New" pitchFamily="34" charset="-122"/>
                <a:cs typeface="Courier New" pitchFamily="34" charset="-120"/>
              </a:rPr>
              <a:t>)</a:t>
            </a:r>
            <a:endParaRPr lang="en-US" sz="1060" dirty="0"/>
          </a:p>
          <a:p>
            <a:pPr algn="l" indent="0" marL="0">
              <a:buNone/>
            </a:pPr>
            <a:r>
              <a:rPr lang="en-US" sz="1060" dirty="0">
                <a:solidFill>
                  <a:srgbClr val="EAF0F7"/>
                </a:solidFill>
                <a:latin typeface="Courier New" pitchFamily="34" charset="0"/>
                <a:ea typeface="Courier New" pitchFamily="34" charset="-122"/>
                <a:cs typeface="Courier New" pitchFamily="34" charset="-120"/>
              </a:rPr>
              <a:t>SELECT Customer_ID, MAX(Days_Between_Orders) AS Longest_Purchase_Gap,</a:t>
            </a:r>
            <a:endParaRPr lang="en-US" sz="1060" dirty="0"/>
          </a:p>
          <a:p>
            <a:pPr algn="l" indent="0" marL="0">
              <a:buNone/>
            </a:pPr>
            <a:r>
              <a:rPr lang="en-US" sz="1060" dirty="0">
                <a:solidFill>
                  <a:srgbClr val="EAF0F7"/>
                </a:solidFill>
                <a:latin typeface="Courier New" pitchFamily="34" charset="0"/>
                <a:ea typeface="Courier New" pitchFamily="34" charset="-122"/>
                <a:cs typeface="Courier New" pitchFamily="34" charset="-120"/>
              </a:rPr>
              <a:t>       ROUND(AVG(Days_Between_Orders), 1) AS Average_Purchase_Gap</a:t>
            </a:r>
            <a:endParaRPr lang="en-US" sz="1060" dirty="0"/>
          </a:p>
          <a:p>
            <a:pPr algn="l" indent="0" marL="0">
              <a:buNone/>
            </a:pPr>
            <a:r>
              <a:rPr lang="en-US" sz="1060" dirty="0">
                <a:solidFill>
                  <a:srgbClr val="EAF0F7"/>
                </a:solidFill>
                <a:latin typeface="Courier New" pitchFamily="34" charset="0"/>
                <a:ea typeface="Courier New" pitchFamily="34" charset="-122"/>
                <a:cs typeface="Courier New" pitchFamily="34" charset="-120"/>
              </a:rPr>
              <a:t>FROM Customer_Gaps</a:t>
            </a:r>
            <a:endParaRPr lang="en-US" sz="1060" dirty="0"/>
          </a:p>
          <a:p>
            <a:pPr algn="l" indent="0" marL="0">
              <a:buNone/>
            </a:pPr>
            <a:r>
              <a:rPr lang="en-US" sz="1060" dirty="0">
                <a:solidFill>
                  <a:srgbClr val="EAF0F7"/>
                </a:solidFill>
                <a:latin typeface="Courier New" pitchFamily="34" charset="0"/>
                <a:ea typeface="Courier New" pitchFamily="34" charset="-122"/>
                <a:cs typeface="Courier New" pitchFamily="34" charset="-120"/>
              </a:rPr>
              <a:t>GROUP BY Customer_ID;</a:t>
            </a:r>
            <a:endParaRPr lang="en-US" sz="1060" dirty="0"/>
          </a:p>
        </p:txBody>
      </p:sp>
      <p:sp>
        <p:nvSpPr>
          <p:cNvPr id="7" name="Shape 5"/>
          <p:cNvSpPr/>
          <p:nvPr/>
        </p:nvSpPr>
        <p:spPr>
          <a:xfrm>
            <a:off x="7818120" y="1755648"/>
            <a:ext cx="3566160" cy="3456432"/>
          </a:xfrm>
          <a:prstGeom prst="roundRect">
            <a:avLst>
              <a:gd name="adj" fmla="val 4233"/>
            </a:avLst>
          </a:prstGeom>
          <a:solidFill>
            <a:srgbClr val="FFFFFF"/>
          </a:solidFill>
          <a:ln w="12700">
            <a:solidFill>
              <a:srgbClr val="FFFFFF">
                <a:alpha val="0"/>
              </a:srgbClr>
            </a:solidFill>
            <a:prstDash val="solid"/>
          </a:ln>
        </p:spPr>
        <p:txBody>
          <a:bodyPr/>
          <a:p/>
        </p:txBody>
      </p:sp>
      <p:sp>
        <p:nvSpPr>
          <p:cNvPr id="8" name="Text 6"/>
          <p:cNvSpPr txBox="1"/>
          <p:nvPr/>
        </p:nvSpPr>
        <p:spPr>
          <a:xfrm>
            <a:off x="8092440" y="1993392"/>
            <a:ext cx="2926080" cy="182880"/>
          </a:xfrm>
          <a:prstGeom prst="rect">
            <a:avLst/>
          </a:prstGeom>
          <a:noFill/>
          <a:ln/>
        </p:spPr>
        <p:txBody>
          <a:bodyPr wrap="square" lIns="0" tIns="0" rIns="0" bIns="0" rtlCol="0" anchor="ctr">
            <a:normAutofit/>
          </a:bodyPr>
          <a:lstStyle/>
          <a:p>
            <a:pPr algn="l" indent="0" marL="0">
              <a:buNone/>
            </a:pPr>
            <a:r>
              <a:rPr lang="en-US" sz="1000" b="1" dirty="0">
                <a:solidFill>
                  <a:srgbClr val="008C95"/>
                </a:solidFill>
                <a:latin typeface="Arial" pitchFamily="34" charset="0"/>
                <a:ea typeface="Arial" pitchFamily="34" charset="-122"/>
                <a:cs typeface="Arial" pitchFamily="34" charset="-120"/>
              </a:rPr>
              <a:t>METHOD</a:t>
            </a:r>
            <a:endParaRPr lang="en-US" sz="1000" dirty="0"/>
          </a:p>
        </p:txBody>
      </p:sp>
      <p:sp>
        <p:nvSpPr>
          <p:cNvPr id="9" name="Shape 7"/>
          <p:cNvSpPr/>
          <p:nvPr/>
        </p:nvSpPr>
        <p:spPr>
          <a:xfrm>
            <a:off x="8101584" y="2395728"/>
            <a:ext cx="274320" cy="274320"/>
          </a:xfrm>
          <a:prstGeom prst="ellipse">
            <a:avLst/>
          </a:prstGeom>
          <a:solidFill>
            <a:srgbClr val="008C95"/>
          </a:solidFill>
          <a:ln w="12700">
            <a:solidFill>
              <a:srgbClr val="008C95">
                <a:alpha val="0"/>
              </a:srgbClr>
            </a:solidFill>
            <a:prstDash val="solid"/>
          </a:ln>
        </p:spPr>
        <p:txBody>
          <a:bodyPr/>
          <a:p/>
        </p:txBody>
      </p:sp>
      <p:sp>
        <p:nvSpPr>
          <p:cNvPr id="10" name="Text 8"/>
          <p:cNvSpPr txBox="1"/>
          <p:nvPr/>
        </p:nvSpPr>
        <p:spPr>
          <a:xfrm>
            <a:off x="8101584" y="2432304"/>
            <a:ext cx="274320"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11" name="Text 9"/>
          <p:cNvSpPr txBox="1"/>
          <p:nvPr/>
        </p:nvSpPr>
        <p:spPr>
          <a:xfrm>
            <a:off x="8503920" y="2386584"/>
            <a:ext cx="2468880" cy="347472"/>
          </a:xfrm>
          <a:prstGeom prst="rect">
            <a:avLst/>
          </a:prstGeom>
          <a:noFill/>
          <a:ln/>
        </p:spPr>
        <p:txBody>
          <a:bodyPr wrap="square" lIns="0" tIns="0" rIns="0" bIns="0" rtlCol="0" anchor="t">
            <a:normAutofit/>
          </a:bodyPr>
          <a:lstStyle/>
          <a:p>
            <a:pPr algn="l" indent="0" marL="0">
              <a:buNone/>
            </a:pPr>
            <a:r>
              <a:rPr lang="en-US" sz="1150" dirty="0">
                <a:solidFill>
                  <a:srgbClr val="152238"/>
                </a:solidFill>
                <a:latin typeface="Arial" pitchFamily="34" charset="0"/>
                <a:ea typeface="Arial" pitchFamily="34" charset="-122"/>
                <a:cs typeface="Arial" pitchFamily="34" charset="-120"/>
              </a:rPr>
              <a:t>Order customer history</a:t>
            </a:r>
            <a:endParaRPr lang="en-US" sz="1150" dirty="0"/>
          </a:p>
        </p:txBody>
      </p:sp>
      <p:sp>
        <p:nvSpPr>
          <p:cNvPr id="12" name="Shape 10"/>
          <p:cNvSpPr/>
          <p:nvPr/>
        </p:nvSpPr>
        <p:spPr>
          <a:xfrm>
            <a:off x="8101584" y="3017520"/>
            <a:ext cx="274320" cy="274320"/>
          </a:xfrm>
          <a:prstGeom prst="ellipse">
            <a:avLst/>
          </a:prstGeom>
          <a:solidFill>
            <a:srgbClr val="14213D"/>
          </a:solidFill>
          <a:ln w="12700">
            <a:solidFill>
              <a:srgbClr val="14213D">
                <a:alpha val="0"/>
              </a:srgbClr>
            </a:solidFill>
            <a:prstDash val="solid"/>
          </a:ln>
        </p:spPr>
        <p:txBody>
          <a:bodyPr/>
          <a:p/>
        </p:txBody>
      </p:sp>
      <p:sp>
        <p:nvSpPr>
          <p:cNvPr id="13" name="Text 11"/>
          <p:cNvSpPr txBox="1"/>
          <p:nvPr/>
        </p:nvSpPr>
        <p:spPr>
          <a:xfrm>
            <a:off x="8101584" y="3054096"/>
            <a:ext cx="274320"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14" name="Text 12"/>
          <p:cNvSpPr txBox="1"/>
          <p:nvPr/>
        </p:nvSpPr>
        <p:spPr>
          <a:xfrm>
            <a:off x="8503920" y="3008376"/>
            <a:ext cx="2468880" cy="347472"/>
          </a:xfrm>
          <a:prstGeom prst="rect">
            <a:avLst/>
          </a:prstGeom>
          <a:noFill/>
          <a:ln/>
        </p:spPr>
        <p:txBody>
          <a:bodyPr wrap="square" lIns="0" tIns="0" rIns="0" bIns="0" rtlCol="0" anchor="t">
            <a:normAutofit/>
          </a:bodyPr>
          <a:lstStyle/>
          <a:p>
            <a:pPr algn="l" indent="0" marL="0">
              <a:buNone/>
            </a:pPr>
            <a:r>
              <a:rPr lang="en-US" sz="1150" dirty="0">
                <a:solidFill>
                  <a:srgbClr val="152238"/>
                </a:solidFill>
                <a:latin typeface="Arial" pitchFamily="34" charset="0"/>
                <a:ea typeface="Arial" pitchFamily="34" charset="-122"/>
                <a:cs typeface="Arial" pitchFamily="34" charset="-120"/>
              </a:rPr>
              <a:t>Use LAG() for the previous order</a:t>
            </a:r>
            <a:endParaRPr lang="en-US" sz="1150" dirty="0"/>
          </a:p>
        </p:txBody>
      </p:sp>
      <p:sp>
        <p:nvSpPr>
          <p:cNvPr id="15" name="Shape 13"/>
          <p:cNvSpPr/>
          <p:nvPr/>
        </p:nvSpPr>
        <p:spPr>
          <a:xfrm>
            <a:off x="8101584" y="3639312"/>
            <a:ext cx="274320" cy="274320"/>
          </a:xfrm>
          <a:prstGeom prst="ellipse">
            <a:avLst/>
          </a:prstGeom>
          <a:solidFill>
            <a:srgbClr val="14213D"/>
          </a:solidFill>
          <a:ln w="12700">
            <a:solidFill>
              <a:srgbClr val="14213D">
                <a:alpha val="0"/>
              </a:srgbClr>
            </a:solidFill>
            <a:prstDash val="solid"/>
          </a:ln>
        </p:spPr>
        <p:txBody>
          <a:bodyPr/>
          <a:p/>
        </p:txBody>
      </p:sp>
      <p:sp>
        <p:nvSpPr>
          <p:cNvPr id="16" name="Text 14"/>
          <p:cNvSpPr txBox="1"/>
          <p:nvPr/>
        </p:nvSpPr>
        <p:spPr>
          <a:xfrm>
            <a:off x="8101584" y="3675888"/>
            <a:ext cx="274320"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17" name="Text 15"/>
          <p:cNvSpPr txBox="1"/>
          <p:nvPr/>
        </p:nvSpPr>
        <p:spPr>
          <a:xfrm>
            <a:off x="8503920" y="3630168"/>
            <a:ext cx="2468880" cy="347472"/>
          </a:xfrm>
          <a:prstGeom prst="rect">
            <a:avLst/>
          </a:prstGeom>
          <a:noFill/>
          <a:ln/>
        </p:spPr>
        <p:txBody>
          <a:bodyPr wrap="square" lIns="0" tIns="0" rIns="0" bIns="0" rtlCol="0" anchor="t">
            <a:normAutofit/>
          </a:bodyPr>
          <a:lstStyle/>
          <a:p>
            <a:pPr algn="l" indent="0" marL="0">
              <a:buNone/>
            </a:pPr>
            <a:r>
              <a:rPr lang="en-US" sz="1150" dirty="0">
                <a:solidFill>
                  <a:srgbClr val="152238"/>
                </a:solidFill>
                <a:latin typeface="Arial" pitchFamily="34" charset="0"/>
                <a:ea typeface="Arial" pitchFamily="34" charset="-122"/>
                <a:cs typeface="Arial" pitchFamily="34" charset="-120"/>
              </a:rPr>
              <a:t>DATEDIFF() calculates day gaps</a:t>
            </a:r>
            <a:endParaRPr lang="en-US" sz="1150" dirty="0"/>
          </a:p>
        </p:txBody>
      </p:sp>
      <p:sp>
        <p:nvSpPr>
          <p:cNvPr id="18" name="Shape 16"/>
          <p:cNvSpPr/>
          <p:nvPr/>
        </p:nvSpPr>
        <p:spPr>
          <a:xfrm>
            <a:off x="8101584" y="4261104"/>
            <a:ext cx="274320" cy="274320"/>
          </a:xfrm>
          <a:prstGeom prst="ellipse">
            <a:avLst/>
          </a:prstGeom>
          <a:solidFill>
            <a:srgbClr val="14213D"/>
          </a:solidFill>
          <a:ln w="12700">
            <a:solidFill>
              <a:srgbClr val="14213D">
                <a:alpha val="0"/>
              </a:srgbClr>
            </a:solidFill>
            <a:prstDash val="solid"/>
          </a:ln>
        </p:spPr>
        <p:txBody>
          <a:bodyPr/>
          <a:p/>
        </p:txBody>
      </p:sp>
      <p:sp>
        <p:nvSpPr>
          <p:cNvPr id="19" name="Text 17"/>
          <p:cNvSpPr txBox="1"/>
          <p:nvPr/>
        </p:nvSpPr>
        <p:spPr>
          <a:xfrm>
            <a:off x="8101584" y="4297680"/>
            <a:ext cx="274320"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20" name="Text 18"/>
          <p:cNvSpPr txBox="1"/>
          <p:nvPr/>
        </p:nvSpPr>
        <p:spPr>
          <a:xfrm>
            <a:off x="8503920" y="4251960"/>
            <a:ext cx="2468880" cy="347472"/>
          </a:xfrm>
          <a:prstGeom prst="rect">
            <a:avLst/>
          </a:prstGeom>
          <a:noFill/>
          <a:ln/>
        </p:spPr>
        <p:txBody>
          <a:bodyPr wrap="square" lIns="0" tIns="0" rIns="0" bIns="0" rtlCol="0" anchor="t">
            <a:normAutofit/>
          </a:bodyPr>
          <a:lstStyle/>
          <a:p>
            <a:pPr algn="l" indent="0" marL="0">
              <a:buNone/>
            </a:pPr>
            <a:r>
              <a:rPr lang="en-US" sz="1150" dirty="0">
                <a:solidFill>
                  <a:srgbClr val="152238"/>
                </a:solidFill>
                <a:latin typeface="Arial" pitchFamily="34" charset="0"/>
                <a:ea typeface="Arial" pitchFamily="34" charset="-122"/>
                <a:cs typeface="Arial" pitchFamily="34" charset="-120"/>
              </a:rPr>
              <a:t>MAX + AVG summarize customer cadence</a:t>
            </a:r>
            <a:endParaRPr lang="en-US" sz="1150" dirty="0"/>
          </a:p>
        </p:txBody>
      </p:sp>
      <p:sp>
        <p:nvSpPr>
          <p:cNvPr id="21" name="Shape 19"/>
          <p:cNvSpPr/>
          <p:nvPr/>
        </p:nvSpPr>
        <p:spPr>
          <a:xfrm>
            <a:off x="594360" y="5422392"/>
            <a:ext cx="3246120" cy="1051560"/>
          </a:xfrm>
          <a:prstGeom prst="roundRect">
            <a:avLst>
              <a:gd name="adj" fmla="val 13913"/>
            </a:avLst>
          </a:prstGeom>
          <a:solidFill>
            <a:srgbClr val="FFFFFF"/>
          </a:solidFill>
          <a:ln w="12700">
            <a:solidFill>
              <a:srgbClr val="FFFFFF">
                <a:alpha val="0"/>
              </a:srgbClr>
            </a:solidFill>
            <a:prstDash val="solid"/>
          </a:ln>
        </p:spPr>
      </p:sp>
      <p:sp>
        <p:nvSpPr>
          <p:cNvPr id="22" name="Shape 20"/>
          <p:cNvSpPr/>
          <p:nvPr/>
        </p:nvSpPr>
        <p:spPr>
          <a:xfrm>
            <a:off x="758952" y="5586984"/>
            <a:ext cx="201168" cy="201168"/>
          </a:xfrm>
          <a:prstGeom prst="ellipse">
            <a:avLst/>
          </a:prstGeom>
          <a:solidFill>
            <a:srgbClr val="F4A261"/>
          </a:solidFill>
          <a:ln w="12700">
            <a:solidFill>
              <a:srgbClr val="F4A261">
                <a:alpha val="0"/>
              </a:srgbClr>
            </a:solidFill>
            <a:prstDash val="solid"/>
          </a:ln>
        </p:spPr>
      </p:sp>
      <p:sp>
        <p:nvSpPr>
          <p:cNvPr id="23" name="Text 21"/>
          <p:cNvSpPr txBox="1"/>
          <p:nvPr/>
        </p:nvSpPr>
        <p:spPr>
          <a:xfrm>
            <a:off x="1051560" y="5559552"/>
            <a:ext cx="265176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241</a:t>
            </a:r>
            <a:endParaRPr lang="en-US" sz="2700" dirty="0"/>
          </a:p>
        </p:txBody>
      </p:sp>
      <p:sp>
        <p:nvSpPr>
          <p:cNvPr id="24" name="Text 22"/>
          <p:cNvSpPr txBox="1"/>
          <p:nvPr/>
        </p:nvSpPr>
        <p:spPr>
          <a:xfrm>
            <a:off x="1051560" y="6025896"/>
            <a:ext cx="260604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max days between orders</a:t>
            </a:r>
            <a:endParaRPr lang="en-US" sz="1050" dirty="0"/>
          </a:p>
        </p:txBody>
      </p:sp>
      <p:sp>
        <p:nvSpPr>
          <p:cNvPr id="25" name="Shape 23"/>
          <p:cNvSpPr/>
          <p:nvPr/>
        </p:nvSpPr>
        <p:spPr>
          <a:xfrm>
            <a:off x="3977640" y="5422392"/>
            <a:ext cx="3246120" cy="1051560"/>
          </a:xfrm>
          <a:prstGeom prst="roundRect">
            <a:avLst>
              <a:gd name="adj" fmla="val 13913"/>
            </a:avLst>
          </a:prstGeom>
          <a:solidFill>
            <a:srgbClr val="FFFFFF"/>
          </a:solidFill>
          <a:ln w="12700">
            <a:solidFill>
              <a:srgbClr val="FFFFFF">
                <a:alpha val="0"/>
              </a:srgbClr>
            </a:solidFill>
            <a:prstDash val="solid"/>
          </a:ln>
        </p:spPr>
      </p:sp>
      <p:sp>
        <p:nvSpPr>
          <p:cNvPr id="26" name="Shape 24"/>
          <p:cNvSpPr/>
          <p:nvPr/>
        </p:nvSpPr>
        <p:spPr>
          <a:xfrm>
            <a:off x="4142232" y="5586984"/>
            <a:ext cx="201168" cy="201168"/>
          </a:xfrm>
          <a:prstGeom prst="ellipse">
            <a:avLst/>
          </a:prstGeom>
          <a:solidFill>
            <a:srgbClr val="36C5D8"/>
          </a:solidFill>
          <a:ln w="12700">
            <a:solidFill>
              <a:srgbClr val="36C5D8">
                <a:alpha val="0"/>
              </a:srgbClr>
            </a:solidFill>
            <a:prstDash val="solid"/>
          </a:ln>
        </p:spPr>
      </p:sp>
      <p:sp>
        <p:nvSpPr>
          <p:cNvPr id="27" name="Text 25"/>
          <p:cNvSpPr txBox="1"/>
          <p:nvPr/>
        </p:nvSpPr>
        <p:spPr>
          <a:xfrm>
            <a:off x="4434840" y="5559552"/>
            <a:ext cx="265176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121.5</a:t>
            </a:r>
            <a:endParaRPr lang="en-US" sz="2700" dirty="0"/>
          </a:p>
        </p:txBody>
      </p:sp>
      <p:sp>
        <p:nvSpPr>
          <p:cNvPr id="28" name="Text 26"/>
          <p:cNvSpPr txBox="1"/>
          <p:nvPr/>
        </p:nvSpPr>
        <p:spPr>
          <a:xfrm>
            <a:off x="4434840" y="6025896"/>
            <a:ext cx="260604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average gap for that customer</a:t>
            </a:r>
            <a:endParaRPr lang="en-US" sz="1050" dirty="0"/>
          </a:p>
        </p:txBody>
      </p:sp>
      <p:sp>
        <p:nvSpPr>
          <p:cNvPr id="29" name="Shape 27"/>
          <p:cNvSpPr/>
          <p:nvPr/>
        </p:nvSpPr>
        <p:spPr>
          <a:xfrm>
            <a:off x="7360920" y="5422392"/>
            <a:ext cx="4023360" cy="1051560"/>
          </a:xfrm>
          <a:prstGeom prst="roundRect">
            <a:avLst>
              <a:gd name="adj" fmla="val 13913"/>
            </a:avLst>
          </a:prstGeom>
          <a:solidFill>
            <a:srgbClr val="FFFFFF"/>
          </a:solidFill>
          <a:ln w="12700">
            <a:solidFill>
              <a:srgbClr val="FFFFFF">
                <a:alpha val="0"/>
              </a:srgbClr>
            </a:solidFill>
            <a:prstDash val="solid"/>
          </a:ln>
        </p:spPr>
      </p:sp>
      <p:sp>
        <p:nvSpPr>
          <p:cNvPr id="30" name="Shape 28"/>
          <p:cNvSpPr/>
          <p:nvPr/>
        </p:nvSpPr>
        <p:spPr>
          <a:xfrm>
            <a:off x="7525512" y="5586984"/>
            <a:ext cx="201168" cy="201168"/>
          </a:xfrm>
          <a:prstGeom prst="ellipse">
            <a:avLst/>
          </a:prstGeom>
          <a:solidFill>
            <a:srgbClr val="008C95"/>
          </a:solidFill>
          <a:ln w="12700">
            <a:solidFill>
              <a:srgbClr val="008C95">
                <a:alpha val="0"/>
              </a:srgbClr>
            </a:solidFill>
            <a:prstDash val="solid"/>
          </a:ln>
        </p:spPr>
      </p:sp>
      <p:sp>
        <p:nvSpPr>
          <p:cNvPr id="31" name="Text 29"/>
          <p:cNvSpPr txBox="1"/>
          <p:nvPr/>
        </p:nvSpPr>
        <p:spPr>
          <a:xfrm>
            <a:off x="7818120" y="5559552"/>
            <a:ext cx="342900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45</a:t>
            </a:r>
            <a:endParaRPr lang="en-US" sz="2700" dirty="0"/>
          </a:p>
        </p:txBody>
      </p:sp>
      <p:sp>
        <p:nvSpPr>
          <p:cNvPr id="32" name="Text 30"/>
          <p:cNvSpPr txBox="1"/>
          <p:nvPr/>
        </p:nvSpPr>
        <p:spPr>
          <a:xfrm>
            <a:off x="7818120" y="6025896"/>
            <a:ext cx="338328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customer ID with the largest gap</a:t>
            </a:r>
            <a:endParaRPr lang="en-US" sz="1050" dirty="0"/>
          </a:p>
        </p:txBody>
      </p:sp>
      <p:sp>
        <p:nvSpPr>
          <p:cNvPr id="25" name="Slide Number Placeholder 0"/>
          <p:cNvSpPr>
            <a:spLocks noGrp="1"/>
          </p:cNvSpPr>
          <p:nvPr>
            <p:ph type="sldNum" sz="quarter" idx="4294967295"/>
          </p:nvPr>
        </p:nvSpPr>
        <p:spPr>
          <a:xfrm>
            <a:off x="11686032" y="646480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8595"/>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2560320" cy="228600"/>
          </a:xfrm>
          <a:prstGeom prst="rect">
            <a:avLst/>
          </a:prstGeom>
          <a:noFill/>
          <a:ln/>
        </p:spPr>
        <p:txBody>
          <a:bodyPr wrap="square" lIns="0" tIns="0" rIns="0" bIns="0" rtlCol="0" anchor="ctr">
            <a:normAutofit/>
          </a:bodyPr>
          <a:lstStyle/>
          <a:p>
            <a:pPr algn="l" indent="0" marL="0">
              <a:buNone/>
            </a:pPr>
            <a:r>
              <a:rPr lang="en-US" sz="900" b="1" spc="110" kern="0" dirty="0">
                <a:solidFill>
                  <a:srgbClr val="008C95"/>
                </a:solidFill>
                <a:latin typeface="Arial" pitchFamily="34" charset="0"/>
                <a:ea typeface="Arial" pitchFamily="34" charset="-122"/>
                <a:cs typeface="Arial" pitchFamily="34" charset="-120"/>
              </a:rPr>
              <a:t>05 • ANALYSIS 1</a:t>
            </a:r>
            <a:endParaRPr lang="en-US" sz="900" dirty="0"/>
          </a:p>
        </p:txBody>
      </p:sp>
      <p:sp>
        <p:nvSpPr>
          <p:cNvPr id="3" name="Text 1"/>
          <p:cNvSpPr txBox="1"/>
          <p:nvPr/>
        </p:nvSpPr>
        <p:spPr>
          <a:xfrm>
            <a:off x="548640" y="640080"/>
            <a:ext cx="10607040" cy="566928"/>
          </a:xfrm>
          <a:prstGeom prst="rect">
            <a:avLst/>
          </a:prstGeom>
          <a:noFill/>
          <a:ln/>
        </p:spPr>
        <p:txBody>
          <a:bodyPr wrap="square" lIns="0" tIns="0" rIns="0" bIns="0" rtlCol="0" anchor="ctr">
            <a:normAutofit/>
          </a:bodyPr>
          <a:lstStyle/>
          <a:p>
            <a:pPr algn="l" indent="0" marL="0">
              <a:buNone/>
            </a:pPr>
            <a:r>
              <a:rPr lang="en-US" sz="2900" b="1" dirty="0">
                <a:solidFill>
                  <a:srgbClr val="14213D"/>
                </a:solidFill>
                <a:latin typeface="Cambria" pitchFamily="34" charset="0"/>
                <a:ea typeface="Cambria" pitchFamily="34" charset="-122"/>
                <a:cs typeface="Cambria" pitchFamily="34" charset="-120"/>
              </a:rPr>
              <a:t>Purchase gaps are highly uneven</a:t>
            </a:r>
            <a:endParaRPr lang="en-US" sz="2900" dirty="0"/>
          </a:p>
        </p:txBody>
      </p:sp>
      <p:sp>
        <p:nvSpPr>
          <p:cNvPr id="4" name="Text 2"/>
          <p:cNvSpPr txBox="1"/>
          <p:nvPr/>
        </p:nvSpPr>
        <p:spPr>
          <a:xfrm>
            <a:off x="548640" y="1243584"/>
            <a:ext cx="10607040" cy="384048"/>
          </a:xfrm>
          <a:prstGeom prst="rect">
            <a:avLst/>
          </a:prstGeom>
          <a:noFill/>
          <a:ln/>
        </p:spPr>
        <p:txBody>
          <a:bodyPr wrap="square" lIns="0" tIns="0" rIns="0" bIns="0" rtlCol="0" anchor="ctr">
            <a:normAutofit/>
          </a:bodyPr>
          <a:lstStyle/>
          <a:p>
            <a:pPr algn="l" indent="0" marL="0">
              <a:buNone/>
            </a:pPr>
            <a:r>
              <a:rPr lang="en-US" sz="1250" dirty="0">
                <a:solidFill>
                  <a:srgbClr val="667085"/>
                </a:solidFill>
                <a:latin typeface="Arial" pitchFamily="34" charset="0"/>
                <a:ea typeface="Arial" pitchFamily="34" charset="-122"/>
                <a:cs typeface="Arial" pitchFamily="34" charset="-120"/>
              </a:rPr>
              <a:t>A small group of customers shows exceptionally long inactive periods.</a:t>
            </a:r>
            <a:endParaRPr lang="en-US" sz="1250" dirty="0"/>
          </a:p>
        </p:txBody>
      </p:sp>
      <p:graphicFrame>
        <p:nvGraphicFramePr>
          <p:cNvPr id="5" name="Chart 0" descr=""/>
          <p:cNvGraphicFramePr/>
          <p:nvPr/>
        </p:nvGraphicFramePr>
        <p:xfrm>
          <a:off x="640080" y="1783080"/>
          <a:ext cx="6858000" cy="40690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818120" y="1783080"/>
            <a:ext cx="3566160" cy="1234440"/>
          </a:xfrm>
          <a:prstGeom prst="roundRect">
            <a:avLst>
              <a:gd name="adj" fmla="val 11852"/>
            </a:avLst>
          </a:prstGeom>
          <a:solidFill>
            <a:srgbClr val="14213D"/>
          </a:solidFill>
          <a:ln w="12700">
            <a:solidFill>
              <a:srgbClr val="14213D">
                <a:alpha val="0"/>
              </a:srgbClr>
            </a:solidFill>
            <a:prstDash val="solid"/>
          </a:ln>
        </p:spPr>
        <p:txBody>
          <a:bodyPr/>
          <a:p/>
        </p:txBody>
      </p:sp>
      <p:sp>
        <p:nvSpPr>
          <p:cNvPr id="7" name="Text 4"/>
          <p:cNvSpPr txBox="1"/>
          <p:nvPr/>
        </p:nvSpPr>
        <p:spPr>
          <a:xfrm>
            <a:off x="8101584" y="1965960"/>
            <a:ext cx="2926080" cy="402336"/>
          </a:xfrm>
          <a:prstGeom prst="rect">
            <a:avLst/>
          </a:prstGeom>
          <a:noFill/>
          <a:ln/>
        </p:spPr>
        <p:txBody>
          <a:bodyPr wrap="square" lIns="0" tIns="0" rIns="0" bIns="0" rtlCol="0" anchor="ctr">
            <a:normAutofit/>
          </a:bodyPr>
          <a:lstStyle/>
          <a:p>
            <a:pPr algn="l" indent="0" marL="0">
              <a:buNone/>
            </a:pPr>
            <a:r>
              <a:rPr lang="en-US" sz="2800" b="1" dirty="0">
                <a:solidFill>
                  <a:srgbClr val="FFFFFF"/>
                </a:solidFill>
                <a:latin typeface="Cambria" pitchFamily="34" charset="0"/>
                <a:ea typeface="Cambria" pitchFamily="34" charset="-122"/>
                <a:cs typeface="Cambria" pitchFamily="34" charset="-120"/>
              </a:rPr>
              <a:t>241 DAYS</a:t>
            </a:r>
            <a:endParaRPr lang="en-US" sz="2800" dirty="0"/>
          </a:p>
        </p:txBody>
      </p:sp>
      <p:sp>
        <p:nvSpPr>
          <p:cNvPr id="8" name="Text 5"/>
          <p:cNvSpPr txBox="1"/>
          <p:nvPr/>
        </p:nvSpPr>
        <p:spPr>
          <a:xfrm>
            <a:off x="8101584" y="2423160"/>
            <a:ext cx="2926080" cy="228600"/>
          </a:xfrm>
          <a:prstGeom prst="rect">
            <a:avLst/>
          </a:prstGeom>
          <a:noFill/>
          <a:ln/>
        </p:spPr>
        <p:txBody>
          <a:bodyPr wrap="square" lIns="0" tIns="0" rIns="0" bIns="0" rtlCol="0" anchor="ctr">
            <a:normAutofit/>
          </a:bodyPr>
          <a:lstStyle/>
          <a:p>
            <a:pPr algn="l" indent="0" marL="0">
              <a:buNone/>
            </a:pPr>
            <a:r>
              <a:rPr lang="en-US" sz="1050" dirty="0">
                <a:solidFill>
                  <a:srgbClr val="C9D8E8"/>
                </a:solidFill>
                <a:latin typeface="Arial" pitchFamily="34" charset="0"/>
                <a:ea typeface="Arial" pitchFamily="34" charset="-122"/>
                <a:cs typeface="Arial" pitchFamily="34" charset="-120"/>
              </a:rPr>
              <a:t>largest observed purchase gap</a:t>
            </a:r>
            <a:endParaRPr lang="en-US" sz="1050" dirty="0"/>
          </a:p>
        </p:txBody>
      </p:sp>
      <p:sp>
        <p:nvSpPr>
          <p:cNvPr id="9" name="Shape 6"/>
          <p:cNvSpPr/>
          <p:nvPr/>
        </p:nvSpPr>
        <p:spPr>
          <a:xfrm>
            <a:off x="7818120" y="3246120"/>
            <a:ext cx="3566160" cy="2606040"/>
          </a:xfrm>
          <a:prstGeom prst="roundRect">
            <a:avLst>
              <a:gd name="adj" fmla="val 5614"/>
            </a:avLst>
          </a:prstGeom>
          <a:solidFill>
            <a:srgbClr val="FFFFFF"/>
          </a:solidFill>
          <a:ln w="12700">
            <a:solidFill>
              <a:srgbClr val="FFFFFF">
                <a:alpha val="0"/>
              </a:srgbClr>
            </a:solidFill>
            <a:prstDash val="solid"/>
          </a:ln>
        </p:spPr>
        <p:txBody>
          <a:bodyPr/>
          <a:p/>
        </p:txBody>
      </p:sp>
      <p:sp>
        <p:nvSpPr>
          <p:cNvPr id="10" name="Text 7"/>
          <p:cNvSpPr txBox="1"/>
          <p:nvPr/>
        </p:nvSpPr>
        <p:spPr>
          <a:xfrm>
            <a:off x="8101584" y="3493008"/>
            <a:ext cx="2880360" cy="201168"/>
          </a:xfrm>
          <a:prstGeom prst="rect">
            <a:avLst/>
          </a:prstGeom>
          <a:noFill/>
          <a:ln/>
        </p:spPr>
        <p:txBody>
          <a:bodyPr wrap="square" lIns="0" tIns="0" rIns="0" bIns="0" rtlCol="0" anchor="ctr">
            <a:normAutofit/>
          </a:bodyPr>
          <a:lstStyle/>
          <a:p>
            <a:pPr algn="l" indent="0" marL="0">
              <a:buNone/>
            </a:pPr>
            <a:r>
              <a:rPr lang="en-US" sz="1000" b="1" dirty="0">
                <a:solidFill>
                  <a:srgbClr val="008C95"/>
                </a:solidFill>
                <a:latin typeface="Arial" pitchFamily="34" charset="0"/>
                <a:ea typeface="Arial" pitchFamily="34" charset="-122"/>
                <a:cs typeface="Arial" pitchFamily="34" charset="-120"/>
              </a:rPr>
              <a:t>Interpretation</a:t>
            </a:r>
            <a:endParaRPr lang="en-US" sz="1000" dirty="0"/>
          </a:p>
        </p:txBody>
      </p:sp>
      <p:sp>
        <p:nvSpPr>
          <p:cNvPr id="11" name="Text 8"/>
          <p:cNvSpPr txBox="1"/>
          <p:nvPr/>
        </p:nvSpPr>
        <p:spPr>
          <a:xfrm>
            <a:off x="8101584" y="3822192"/>
            <a:ext cx="2880360" cy="1664208"/>
          </a:xfrm>
          <a:prstGeom prst="rect">
            <a:avLst/>
          </a:prstGeom>
          <a:noFill/>
          <a:ln/>
        </p:spPr>
        <p:txBody>
          <a:bodyPr wrap="square" lIns="0" tIns="0" rIns="0" bIns="0" rtlCol="0" anchor="t">
            <a:normAutofit/>
          </a:bodyPr>
          <a:lstStyle/>
          <a:p>
            <a:pPr algn="l" indent="0" marL="0">
              <a:buNone/>
            </a:pPr>
            <a:r>
              <a:rPr lang="en-US" sz="1200" dirty="0">
                <a:solidFill>
                  <a:srgbClr val="152238"/>
                </a:solidFill>
                <a:latin typeface="Arial" pitchFamily="34" charset="0"/>
                <a:ea typeface="Arial" pitchFamily="34" charset="-122"/>
                <a:cs typeface="Arial" pitchFamily="34" charset="-120"/>
              </a:rPr>
              <a:t>Long gaps may signal:</a:t>
            </a:r>
            <a:endParaRPr lang="en-US" sz="1200" dirty="0"/>
          </a:p>
          <a:p>
            <a:pPr algn="l" indent="0" marL="0">
              <a:buNone/>
            </a:pPr>
            <a:r>
              <a:rPr lang="en-US" sz="1200" dirty="0">
                <a:solidFill>
                  <a:srgbClr val="152238"/>
                </a:solidFill>
                <a:latin typeface="Arial" pitchFamily="34" charset="0"/>
                <a:ea typeface="Arial" pitchFamily="34" charset="-122"/>
                <a:cs typeface="Arial" pitchFamily="34" charset="-120"/>
              </a:rPr>
              <a:t>• lapsed customers</a:t>
            </a:r>
            <a:endParaRPr lang="en-US" sz="1200" dirty="0"/>
          </a:p>
          <a:p>
            <a:pPr algn="l" indent="0" marL="0">
              <a:buNone/>
            </a:pPr>
            <a:r>
              <a:rPr lang="en-US" sz="1200" dirty="0">
                <a:solidFill>
                  <a:srgbClr val="152238"/>
                </a:solidFill>
                <a:latin typeface="Arial" pitchFamily="34" charset="0"/>
                <a:ea typeface="Arial" pitchFamily="34" charset="-122"/>
                <a:cs typeface="Arial" pitchFamily="34" charset="-120"/>
              </a:rPr>
              <a:t>• seasonal buying</a:t>
            </a:r>
            <a:endParaRPr lang="en-US" sz="1200" dirty="0"/>
          </a:p>
          <a:p>
            <a:pPr algn="l" indent="0" marL="0">
              <a:buNone/>
            </a:pPr>
            <a:r>
              <a:rPr lang="en-US" sz="1200" dirty="0">
                <a:solidFill>
                  <a:srgbClr val="152238"/>
                </a:solidFill>
                <a:latin typeface="Arial" pitchFamily="34" charset="0"/>
                <a:ea typeface="Arial" pitchFamily="34" charset="-122"/>
                <a:cs typeface="Arial" pitchFamily="34" charset="-120"/>
              </a:rPr>
              <a:t>• unmet needs or weak re-engagement</a:t>
            </a:r>
            <a:endParaRPr lang="en-US" sz="1200" dirty="0"/>
          </a:p>
          <a:p>
            <a:pPr algn="l" indent="0" marL="0">
              <a:buNone/>
            </a:pPr>
            <a:endParaRPr lang="en-US" sz="1200" dirty="0"/>
          </a:p>
          <a:p>
            <a:pPr algn="l" indent="0" marL="0">
              <a:buNone/>
            </a:pPr>
            <a:r>
              <a:rPr lang="en-US" sz="1200" dirty="0">
                <a:solidFill>
                  <a:srgbClr val="152238"/>
                </a:solidFill>
                <a:latin typeface="Arial" pitchFamily="34" charset="0"/>
                <a:ea typeface="Arial" pitchFamily="34" charset="-122"/>
                <a:cs typeface="Arial" pitchFamily="34" charset="-120"/>
              </a:rPr>
              <a:t>Use the metric to prioritize retention analysis rather than treating every customer the same.</a:t>
            </a:r>
            <a:endParaRPr lang="en-US" sz="1200" dirty="0"/>
          </a:p>
        </p:txBody>
      </p:sp>
      <p:sp>
        <p:nvSpPr>
          <p:cNvPr id="12" name="Text 9"/>
          <p:cNvSpPr txBox="1"/>
          <p:nvPr/>
        </p:nvSpPr>
        <p:spPr>
          <a:xfrm>
            <a:off x="658368" y="5925312"/>
            <a:ext cx="6858000" cy="201168"/>
          </a:xfrm>
          <a:prstGeom prst="rect">
            <a:avLst/>
          </a:prstGeom>
          <a:noFill/>
          <a:ln/>
        </p:spPr>
        <p:txBody>
          <a:bodyPr wrap="square" lIns="0" tIns="0" rIns="0" bIns="0" rtlCol="0" anchor="ctr">
            <a:normAutofit/>
          </a:bodyPr>
          <a:lstStyle/>
          <a:p>
            <a:pPr algn="l" indent="0" marL="0">
              <a:buNone/>
            </a:pPr>
            <a:r>
              <a:rPr lang="en-US" sz="950" i="1" dirty="0">
                <a:solidFill>
                  <a:srgbClr val="667085"/>
                </a:solidFill>
                <a:latin typeface="Arial" pitchFamily="34" charset="0"/>
                <a:ea typeface="Arial" pitchFamily="34" charset="-122"/>
                <a:cs typeface="Arial" pitchFamily="34" charset="-120"/>
              </a:rPr>
              <a:t>Top 10 customers by maximum gap • days</a:t>
            </a:r>
            <a:endParaRPr lang="en-US" sz="950" dirty="0"/>
          </a:p>
        </p:txBody>
      </p:sp>
      <p:sp>
        <p:nvSpPr>
          <p:cNvPr id="25" name="Slide Number Placeholder 0"/>
          <p:cNvSpPr>
            <a:spLocks noGrp="1"/>
          </p:cNvSpPr>
          <p:nvPr>
            <p:ph type="sldNum" sz="quarter" idx="4294967295"/>
          </p:nvPr>
        </p:nvSpPr>
        <p:spPr>
          <a:xfrm>
            <a:off x="11686032" y="646480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8595"/>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2560320" cy="228600"/>
          </a:xfrm>
          <a:prstGeom prst="rect">
            <a:avLst/>
          </a:prstGeom>
          <a:noFill/>
          <a:ln/>
        </p:spPr>
        <p:txBody>
          <a:bodyPr wrap="square" lIns="0" tIns="0" rIns="0" bIns="0" rtlCol="0" anchor="ctr">
            <a:normAutofit/>
          </a:bodyPr>
          <a:lstStyle/>
          <a:p>
            <a:pPr algn="l" indent="0" marL="0">
              <a:buNone/>
            </a:pPr>
            <a:r>
              <a:rPr lang="en-US" sz="900" b="1" spc="110" kern="0" dirty="0">
                <a:solidFill>
                  <a:srgbClr val="008C95"/>
                </a:solidFill>
                <a:latin typeface="Arial" pitchFamily="34" charset="0"/>
                <a:ea typeface="Arial" pitchFamily="34" charset="-122"/>
                <a:cs typeface="Arial" pitchFamily="34" charset="-120"/>
              </a:rPr>
              <a:t>06 • ANALYSIS 2</a:t>
            </a:r>
            <a:endParaRPr lang="en-US" sz="900" dirty="0"/>
          </a:p>
        </p:txBody>
      </p:sp>
      <p:sp>
        <p:nvSpPr>
          <p:cNvPr id="3" name="Text 1"/>
          <p:cNvSpPr txBox="1"/>
          <p:nvPr/>
        </p:nvSpPr>
        <p:spPr>
          <a:xfrm>
            <a:off x="548640" y="640080"/>
            <a:ext cx="10607040" cy="566928"/>
          </a:xfrm>
          <a:prstGeom prst="rect">
            <a:avLst/>
          </a:prstGeom>
          <a:noFill/>
          <a:ln/>
        </p:spPr>
        <p:txBody>
          <a:bodyPr wrap="square" lIns="0" tIns="0" rIns="0" bIns="0" rtlCol="0" anchor="ctr">
            <a:normAutofit/>
          </a:bodyPr>
          <a:lstStyle/>
          <a:p>
            <a:pPr algn="l" indent="0" marL="0">
              <a:buNone/>
            </a:pPr>
            <a:r>
              <a:rPr lang="en-US" sz="2900" b="1" dirty="0">
                <a:solidFill>
                  <a:srgbClr val="14213D"/>
                </a:solidFill>
                <a:latin typeface="Cambria" pitchFamily="34" charset="0"/>
                <a:ea typeface="Cambria" pitchFamily="34" charset="-122"/>
                <a:cs typeface="Cambria" pitchFamily="34" charset="-120"/>
              </a:rPr>
              <a:t>High sales + low inventory</a:t>
            </a:r>
            <a:endParaRPr lang="en-US" sz="2900" dirty="0"/>
          </a:p>
        </p:txBody>
      </p:sp>
      <p:sp>
        <p:nvSpPr>
          <p:cNvPr id="4" name="Text 2"/>
          <p:cNvSpPr txBox="1"/>
          <p:nvPr/>
        </p:nvSpPr>
        <p:spPr>
          <a:xfrm>
            <a:off x="548640" y="1243584"/>
            <a:ext cx="10607040" cy="384048"/>
          </a:xfrm>
          <a:prstGeom prst="rect">
            <a:avLst/>
          </a:prstGeom>
          <a:noFill/>
          <a:ln/>
        </p:spPr>
        <p:txBody>
          <a:bodyPr wrap="square" lIns="0" tIns="0" rIns="0" bIns="0" rtlCol="0" anchor="ctr">
            <a:normAutofit/>
          </a:bodyPr>
          <a:lstStyle/>
          <a:p>
            <a:pPr algn="l" indent="0" marL="0">
              <a:buNone/>
            </a:pPr>
            <a:r>
              <a:rPr lang="en-US" sz="1250" dirty="0">
                <a:solidFill>
                  <a:srgbClr val="667085"/>
                </a:solidFill>
                <a:latin typeface="Arial" pitchFamily="34" charset="0"/>
                <a:ea typeface="Arial" pitchFamily="34" charset="-122"/>
                <a:cs typeface="Arial" pitchFamily="34" charset="-120"/>
              </a:rPr>
              <a:t>Identify products selling above average while carrying below-average inventory.</a:t>
            </a:r>
            <a:endParaRPr lang="en-US" sz="1250" dirty="0"/>
          </a:p>
        </p:txBody>
      </p:sp>
      <p:sp>
        <p:nvSpPr>
          <p:cNvPr id="5" name="Shape 3"/>
          <p:cNvSpPr/>
          <p:nvPr/>
        </p:nvSpPr>
        <p:spPr>
          <a:xfrm>
            <a:off x="594360" y="1755648"/>
            <a:ext cx="6903720" cy="3657600"/>
          </a:xfrm>
          <a:prstGeom prst="roundRect">
            <a:avLst>
              <a:gd name="adj" fmla="val 3750"/>
            </a:avLst>
          </a:prstGeom>
          <a:solidFill>
            <a:srgbClr val="14213D"/>
          </a:solidFill>
          <a:ln w="12700">
            <a:solidFill>
              <a:srgbClr val="14213D">
                <a:alpha val="0"/>
              </a:srgbClr>
            </a:solidFill>
            <a:prstDash val="solid"/>
          </a:ln>
        </p:spPr>
        <p:txBody>
          <a:bodyPr/>
          <a:p/>
        </p:txBody>
      </p:sp>
      <p:sp>
        <p:nvSpPr>
          <p:cNvPr id="6" name="Text 4"/>
          <p:cNvSpPr txBox="1"/>
          <p:nvPr/>
        </p:nvSpPr>
        <p:spPr>
          <a:xfrm>
            <a:off x="758952" y="1901952"/>
            <a:ext cx="6574536" cy="3401568"/>
          </a:xfrm>
          <a:prstGeom prst="rect">
            <a:avLst/>
          </a:prstGeom>
          <a:noFill/>
          <a:ln/>
        </p:spPr>
        <p:txBody>
          <a:bodyPr wrap="square" lIns="0" tIns="0" rIns="0" bIns="0" rtlCol="0" anchor="t">
            <a:normAutofit/>
          </a:bodyPr>
          <a:lstStyle/>
          <a:p>
            <a:pPr algn="l" indent="0" marL="0">
              <a:buNone/>
            </a:pPr>
            <a:r>
              <a:rPr lang="en-US" sz="970" dirty="0">
                <a:solidFill>
                  <a:srgbClr val="EAF0F7"/>
                </a:solidFill>
                <a:latin typeface="Courier New" pitchFamily="34" charset="0"/>
                <a:ea typeface="Courier New" pitchFamily="34" charset="-122"/>
                <a:cs typeface="Courier New" pitchFamily="34" charset="-120"/>
              </a:rPr>
              <a:t>WITH Product_Sales AS (</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SELECT Product_Id, SUM(Quantity) AS Units_Sold,</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SUM(Unit_Price * Quantity) AS Revenue</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FROM order_items GROUP BY Product_Id</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Product_Inventory AS (</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SELECT Product_Id, SUM(Product_Inventory) AS Inventory_Units</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FROM inventory GROUP BY Product_Id</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Product_Analytics AS (</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SELECT p.Product_Id, p.Product_Name,</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ps.Units_Sold, ps.Revenue,</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COALESCE(pi.Inventory_Units,0) AS Inventory_Units</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FROM products p</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INNER JOIN Product_Sales ps ON p.Product_Id=ps.Product_Id</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LEFT JOIN Product_Inventory pi ON p.Product_Id=pi.Product_Id</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Thresholds AS (</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SELECT AVG(Units_Sold) AS Avg_Units_Sold,</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AVG(Inventory_Units) AS Avg_Inventory</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FROM Product_Analytics</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SELECT ... FROM Product_Analytics pa CROSS JOIN Thresholds t</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WHERE pa.Units_Sold &gt; t.Avg_Units_Sold</a:t>
            </a:r>
            <a:endParaRPr lang="en-US" sz="970" dirty="0"/>
          </a:p>
          <a:p>
            <a:pPr algn="l" indent="0" marL="0">
              <a:buNone/>
            </a:pPr>
            <a:r>
              <a:rPr lang="en-US" sz="970" dirty="0">
                <a:solidFill>
                  <a:srgbClr val="EAF0F7"/>
                </a:solidFill>
                <a:latin typeface="Courier New" pitchFamily="34" charset="0"/>
                <a:ea typeface="Courier New" pitchFamily="34" charset="-122"/>
                <a:cs typeface="Courier New" pitchFamily="34" charset="-120"/>
              </a:rPr>
              <a:t>  AND pa.Inventory_Units &lt; t.Avg_Inventory;</a:t>
            </a:r>
            <a:endParaRPr lang="en-US" sz="970" dirty="0"/>
          </a:p>
        </p:txBody>
      </p:sp>
      <p:sp>
        <p:nvSpPr>
          <p:cNvPr id="7" name="Shape 5"/>
          <p:cNvSpPr/>
          <p:nvPr/>
        </p:nvSpPr>
        <p:spPr>
          <a:xfrm>
            <a:off x="7818120" y="1755648"/>
            <a:ext cx="3566160" cy="3657600"/>
          </a:xfrm>
          <a:prstGeom prst="roundRect">
            <a:avLst>
              <a:gd name="adj" fmla="val 4103"/>
            </a:avLst>
          </a:prstGeom>
          <a:solidFill>
            <a:srgbClr val="FFFFFF"/>
          </a:solidFill>
          <a:ln w="12700">
            <a:solidFill>
              <a:srgbClr val="FFFFFF">
                <a:alpha val="0"/>
              </a:srgbClr>
            </a:solidFill>
            <a:prstDash val="solid"/>
          </a:ln>
        </p:spPr>
        <p:txBody>
          <a:bodyPr/>
          <a:p/>
        </p:txBody>
      </p:sp>
      <p:sp>
        <p:nvSpPr>
          <p:cNvPr id="8" name="Text 6"/>
          <p:cNvSpPr txBox="1"/>
          <p:nvPr/>
        </p:nvSpPr>
        <p:spPr>
          <a:xfrm>
            <a:off x="8092440" y="1993392"/>
            <a:ext cx="2926080" cy="182880"/>
          </a:xfrm>
          <a:prstGeom prst="rect">
            <a:avLst/>
          </a:prstGeom>
          <a:noFill/>
          <a:ln/>
        </p:spPr>
        <p:txBody>
          <a:bodyPr wrap="square" lIns="0" tIns="0" rIns="0" bIns="0" rtlCol="0" anchor="ctr">
            <a:normAutofit/>
          </a:bodyPr>
          <a:lstStyle/>
          <a:p>
            <a:pPr algn="l" indent="0" marL="0">
              <a:buNone/>
            </a:pPr>
            <a:r>
              <a:rPr lang="en-US" sz="1000" b="1" dirty="0">
                <a:solidFill>
                  <a:srgbClr val="008C95"/>
                </a:solidFill>
                <a:latin typeface="Arial" pitchFamily="34" charset="0"/>
                <a:ea typeface="Arial" pitchFamily="34" charset="-122"/>
                <a:cs typeface="Arial" pitchFamily="34" charset="-120"/>
              </a:rPr>
              <a:t>THRESHOLD LOGIC</a:t>
            </a:r>
            <a:endParaRPr lang="en-US" sz="1000" dirty="0"/>
          </a:p>
        </p:txBody>
      </p:sp>
      <p:sp>
        <p:nvSpPr>
          <p:cNvPr id="9" name="Shape 7"/>
          <p:cNvSpPr/>
          <p:nvPr/>
        </p:nvSpPr>
        <p:spPr>
          <a:xfrm>
            <a:off x="8028432" y="2432304"/>
            <a:ext cx="3090672" cy="713232"/>
          </a:xfrm>
          <a:prstGeom prst="roundRect">
            <a:avLst>
              <a:gd name="adj" fmla="val 20513"/>
            </a:avLst>
          </a:prstGeom>
          <a:solidFill>
            <a:srgbClr val="FFFFFF"/>
          </a:solidFill>
          <a:ln w="12700">
            <a:solidFill>
              <a:srgbClr val="FFFFFF">
                <a:alpha val="0"/>
              </a:srgbClr>
            </a:solidFill>
            <a:prstDash val="solid"/>
          </a:ln>
        </p:spPr>
        <p:txBody>
          <a:bodyPr/>
          <a:p/>
        </p:txBody>
      </p:sp>
      <p:sp>
        <p:nvSpPr>
          <p:cNvPr id="10" name="Shape 8"/>
          <p:cNvSpPr/>
          <p:nvPr/>
        </p:nvSpPr>
        <p:spPr>
          <a:xfrm>
            <a:off x="8211312" y="2615184"/>
            <a:ext cx="347472" cy="347472"/>
          </a:xfrm>
          <a:prstGeom prst="ellipse">
            <a:avLst/>
          </a:prstGeom>
          <a:solidFill>
            <a:srgbClr val="008C95"/>
          </a:solidFill>
          <a:ln w="12700">
            <a:solidFill>
              <a:srgbClr val="008C95">
                <a:alpha val="0"/>
              </a:srgbClr>
            </a:solidFill>
            <a:prstDash val="solid"/>
          </a:ln>
        </p:spPr>
        <p:txBody>
          <a:bodyPr/>
          <a:p/>
        </p:txBody>
      </p:sp>
      <p:sp>
        <p:nvSpPr>
          <p:cNvPr id="11" name="Text 9"/>
          <p:cNvSpPr txBox="1"/>
          <p:nvPr/>
        </p:nvSpPr>
        <p:spPr>
          <a:xfrm>
            <a:off x="8211312" y="2633472"/>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2" name="Text 10"/>
          <p:cNvSpPr txBox="1"/>
          <p:nvPr/>
        </p:nvSpPr>
        <p:spPr>
          <a:xfrm>
            <a:off x="8668512" y="2587752"/>
            <a:ext cx="2267712"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Sales threshold</a:t>
            </a:r>
            <a:endParaRPr lang="en-US" sz="1600" dirty="0"/>
          </a:p>
        </p:txBody>
      </p:sp>
      <p:sp>
        <p:nvSpPr>
          <p:cNvPr id="13" name="Text 11"/>
          <p:cNvSpPr txBox="1"/>
          <p:nvPr/>
        </p:nvSpPr>
        <p:spPr>
          <a:xfrm>
            <a:off x="8668512" y="2935224"/>
            <a:ext cx="2267712" cy="100584"/>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AVG(Units_Sold) defines the high-sales threshold.</a:t>
            </a:r>
            <a:endParaRPr lang="en-US" sz="1150" dirty="0"/>
          </a:p>
        </p:txBody>
      </p:sp>
      <p:sp>
        <p:nvSpPr>
          <p:cNvPr id="14" name="Shape 12"/>
          <p:cNvSpPr/>
          <p:nvPr/>
        </p:nvSpPr>
        <p:spPr>
          <a:xfrm>
            <a:off x="8028432" y="3310128"/>
            <a:ext cx="3090672" cy="713232"/>
          </a:xfrm>
          <a:prstGeom prst="roundRect">
            <a:avLst>
              <a:gd name="adj" fmla="val 20513"/>
            </a:avLst>
          </a:prstGeom>
          <a:solidFill>
            <a:srgbClr val="FFFFFF"/>
          </a:solidFill>
          <a:ln w="12700">
            <a:solidFill>
              <a:srgbClr val="FFFFFF">
                <a:alpha val="0"/>
              </a:srgbClr>
            </a:solidFill>
            <a:prstDash val="solid"/>
          </a:ln>
        </p:spPr>
        <p:txBody>
          <a:bodyPr/>
          <a:p/>
        </p:txBody>
      </p:sp>
      <p:sp>
        <p:nvSpPr>
          <p:cNvPr id="15" name="Shape 13"/>
          <p:cNvSpPr/>
          <p:nvPr/>
        </p:nvSpPr>
        <p:spPr>
          <a:xfrm>
            <a:off x="8211312" y="3493008"/>
            <a:ext cx="347472" cy="347472"/>
          </a:xfrm>
          <a:prstGeom prst="ellipse">
            <a:avLst/>
          </a:prstGeom>
          <a:solidFill>
            <a:srgbClr val="F4A261"/>
          </a:solidFill>
          <a:ln w="12700">
            <a:solidFill>
              <a:srgbClr val="F4A261">
                <a:alpha val="0"/>
              </a:srgbClr>
            </a:solidFill>
            <a:prstDash val="solid"/>
          </a:ln>
        </p:spPr>
        <p:txBody>
          <a:bodyPr/>
          <a:p/>
        </p:txBody>
      </p:sp>
      <p:sp>
        <p:nvSpPr>
          <p:cNvPr id="16" name="Text 14"/>
          <p:cNvSpPr txBox="1"/>
          <p:nvPr/>
        </p:nvSpPr>
        <p:spPr>
          <a:xfrm>
            <a:off x="8211312" y="3511296"/>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7" name="Text 15"/>
          <p:cNvSpPr txBox="1"/>
          <p:nvPr/>
        </p:nvSpPr>
        <p:spPr>
          <a:xfrm>
            <a:off x="8668512" y="3465576"/>
            <a:ext cx="2267712"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Inventory threshold</a:t>
            </a:r>
            <a:endParaRPr lang="en-US" sz="1600" dirty="0"/>
          </a:p>
        </p:txBody>
      </p:sp>
      <p:sp>
        <p:nvSpPr>
          <p:cNvPr id="18" name="Text 16"/>
          <p:cNvSpPr txBox="1"/>
          <p:nvPr/>
        </p:nvSpPr>
        <p:spPr>
          <a:xfrm>
            <a:off x="8668512" y="3813048"/>
            <a:ext cx="2267712" cy="100584"/>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AVG(Inventory_Units) defines the low-stock threshold.</a:t>
            </a:r>
            <a:endParaRPr lang="en-US" sz="1150" dirty="0"/>
          </a:p>
        </p:txBody>
      </p:sp>
      <p:sp>
        <p:nvSpPr>
          <p:cNvPr id="19" name="Shape 17"/>
          <p:cNvSpPr/>
          <p:nvPr/>
        </p:nvSpPr>
        <p:spPr>
          <a:xfrm>
            <a:off x="8028432" y="4187952"/>
            <a:ext cx="3090672" cy="713232"/>
          </a:xfrm>
          <a:prstGeom prst="roundRect">
            <a:avLst>
              <a:gd name="adj" fmla="val 20513"/>
            </a:avLst>
          </a:prstGeom>
          <a:solidFill>
            <a:srgbClr val="FFFFFF"/>
          </a:solidFill>
          <a:ln w="12700">
            <a:solidFill>
              <a:srgbClr val="FFFFFF">
                <a:alpha val="0"/>
              </a:srgbClr>
            </a:solidFill>
            <a:prstDash val="solid"/>
          </a:ln>
        </p:spPr>
        <p:txBody>
          <a:bodyPr/>
          <a:p/>
        </p:txBody>
      </p:sp>
      <p:sp>
        <p:nvSpPr>
          <p:cNvPr id="20" name="Shape 18"/>
          <p:cNvSpPr/>
          <p:nvPr/>
        </p:nvSpPr>
        <p:spPr>
          <a:xfrm>
            <a:off x="8211312" y="4370832"/>
            <a:ext cx="347472" cy="347472"/>
          </a:xfrm>
          <a:prstGeom prst="ellipse">
            <a:avLst/>
          </a:prstGeom>
          <a:solidFill>
            <a:srgbClr val="36C5D8"/>
          </a:solidFill>
          <a:ln w="12700">
            <a:solidFill>
              <a:srgbClr val="36C5D8">
                <a:alpha val="0"/>
              </a:srgbClr>
            </a:solidFill>
            <a:prstDash val="solid"/>
          </a:ln>
        </p:spPr>
        <p:txBody>
          <a:bodyPr/>
          <a:p/>
        </p:txBody>
      </p:sp>
      <p:sp>
        <p:nvSpPr>
          <p:cNvPr id="21" name="Text 19"/>
          <p:cNvSpPr txBox="1"/>
          <p:nvPr/>
        </p:nvSpPr>
        <p:spPr>
          <a:xfrm>
            <a:off x="8211312" y="4389120"/>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2" name="Text 20"/>
          <p:cNvSpPr txBox="1"/>
          <p:nvPr/>
        </p:nvSpPr>
        <p:spPr>
          <a:xfrm>
            <a:off x="8668512" y="4343400"/>
            <a:ext cx="2267712"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Missing inventory</a:t>
            </a:r>
            <a:endParaRPr lang="en-US" sz="1600" dirty="0"/>
          </a:p>
        </p:txBody>
      </p:sp>
      <p:sp>
        <p:nvSpPr>
          <p:cNvPr id="23" name="Text 21"/>
          <p:cNvSpPr txBox="1"/>
          <p:nvPr/>
        </p:nvSpPr>
        <p:spPr>
          <a:xfrm>
            <a:off x="8668512" y="4690872"/>
            <a:ext cx="2267712" cy="100584"/>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COALESCE treats missing inventory as zero.</a:t>
            </a:r>
            <a:endParaRPr lang="en-US" sz="1150" dirty="0"/>
          </a:p>
        </p:txBody>
      </p:sp>
      <p:sp>
        <p:nvSpPr>
          <p:cNvPr id="24" name="Text 22"/>
          <p:cNvSpPr txBox="1"/>
          <p:nvPr/>
        </p:nvSpPr>
        <p:spPr>
          <a:xfrm>
            <a:off x="8028432" y="5230368"/>
            <a:ext cx="2999232" cy="256032"/>
          </a:xfrm>
          <a:prstGeom prst="rect">
            <a:avLst/>
          </a:prstGeom>
          <a:noFill/>
          <a:ln/>
        </p:spPr>
        <p:txBody>
          <a:bodyPr wrap="square" lIns="0" tIns="0" rIns="0" bIns="0" rtlCol="0" anchor="ctr">
            <a:normAutofit/>
          </a:bodyPr>
          <a:lstStyle/>
          <a:p>
            <a:pPr algn="ctr" indent="0" marL="0">
              <a:buNone/>
            </a:pPr>
            <a:r>
              <a:rPr lang="en-US" sz="1200" b="1" dirty="0">
                <a:solidFill>
                  <a:srgbClr val="14213D"/>
                </a:solidFill>
                <a:latin typeface="Arial" pitchFamily="34" charset="0"/>
                <a:ea typeface="Arial" pitchFamily="34" charset="-122"/>
                <a:cs typeface="Arial" pitchFamily="34" charset="-120"/>
              </a:rPr>
              <a:t>Result: 12 products meet both conditions.</a:t>
            </a:r>
            <a:endParaRPr lang="en-US" sz="1200" dirty="0"/>
          </a:p>
        </p:txBody>
      </p:sp>
      <p:sp>
        <p:nvSpPr>
          <p:cNvPr id="25" name="Shape 23"/>
          <p:cNvSpPr/>
          <p:nvPr/>
        </p:nvSpPr>
        <p:spPr>
          <a:xfrm>
            <a:off x="594360" y="5596128"/>
            <a:ext cx="3246120" cy="1051560"/>
          </a:xfrm>
          <a:prstGeom prst="roundRect">
            <a:avLst>
              <a:gd name="adj" fmla="val 13913"/>
            </a:avLst>
          </a:prstGeom>
          <a:solidFill>
            <a:srgbClr val="FFFFFF"/>
          </a:solidFill>
          <a:ln w="12700">
            <a:solidFill>
              <a:srgbClr val="FFFFFF">
                <a:alpha val="0"/>
              </a:srgbClr>
            </a:solidFill>
            <a:prstDash val="solid"/>
          </a:ln>
        </p:spPr>
      </p:sp>
      <p:sp>
        <p:nvSpPr>
          <p:cNvPr id="26" name="Shape 24"/>
          <p:cNvSpPr/>
          <p:nvPr/>
        </p:nvSpPr>
        <p:spPr>
          <a:xfrm>
            <a:off x="758952" y="5760720"/>
            <a:ext cx="201168" cy="201168"/>
          </a:xfrm>
          <a:prstGeom prst="ellipse">
            <a:avLst/>
          </a:prstGeom>
          <a:solidFill>
            <a:srgbClr val="008C95"/>
          </a:solidFill>
          <a:ln w="12700">
            <a:solidFill>
              <a:srgbClr val="008C95">
                <a:alpha val="0"/>
              </a:srgbClr>
            </a:solidFill>
            <a:prstDash val="solid"/>
          </a:ln>
        </p:spPr>
      </p:sp>
      <p:sp>
        <p:nvSpPr>
          <p:cNvPr id="27" name="Text 25"/>
          <p:cNvSpPr txBox="1"/>
          <p:nvPr/>
        </p:nvSpPr>
        <p:spPr>
          <a:xfrm>
            <a:off x="1051560" y="5733288"/>
            <a:ext cx="265176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39</a:t>
            </a:r>
            <a:endParaRPr lang="en-US" sz="2700" dirty="0"/>
          </a:p>
        </p:txBody>
      </p:sp>
      <p:sp>
        <p:nvSpPr>
          <p:cNvPr id="28" name="Text 26"/>
          <p:cNvSpPr txBox="1"/>
          <p:nvPr/>
        </p:nvSpPr>
        <p:spPr>
          <a:xfrm>
            <a:off x="1051560" y="6199632"/>
            <a:ext cx="260604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units sold — Boy’s Coat (Brown)</a:t>
            </a:r>
            <a:endParaRPr lang="en-US" sz="1050" dirty="0"/>
          </a:p>
        </p:txBody>
      </p:sp>
      <p:sp>
        <p:nvSpPr>
          <p:cNvPr id="29" name="Shape 27"/>
          <p:cNvSpPr/>
          <p:nvPr/>
        </p:nvSpPr>
        <p:spPr>
          <a:xfrm>
            <a:off x="3977640" y="5596128"/>
            <a:ext cx="3246120" cy="1051560"/>
          </a:xfrm>
          <a:prstGeom prst="roundRect">
            <a:avLst>
              <a:gd name="adj" fmla="val 13913"/>
            </a:avLst>
          </a:prstGeom>
          <a:solidFill>
            <a:srgbClr val="FFFFFF"/>
          </a:solidFill>
          <a:ln w="12700">
            <a:solidFill>
              <a:srgbClr val="FFFFFF">
                <a:alpha val="0"/>
              </a:srgbClr>
            </a:solidFill>
            <a:prstDash val="solid"/>
          </a:ln>
        </p:spPr>
      </p:sp>
      <p:sp>
        <p:nvSpPr>
          <p:cNvPr id="30" name="Shape 28"/>
          <p:cNvSpPr/>
          <p:nvPr/>
        </p:nvSpPr>
        <p:spPr>
          <a:xfrm>
            <a:off x="4142232" y="5760720"/>
            <a:ext cx="201168" cy="201168"/>
          </a:xfrm>
          <a:prstGeom prst="ellipse">
            <a:avLst/>
          </a:prstGeom>
          <a:solidFill>
            <a:srgbClr val="D95D39"/>
          </a:solidFill>
          <a:ln w="12700">
            <a:solidFill>
              <a:srgbClr val="D95D39">
                <a:alpha val="0"/>
              </a:srgbClr>
            </a:solidFill>
            <a:prstDash val="solid"/>
          </a:ln>
        </p:spPr>
      </p:sp>
      <p:sp>
        <p:nvSpPr>
          <p:cNvPr id="31" name="Text 29"/>
          <p:cNvSpPr txBox="1"/>
          <p:nvPr/>
        </p:nvSpPr>
        <p:spPr>
          <a:xfrm>
            <a:off x="4434840" y="5733288"/>
            <a:ext cx="265176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0</a:t>
            </a:r>
            <a:endParaRPr lang="en-US" sz="2700" dirty="0"/>
          </a:p>
        </p:txBody>
      </p:sp>
      <p:sp>
        <p:nvSpPr>
          <p:cNvPr id="32" name="Text 30"/>
          <p:cNvSpPr txBox="1"/>
          <p:nvPr/>
        </p:nvSpPr>
        <p:spPr>
          <a:xfrm>
            <a:off x="4434840" y="6199632"/>
            <a:ext cx="260604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inventory — Women’s Skirt (Green)</a:t>
            </a:r>
            <a:endParaRPr lang="en-US" sz="1050" dirty="0"/>
          </a:p>
        </p:txBody>
      </p:sp>
      <p:sp>
        <p:nvSpPr>
          <p:cNvPr id="33" name="Shape 31"/>
          <p:cNvSpPr/>
          <p:nvPr/>
        </p:nvSpPr>
        <p:spPr>
          <a:xfrm>
            <a:off x="7360920" y="5596128"/>
            <a:ext cx="4023360" cy="1051560"/>
          </a:xfrm>
          <a:prstGeom prst="roundRect">
            <a:avLst>
              <a:gd name="adj" fmla="val 13913"/>
            </a:avLst>
          </a:prstGeom>
          <a:solidFill>
            <a:srgbClr val="FFFFFF"/>
          </a:solidFill>
          <a:ln w="12700">
            <a:solidFill>
              <a:srgbClr val="FFFFFF">
                <a:alpha val="0"/>
              </a:srgbClr>
            </a:solidFill>
            <a:prstDash val="solid"/>
          </a:ln>
        </p:spPr>
      </p:sp>
      <p:sp>
        <p:nvSpPr>
          <p:cNvPr id="34" name="Shape 32"/>
          <p:cNvSpPr/>
          <p:nvPr/>
        </p:nvSpPr>
        <p:spPr>
          <a:xfrm>
            <a:off x="7525512" y="5760720"/>
            <a:ext cx="201168" cy="201168"/>
          </a:xfrm>
          <a:prstGeom prst="ellipse">
            <a:avLst/>
          </a:prstGeom>
          <a:solidFill>
            <a:srgbClr val="F4A261"/>
          </a:solidFill>
          <a:ln w="12700">
            <a:solidFill>
              <a:srgbClr val="F4A261">
                <a:alpha val="0"/>
              </a:srgbClr>
            </a:solidFill>
            <a:prstDash val="solid"/>
          </a:ln>
        </p:spPr>
      </p:sp>
      <p:sp>
        <p:nvSpPr>
          <p:cNvPr id="35" name="Text 33"/>
          <p:cNvSpPr txBox="1"/>
          <p:nvPr/>
        </p:nvSpPr>
        <p:spPr>
          <a:xfrm>
            <a:off x="7818120" y="5733288"/>
            <a:ext cx="342900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1,121.25</a:t>
            </a:r>
            <a:endParaRPr lang="en-US" sz="2700" dirty="0"/>
          </a:p>
        </p:txBody>
      </p:sp>
      <p:sp>
        <p:nvSpPr>
          <p:cNvPr id="36" name="Text 34"/>
          <p:cNvSpPr txBox="1"/>
          <p:nvPr/>
        </p:nvSpPr>
        <p:spPr>
          <a:xfrm>
            <a:off x="7818120" y="6199632"/>
            <a:ext cx="338328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revenue — Girl’s Hoodie (White)</a:t>
            </a:r>
            <a:endParaRPr lang="en-US" sz="1050" dirty="0"/>
          </a:p>
        </p:txBody>
      </p:sp>
      <p:sp>
        <p:nvSpPr>
          <p:cNvPr id="25" name="Slide Number Placeholder 0"/>
          <p:cNvSpPr>
            <a:spLocks noGrp="1"/>
          </p:cNvSpPr>
          <p:nvPr>
            <p:ph type="sldNum" sz="quarter" idx="4294967295"/>
          </p:nvPr>
        </p:nvSpPr>
        <p:spPr>
          <a:xfrm>
            <a:off x="11686032" y="646480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8595"/>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2560320" cy="228600"/>
          </a:xfrm>
          <a:prstGeom prst="rect">
            <a:avLst/>
          </a:prstGeom>
          <a:noFill/>
          <a:ln/>
        </p:spPr>
        <p:txBody>
          <a:bodyPr wrap="square" lIns="0" tIns="0" rIns="0" bIns="0" rtlCol="0" anchor="ctr">
            <a:normAutofit/>
          </a:bodyPr>
          <a:lstStyle/>
          <a:p>
            <a:pPr algn="l" indent="0" marL="0">
              <a:buNone/>
            </a:pPr>
            <a:r>
              <a:rPr lang="en-US" sz="900" b="1" spc="110" kern="0" dirty="0">
                <a:solidFill>
                  <a:srgbClr val="008C95"/>
                </a:solidFill>
                <a:latin typeface="Arial" pitchFamily="34" charset="0"/>
                <a:ea typeface="Arial" pitchFamily="34" charset="-122"/>
                <a:cs typeface="Arial" pitchFamily="34" charset="-120"/>
              </a:rPr>
              <a:t>07 • ANALYSIS 2</a:t>
            </a:r>
            <a:endParaRPr lang="en-US" sz="900" dirty="0"/>
          </a:p>
        </p:txBody>
      </p:sp>
      <p:sp>
        <p:nvSpPr>
          <p:cNvPr id="3" name="Text 1"/>
          <p:cNvSpPr txBox="1"/>
          <p:nvPr/>
        </p:nvSpPr>
        <p:spPr>
          <a:xfrm>
            <a:off x="548640" y="640080"/>
            <a:ext cx="10607040" cy="566928"/>
          </a:xfrm>
          <a:prstGeom prst="rect">
            <a:avLst/>
          </a:prstGeom>
          <a:noFill/>
          <a:ln/>
        </p:spPr>
        <p:txBody>
          <a:bodyPr wrap="square" lIns="0" tIns="0" rIns="0" bIns="0" rtlCol="0" anchor="ctr">
            <a:normAutofit/>
          </a:bodyPr>
          <a:lstStyle/>
          <a:p>
            <a:pPr algn="l" indent="0" marL="0">
              <a:buNone/>
            </a:pPr>
            <a:r>
              <a:rPr lang="en-US" sz="2900" b="1" dirty="0">
                <a:solidFill>
                  <a:srgbClr val="14213D"/>
                </a:solidFill>
                <a:latin typeface="Cambria" pitchFamily="34" charset="0"/>
                <a:ea typeface="Cambria" pitchFamily="34" charset="-122"/>
                <a:cs typeface="Cambria" pitchFamily="34" charset="-120"/>
              </a:rPr>
              <a:t>The inventory watchlist</a:t>
            </a:r>
            <a:endParaRPr lang="en-US" sz="2900" dirty="0"/>
          </a:p>
        </p:txBody>
      </p:sp>
      <p:sp>
        <p:nvSpPr>
          <p:cNvPr id="4" name="Text 2"/>
          <p:cNvSpPr txBox="1"/>
          <p:nvPr/>
        </p:nvSpPr>
        <p:spPr>
          <a:xfrm>
            <a:off x="548640" y="1243584"/>
            <a:ext cx="10607040" cy="384048"/>
          </a:xfrm>
          <a:prstGeom prst="rect">
            <a:avLst/>
          </a:prstGeom>
          <a:noFill/>
          <a:ln/>
        </p:spPr>
        <p:txBody>
          <a:bodyPr wrap="square" lIns="0" tIns="0" rIns="0" bIns="0" rtlCol="0" anchor="ctr">
            <a:normAutofit/>
          </a:bodyPr>
          <a:lstStyle/>
          <a:p>
            <a:pPr algn="l" indent="0" marL="0">
              <a:buNone/>
            </a:pPr>
            <a:r>
              <a:rPr lang="en-US" sz="1250" dirty="0">
                <a:solidFill>
                  <a:srgbClr val="667085"/>
                </a:solidFill>
                <a:latin typeface="Arial" pitchFamily="34" charset="0"/>
                <a:ea typeface="Arial" pitchFamily="34" charset="-122"/>
                <a:cs typeface="Arial" pitchFamily="34" charset="-120"/>
              </a:rPr>
              <a:t>High sales velocity combined with low stock highlights replenishment priorities.</a:t>
            </a:r>
            <a:endParaRPr lang="en-US" sz="1250" dirty="0"/>
          </a:p>
        </p:txBody>
      </p:sp>
      <p:sp>
        <p:nvSpPr>
          <p:cNvPr id="5" name="Shape 3"/>
          <p:cNvSpPr/>
          <p:nvPr/>
        </p:nvSpPr>
        <p:spPr>
          <a:xfrm>
            <a:off x="594360" y="1764792"/>
            <a:ext cx="1920240" cy="411480"/>
          </a:xfrm>
          <a:prstGeom prst="roundRect">
            <a:avLst>
              <a:gd name="adj" fmla="val 22222"/>
            </a:avLst>
          </a:prstGeom>
          <a:solidFill>
            <a:srgbClr val="14213D"/>
          </a:solidFill>
          <a:ln w="12700">
            <a:solidFill>
              <a:srgbClr val="14213D">
                <a:alpha val="0"/>
              </a:srgbClr>
            </a:solidFill>
            <a:prstDash val="solid"/>
          </a:ln>
        </p:spPr>
        <p:txBody>
          <a:bodyPr/>
          <a:p/>
        </p:txBody>
      </p:sp>
      <p:sp>
        <p:nvSpPr>
          <p:cNvPr id="6" name="Text 4"/>
          <p:cNvSpPr txBox="1"/>
          <p:nvPr/>
        </p:nvSpPr>
        <p:spPr>
          <a:xfrm>
            <a:off x="685800" y="1865376"/>
            <a:ext cx="1737360" cy="182880"/>
          </a:xfrm>
          <a:prstGeom prst="rect">
            <a:avLst/>
          </a:prstGeom>
          <a:noFill/>
          <a:ln/>
        </p:spPr>
        <p:txBody>
          <a:bodyPr wrap="square" lIns="0" tIns="0" rIns="0" bIns="0" rtlCol="0" anchor="ctr">
            <a:normAutofit/>
          </a:bodyPr>
          <a:lstStyle/>
          <a:p>
            <a:pPr algn="l" indent="0" marL="0">
              <a:buNone/>
            </a:pPr>
            <a:r>
              <a:rPr lang="en-US" sz="950" b="1" dirty="0">
                <a:solidFill>
                  <a:srgbClr val="FFFFFF"/>
                </a:solidFill>
                <a:latin typeface="Arial" pitchFamily="34" charset="0"/>
                <a:ea typeface="Arial" pitchFamily="34" charset="-122"/>
                <a:cs typeface="Arial" pitchFamily="34" charset="-120"/>
              </a:rPr>
              <a:t>Product</a:t>
            </a:r>
            <a:endParaRPr lang="en-US" sz="950" dirty="0"/>
          </a:p>
        </p:txBody>
      </p:sp>
      <p:sp>
        <p:nvSpPr>
          <p:cNvPr id="7" name="Shape 5"/>
          <p:cNvSpPr/>
          <p:nvPr/>
        </p:nvSpPr>
        <p:spPr>
          <a:xfrm>
            <a:off x="2514600" y="1764792"/>
            <a:ext cx="1920240" cy="411480"/>
          </a:xfrm>
          <a:prstGeom prst="roundRect">
            <a:avLst>
              <a:gd name="adj" fmla="val 22222"/>
            </a:avLst>
          </a:prstGeom>
          <a:solidFill>
            <a:srgbClr val="14213D"/>
          </a:solidFill>
          <a:ln w="12700">
            <a:solidFill>
              <a:srgbClr val="14213D">
                <a:alpha val="0"/>
              </a:srgbClr>
            </a:solidFill>
            <a:prstDash val="solid"/>
          </a:ln>
        </p:spPr>
        <p:txBody>
          <a:bodyPr/>
          <a:p/>
        </p:txBody>
      </p:sp>
      <p:sp>
        <p:nvSpPr>
          <p:cNvPr id="8" name="Text 6"/>
          <p:cNvSpPr txBox="1"/>
          <p:nvPr/>
        </p:nvSpPr>
        <p:spPr>
          <a:xfrm>
            <a:off x="2606040" y="1865376"/>
            <a:ext cx="1737360" cy="182880"/>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Units sold</a:t>
            </a:r>
            <a:endParaRPr lang="en-US" sz="950" dirty="0"/>
          </a:p>
        </p:txBody>
      </p:sp>
      <p:sp>
        <p:nvSpPr>
          <p:cNvPr id="9" name="Shape 7"/>
          <p:cNvSpPr/>
          <p:nvPr/>
        </p:nvSpPr>
        <p:spPr>
          <a:xfrm>
            <a:off x="4572000" y="1764792"/>
            <a:ext cx="1280160" cy="411480"/>
          </a:xfrm>
          <a:prstGeom prst="roundRect">
            <a:avLst>
              <a:gd name="adj" fmla="val 22222"/>
            </a:avLst>
          </a:prstGeom>
          <a:solidFill>
            <a:srgbClr val="14213D"/>
          </a:solidFill>
          <a:ln w="12700">
            <a:solidFill>
              <a:srgbClr val="14213D">
                <a:alpha val="0"/>
              </a:srgbClr>
            </a:solidFill>
            <a:prstDash val="solid"/>
          </a:ln>
        </p:spPr>
        <p:txBody>
          <a:bodyPr/>
          <a:p/>
        </p:txBody>
      </p:sp>
      <p:sp>
        <p:nvSpPr>
          <p:cNvPr id="10" name="Text 8"/>
          <p:cNvSpPr txBox="1"/>
          <p:nvPr/>
        </p:nvSpPr>
        <p:spPr>
          <a:xfrm>
            <a:off x="4663440" y="1865376"/>
            <a:ext cx="1097280" cy="182880"/>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Revenue</a:t>
            </a:r>
            <a:endParaRPr lang="en-US" sz="950" dirty="0"/>
          </a:p>
        </p:txBody>
      </p:sp>
      <p:sp>
        <p:nvSpPr>
          <p:cNvPr id="11" name="Shape 9"/>
          <p:cNvSpPr/>
          <p:nvPr/>
        </p:nvSpPr>
        <p:spPr>
          <a:xfrm>
            <a:off x="5989320" y="1764792"/>
            <a:ext cx="1417320" cy="411480"/>
          </a:xfrm>
          <a:prstGeom prst="roundRect">
            <a:avLst>
              <a:gd name="adj" fmla="val 22222"/>
            </a:avLst>
          </a:prstGeom>
          <a:solidFill>
            <a:srgbClr val="14213D"/>
          </a:solidFill>
          <a:ln w="12700">
            <a:solidFill>
              <a:srgbClr val="14213D">
                <a:alpha val="0"/>
              </a:srgbClr>
            </a:solidFill>
            <a:prstDash val="solid"/>
          </a:ln>
        </p:spPr>
        <p:txBody>
          <a:bodyPr/>
          <a:p/>
        </p:txBody>
      </p:sp>
      <p:sp>
        <p:nvSpPr>
          <p:cNvPr id="12" name="Text 10"/>
          <p:cNvSpPr txBox="1"/>
          <p:nvPr/>
        </p:nvSpPr>
        <p:spPr>
          <a:xfrm>
            <a:off x="6080760" y="1865376"/>
            <a:ext cx="1234440" cy="182880"/>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Inventory</a:t>
            </a:r>
            <a:endParaRPr lang="en-US" sz="950" dirty="0"/>
          </a:p>
        </p:txBody>
      </p:sp>
      <p:sp>
        <p:nvSpPr>
          <p:cNvPr id="13" name="Shape 11"/>
          <p:cNvSpPr/>
          <p:nvPr/>
        </p:nvSpPr>
        <p:spPr>
          <a:xfrm>
            <a:off x="7635240" y="1764792"/>
            <a:ext cx="1508760" cy="411480"/>
          </a:xfrm>
          <a:prstGeom prst="roundRect">
            <a:avLst>
              <a:gd name="adj" fmla="val 22222"/>
            </a:avLst>
          </a:prstGeom>
          <a:solidFill>
            <a:srgbClr val="14213D"/>
          </a:solidFill>
          <a:ln w="12700">
            <a:solidFill>
              <a:srgbClr val="14213D">
                <a:alpha val="0"/>
              </a:srgbClr>
            </a:solidFill>
            <a:prstDash val="solid"/>
          </a:ln>
        </p:spPr>
        <p:txBody>
          <a:bodyPr/>
          <a:p/>
        </p:txBody>
      </p:sp>
      <p:sp>
        <p:nvSpPr>
          <p:cNvPr id="14" name="Text 12"/>
          <p:cNvSpPr txBox="1"/>
          <p:nvPr/>
        </p:nvSpPr>
        <p:spPr>
          <a:xfrm>
            <a:off x="7726680" y="1865376"/>
            <a:ext cx="1325880" cy="182880"/>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Signal</a:t>
            </a:r>
            <a:endParaRPr lang="en-US" sz="950" dirty="0"/>
          </a:p>
        </p:txBody>
      </p:sp>
      <p:sp>
        <p:nvSpPr>
          <p:cNvPr id="15" name="Shape 13"/>
          <p:cNvSpPr/>
          <p:nvPr/>
        </p:nvSpPr>
        <p:spPr>
          <a:xfrm>
            <a:off x="9372600" y="1764792"/>
            <a:ext cx="2240280" cy="411480"/>
          </a:xfrm>
          <a:prstGeom prst="roundRect">
            <a:avLst>
              <a:gd name="adj" fmla="val 22222"/>
            </a:avLst>
          </a:prstGeom>
          <a:solidFill>
            <a:srgbClr val="14213D"/>
          </a:solidFill>
          <a:ln w="12700">
            <a:solidFill>
              <a:srgbClr val="14213D">
                <a:alpha val="0"/>
              </a:srgbClr>
            </a:solidFill>
            <a:prstDash val="solid"/>
          </a:ln>
        </p:spPr>
        <p:txBody>
          <a:bodyPr/>
          <a:p/>
        </p:txBody>
      </p:sp>
      <p:sp>
        <p:nvSpPr>
          <p:cNvPr id="16" name="Text 14"/>
          <p:cNvSpPr txBox="1"/>
          <p:nvPr/>
        </p:nvSpPr>
        <p:spPr>
          <a:xfrm>
            <a:off x="9464040" y="1865376"/>
            <a:ext cx="2057400" cy="182880"/>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Action</a:t>
            </a:r>
            <a:endParaRPr lang="en-US" sz="950" dirty="0"/>
          </a:p>
        </p:txBody>
      </p:sp>
      <p:sp>
        <p:nvSpPr>
          <p:cNvPr id="17" name="Shape 15"/>
          <p:cNvSpPr/>
          <p:nvPr/>
        </p:nvSpPr>
        <p:spPr>
          <a:xfrm>
            <a:off x="594360" y="2240280"/>
            <a:ext cx="11018520" cy="411480"/>
          </a:xfrm>
          <a:prstGeom prst="roundRect">
            <a:avLst>
              <a:gd name="adj" fmla="val 11111"/>
            </a:avLst>
          </a:prstGeom>
          <a:solidFill>
            <a:srgbClr val="FFFFFF"/>
          </a:solidFill>
          <a:ln w="12700">
            <a:solidFill>
              <a:srgbClr val="FFFFFF">
                <a:alpha val="0"/>
              </a:srgbClr>
            </a:solidFill>
            <a:prstDash val="solid"/>
          </a:ln>
        </p:spPr>
        <p:txBody>
          <a:bodyPr/>
          <a:p/>
        </p:txBody>
      </p:sp>
      <p:sp>
        <p:nvSpPr>
          <p:cNvPr id="18" name="Text 16"/>
          <p:cNvSpPr txBox="1"/>
          <p:nvPr/>
        </p:nvSpPr>
        <p:spPr>
          <a:xfrm>
            <a:off x="685800" y="2313432"/>
            <a:ext cx="1737360" cy="201168"/>
          </a:xfrm>
          <a:prstGeom prst="rect">
            <a:avLst/>
          </a:prstGeom>
          <a:noFill/>
          <a:ln/>
        </p:spPr>
        <p:txBody>
          <a:bodyPr wrap="square" lIns="0" tIns="0" rIns="0" bIns="0" rtlCol="0" anchor="ctr">
            <a:normAutofit/>
          </a:bodyPr>
          <a:lstStyle/>
          <a:p>
            <a:pPr algn="l" indent="0" marL="0">
              <a:buNone/>
            </a:pPr>
            <a:r>
              <a:rPr lang="en-US" sz="950" dirty="0">
                <a:solidFill>
                  <a:srgbClr val="152238"/>
                </a:solidFill>
                <a:latin typeface="Arial" pitchFamily="34" charset="0"/>
                <a:ea typeface="Arial" pitchFamily="34" charset="-122"/>
                <a:cs typeface="Arial" pitchFamily="34" charset="-120"/>
              </a:rPr>
              <a:t>Boy's Coat (Brown)</a:t>
            </a:r>
            <a:endParaRPr lang="en-US" sz="950" dirty="0"/>
          </a:p>
        </p:txBody>
      </p:sp>
      <p:sp>
        <p:nvSpPr>
          <p:cNvPr id="19" name="Text 17"/>
          <p:cNvSpPr txBox="1"/>
          <p:nvPr/>
        </p:nvSpPr>
        <p:spPr>
          <a:xfrm>
            <a:off x="2606040" y="2313432"/>
            <a:ext cx="173736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39</a:t>
            </a:r>
            <a:endParaRPr lang="en-US" sz="950" dirty="0"/>
          </a:p>
        </p:txBody>
      </p:sp>
      <p:sp>
        <p:nvSpPr>
          <p:cNvPr id="20" name="Text 18"/>
          <p:cNvSpPr txBox="1"/>
          <p:nvPr/>
        </p:nvSpPr>
        <p:spPr>
          <a:xfrm>
            <a:off x="4663440" y="2313432"/>
            <a:ext cx="109728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$763.62</a:t>
            </a:r>
            <a:endParaRPr lang="en-US" sz="950" dirty="0"/>
          </a:p>
        </p:txBody>
      </p:sp>
      <p:sp>
        <p:nvSpPr>
          <p:cNvPr id="21" name="Text 19"/>
          <p:cNvSpPr txBox="1"/>
          <p:nvPr/>
        </p:nvSpPr>
        <p:spPr>
          <a:xfrm>
            <a:off x="6080760" y="2313432"/>
            <a:ext cx="123444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9</a:t>
            </a:r>
            <a:endParaRPr lang="en-US" sz="950" dirty="0"/>
          </a:p>
        </p:txBody>
      </p:sp>
      <p:sp>
        <p:nvSpPr>
          <p:cNvPr id="22" name="Text 20"/>
          <p:cNvSpPr txBox="1"/>
          <p:nvPr/>
        </p:nvSpPr>
        <p:spPr>
          <a:xfrm>
            <a:off x="7726680" y="2313432"/>
            <a:ext cx="1325880" cy="201168"/>
          </a:xfrm>
          <a:prstGeom prst="rect">
            <a:avLst/>
          </a:prstGeom>
          <a:noFill/>
          <a:ln/>
        </p:spPr>
        <p:txBody>
          <a:bodyPr wrap="square" lIns="0" tIns="0" rIns="0" bIns="0" rtlCol="0" anchor="ctr">
            <a:normAutofit/>
          </a:bodyPr>
          <a:lstStyle/>
          <a:p>
            <a:pPr algn="ctr" indent="0" marL="0">
              <a:buNone/>
            </a:pPr>
            <a:r>
              <a:rPr lang="en-US" sz="950" b="1" dirty="0">
                <a:solidFill>
                  <a:srgbClr val="008C95"/>
                </a:solidFill>
                <a:latin typeface="Arial" pitchFamily="34" charset="0"/>
                <a:ea typeface="Arial" pitchFamily="34" charset="-122"/>
                <a:cs typeface="Arial" pitchFamily="34" charset="-120"/>
              </a:rPr>
              <a:t>HOT</a:t>
            </a:r>
            <a:endParaRPr lang="en-US" sz="950" dirty="0"/>
          </a:p>
        </p:txBody>
      </p:sp>
      <p:sp>
        <p:nvSpPr>
          <p:cNvPr id="23" name="Text 21"/>
          <p:cNvSpPr txBox="1"/>
          <p:nvPr/>
        </p:nvSpPr>
        <p:spPr>
          <a:xfrm>
            <a:off x="9464040" y="2313432"/>
            <a:ext cx="2057400" cy="201168"/>
          </a:xfrm>
          <a:prstGeom prst="rect">
            <a:avLst/>
          </a:prstGeom>
          <a:noFill/>
          <a:ln/>
        </p:spPr>
        <p:txBody>
          <a:bodyPr wrap="square" lIns="0" tIns="0" rIns="0" bIns="0" rtlCol="0" anchor="ctr">
            <a:normAutofit/>
          </a:bodyPr>
          <a:lstStyle/>
          <a:p>
            <a:pPr algn="ctr" indent="0" marL="0">
              <a:buNone/>
            </a:pPr>
            <a:r>
              <a:rPr lang="en-US" sz="950" b="1" dirty="0">
                <a:solidFill>
                  <a:srgbClr val="152238"/>
                </a:solidFill>
                <a:latin typeface="Arial" pitchFamily="34" charset="0"/>
                <a:ea typeface="Arial" pitchFamily="34" charset="-122"/>
                <a:cs typeface="Arial" pitchFamily="34" charset="-120"/>
              </a:rPr>
              <a:t>Replenish</a:t>
            </a:r>
            <a:endParaRPr lang="en-US" sz="950" dirty="0"/>
          </a:p>
        </p:txBody>
      </p:sp>
      <p:sp>
        <p:nvSpPr>
          <p:cNvPr id="24" name="Shape 22"/>
          <p:cNvSpPr/>
          <p:nvPr/>
        </p:nvSpPr>
        <p:spPr>
          <a:xfrm>
            <a:off x="594360" y="2688336"/>
            <a:ext cx="11018520" cy="411480"/>
          </a:xfrm>
          <a:prstGeom prst="roundRect">
            <a:avLst>
              <a:gd name="adj" fmla="val 11111"/>
            </a:avLst>
          </a:prstGeom>
          <a:solidFill>
            <a:srgbClr val="F0F4F8"/>
          </a:solidFill>
          <a:ln w="12700">
            <a:solidFill>
              <a:srgbClr val="F0F4F8">
                <a:alpha val="0"/>
              </a:srgbClr>
            </a:solidFill>
            <a:prstDash val="solid"/>
          </a:ln>
        </p:spPr>
        <p:txBody>
          <a:bodyPr/>
          <a:p/>
        </p:txBody>
      </p:sp>
      <p:sp>
        <p:nvSpPr>
          <p:cNvPr id="25" name="Text 23"/>
          <p:cNvSpPr txBox="1"/>
          <p:nvPr/>
        </p:nvSpPr>
        <p:spPr>
          <a:xfrm>
            <a:off x="685800" y="2761488"/>
            <a:ext cx="1737360" cy="201168"/>
          </a:xfrm>
          <a:prstGeom prst="rect">
            <a:avLst/>
          </a:prstGeom>
          <a:noFill/>
          <a:ln/>
        </p:spPr>
        <p:txBody>
          <a:bodyPr wrap="square" lIns="0" tIns="0" rIns="0" bIns="0" rtlCol="0" anchor="ctr">
            <a:normAutofit/>
          </a:bodyPr>
          <a:lstStyle/>
          <a:p>
            <a:pPr algn="l" indent="0" marL="0">
              <a:buNone/>
            </a:pPr>
            <a:r>
              <a:rPr lang="en-US" sz="950" dirty="0">
                <a:solidFill>
                  <a:srgbClr val="152238"/>
                </a:solidFill>
                <a:latin typeface="Arial" pitchFamily="34" charset="0"/>
                <a:ea typeface="Arial" pitchFamily="34" charset="-122"/>
                <a:cs typeface="Arial" pitchFamily="34" charset="-120"/>
              </a:rPr>
              <a:t>Women's Skirt (Green)</a:t>
            </a:r>
            <a:endParaRPr lang="en-US" sz="950" dirty="0"/>
          </a:p>
        </p:txBody>
      </p:sp>
      <p:sp>
        <p:nvSpPr>
          <p:cNvPr id="26" name="Text 24"/>
          <p:cNvSpPr txBox="1"/>
          <p:nvPr/>
        </p:nvSpPr>
        <p:spPr>
          <a:xfrm>
            <a:off x="2606040" y="2761488"/>
            <a:ext cx="173736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33</a:t>
            </a:r>
            <a:endParaRPr lang="en-US" sz="950" dirty="0"/>
          </a:p>
        </p:txBody>
      </p:sp>
      <p:sp>
        <p:nvSpPr>
          <p:cNvPr id="27" name="Text 25"/>
          <p:cNvSpPr txBox="1"/>
          <p:nvPr/>
        </p:nvSpPr>
        <p:spPr>
          <a:xfrm>
            <a:off x="4663440" y="2761488"/>
            <a:ext cx="109728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$943.47</a:t>
            </a:r>
            <a:endParaRPr lang="en-US" sz="950" dirty="0"/>
          </a:p>
        </p:txBody>
      </p:sp>
      <p:sp>
        <p:nvSpPr>
          <p:cNvPr id="28" name="Text 26"/>
          <p:cNvSpPr txBox="1"/>
          <p:nvPr/>
        </p:nvSpPr>
        <p:spPr>
          <a:xfrm>
            <a:off x="6080760" y="2761488"/>
            <a:ext cx="123444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0</a:t>
            </a:r>
            <a:endParaRPr lang="en-US" sz="950" dirty="0"/>
          </a:p>
        </p:txBody>
      </p:sp>
      <p:sp>
        <p:nvSpPr>
          <p:cNvPr id="29" name="Text 27"/>
          <p:cNvSpPr txBox="1"/>
          <p:nvPr/>
        </p:nvSpPr>
        <p:spPr>
          <a:xfrm>
            <a:off x="7726680" y="2761488"/>
            <a:ext cx="1325880" cy="201168"/>
          </a:xfrm>
          <a:prstGeom prst="rect">
            <a:avLst/>
          </a:prstGeom>
          <a:noFill/>
          <a:ln/>
        </p:spPr>
        <p:txBody>
          <a:bodyPr wrap="square" lIns="0" tIns="0" rIns="0" bIns="0" rtlCol="0" anchor="ctr">
            <a:normAutofit/>
          </a:bodyPr>
          <a:lstStyle/>
          <a:p>
            <a:pPr algn="ctr" indent="0" marL="0">
              <a:buNone/>
            </a:pPr>
            <a:r>
              <a:rPr lang="en-US" sz="950" b="1" dirty="0">
                <a:solidFill>
                  <a:srgbClr val="D95D39"/>
                </a:solidFill>
                <a:latin typeface="Arial" pitchFamily="34" charset="0"/>
                <a:ea typeface="Arial" pitchFamily="34" charset="-122"/>
                <a:cs typeface="Arial" pitchFamily="34" charset="-120"/>
              </a:rPr>
              <a:t>CRITICAL</a:t>
            </a:r>
            <a:endParaRPr lang="en-US" sz="950" dirty="0"/>
          </a:p>
        </p:txBody>
      </p:sp>
      <p:sp>
        <p:nvSpPr>
          <p:cNvPr id="30" name="Text 28"/>
          <p:cNvSpPr txBox="1"/>
          <p:nvPr/>
        </p:nvSpPr>
        <p:spPr>
          <a:xfrm>
            <a:off x="9464040" y="2761488"/>
            <a:ext cx="2057400" cy="201168"/>
          </a:xfrm>
          <a:prstGeom prst="rect">
            <a:avLst/>
          </a:prstGeom>
          <a:noFill/>
          <a:ln/>
        </p:spPr>
        <p:txBody>
          <a:bodyPr wrap="square" lIns="0" tIns="0" rIns="0" bIns="0" rtlCol="0" anchor="ctr">
            <a:normAutofit/>
          </a:bodyPr>
          <a:lstStyle/>
          <a:p>
            <a:pPr algn="ctr" indent="0" marL="0">
              <a:buNone/>
            </a:pPr>
            <a:r>
              <a:rPr lang="en-US" sz="950" b="1" dirty="0">
                <a:solidFill>
                  <a:srgbClr val="152238"/>
                </a:solidFill>
                <a:latin typeface="Arial" pitchFamily="34" charset="0"/>
                <a:ea typeface="Arial" pitchFamily="34" charset="-122"/>
                <a:cs typeface="Arial" pitchFamily="34" charset="-120"/>
              </a:rPr>
              <a:t>Urgent</a:t>
            </a:r>
            <a:endParaRPr lang="en-US" sz="950" dirty="0"/>
          </a:p>
        </p:txBody>
      </p:sp>
      <p:sp>
        <p:nvSpPr>
          <p:cNvPr id="31" name="Shape 29"/>
          <p:cNvSpPr/>
          <p:nvPr/>
        </p:nvSpPr>
        <p:spPr>
          <a:xfrm>
            <a:off x="594360" y="3136392"/>
            <a:ext cx="11018520" cy="411480"/>
          </a:xfrm>
          <a:prstGeom prst="roundRect">
            <a:avLst>
              <a:gd name="adj" fmla="val 11111"/>
            </a:avLst>
          </a:prstGeom>
          <a:solidFill>
            <a:srgbClr val="FFFFFF"/>
          </a:solidFill>
          <a:ln w="12700">
            <a:solidFill>
              <a:srgbClr val="FFFFFF">
                <a:alpha val="0"/>
              </a:srgbClr>
            </a:solidFill>
            <a:prstDash val="solid"/>
          </a:ln>
        </p:spPr>
        <p:txBody>
          <a:bodyPr/>
          <a:p/>
        </p:txBody>
      </p:sp>
      <p:sp>
        <p:nvSpPr>
          <p:cNvPr id="32" name="Text 30"/>
          <p:cNvSpPr txBox="1"/>
          <p:nvPr/>
        </p:nvSpPr>
        <p:spPr>
          <a:xfrm>
            <a:off x="685800" y="3209544"/>
            <a:ext cx="1737360" cy="201168"/>
          </a:xfrm>
          <a:prstGeom prst="rect">
            <a:avLst/>
          </a:prstGeom>
          <a:noFill/>
          <a:ln/>
        </p:spPr>
        <p:txBody>
          <a:bodyPr wrap="square" lIns="0" tIns="0" rIns="0" bIns="0" rtlCol="0" anchor="ctr">
            <a:normAutofit/>
          </a:bodyPr>
          <a:lstStyle/>
          <a:p>
            <a:pPr algn="l" indent="0" marL="0">
              <a:buNone/>
            </a:pPr>
            <a:r>
              <a:rPr lang="en-US" sz="950" dirty="0">
                <a:solidFill>
                  <a:srgbClr val="152238"/>
                </a:solidFill>
                <a:latin typeface="Arial" pitchFamily="34" charset="0"/>
                <a:ea typeface="Arial" pitchFamily="34" charset="-122"/>
                <a:cs typeface="Arial" pitchFamily="34" charset="-120"/>
              </a:rPr>
              <a:t>Boy's Socks (White)</a:t>
            </a:r>
            <a:endParaRPr lang="en-US" sz="950" dirty="0"/>
          </a:p>
        </p:txBody>
      </p:sp>
      <p:sp>
        <p:nvSpPr>
          <p:cNvPr id="33" name="Text 31"/>
          <p:cNvSpPr txBox="1"/>
          <p:nvPr/>
        </p:nvSpPr>
        <p:spPr>
          <a:xfrm>
            <a:off x="2606040" y="3209544"/>
            <a:ext cx="173736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30</a:t>
            </a:r>
            <a:endParaRPr lang="en-US" sz="950" dirty="0"/>
          </a:p>
        </p:txBody>
      </p:sp>
      <p:sp>
        <p:nvSpPr>
          <p:cNvPr id="34" name="Text 32"/>
          <p:cNvSpPr txBox="1"/>
          <p:nvPr/>
        </p:nvSpPr>
        <p:spPr>
          <a:xfrm>
            <a:off x="4663440" y="3209544"/>
            <a:ext cx="109728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$314.40</a:t>
            </a:r>
            <a:endParaRPr lang="en-US" sz="950" dirty="0"/>
          </a:p>
        </p:txBody>
      </p:sp>
      <p:sp>
        <p:nvSpPr>
          <p:cNvPr id="35" name="Text 33"/>
          <p:cNvSpPr txBox="1"/>
          <p:nvPr/>
        </p:nvSpPr>
        <p:spPr>
          <a:xfrm>
            <a:off x="6080760" y="3209544"/>
            <a:ext cx="123444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10</a:t>
            </a:r>
            <a:endParaRPr lang="en-US" sz="950" dirty="0"/>
          </a:p>
        </p:txBody>
      </p:sp>
      <p:sp>
        <p:nvSpPr>
          <p:cNvPr id="36" name="Text 34"/>
          <p:cNvSpPr txBox="1"/>
          <p:nvPr/>
        </p:nvSpPr>
        <p:spPr>
          <a:xfrm>
            <a:off x="7726680" y="3209544"/>
            <a:ext cx="1325880" cy="201168"/>
          </a:xfrm>
          <a:prstGeom prst="rect">
            <a:avLst/>
          </a:prstGeom>
          <a:noFill/>
          <a:ln/>
        </p:spPr>
        <p:txBody>
          <a:bodyPr wrap="square" lIns="0" tIns="0" rIns="0" bIns="0" rtlCol="0" anchor="ctr">
            <a:normAutofit/>
          </a:bodyPr>
          <a:lstStyle/>
          <a:p>
            <a:pPr algn="ctr" indent="0" marL="0">
              <a:buNone/>
            </a:pPr>
            <a:r>
              <a:rPr lang="en-US" sz="950" b="1" dirty="0">
                <a:solidFill>
                  <a:srgbClr val="008C95"/>
                </a:solidFill>
                <a:latin typeface="Arial" pitchFamily="34" charset="0"/>
                <a:ea typeface="Arial" pitchFamily="34" charset="-122"/>
                <a:cs typeface="Arial" pitchFamily="34" charset="-120"/>
              </a:rPr>
              <a:t>HOT</a:t>
            </a:r>
            <a:endParaRPr lang="en-US" sz="950" dirty="0"/>
          </a:p>
        </p:txBody>
      </p:sp>
      <p:sp>
        <p:nvSpPr>
          <p:cNvPr id="37" name="Text 35"/>
          <p:cNvSpPr txBox="1"/>
          <p:nvPr/>
        </p:nvSpPr>
        <p:spPr>
          <a:xfrm>
            <a:off x="9464040" y="3209544"/>
            <a:ext cx="2057400" cy="201168"/>
          </a:xfrm>
          <a:prstGeom prst="rect">
            <a:avLst/>
          </a:prstGeom>
          <a:noFill/>
          <a:ln/>
        </p:spPr>
        <p:txBody>
          <a:bodyPr wrap="square" lIns="0" tIns="0" rIns="0" bIns="0" rtlCol="0" anchor="ctr">
            <a:normAutofit/>
          </a:bodyPr>
          <a:lstStyle/>
          <a:p>
            <a:pPr algn="ctr" indent="0" marL="0">
              <a:buNone/>
            </a:pPr>
            <a:r>
              <a:rPr lang="en-US" sz="950" b="1" dirty="0">
                <a:solidFill>
                  <a:srgbClr val="152238"/>
                </a:solidFill>
                <a:latin typeface="Arial" pitchFamily="34" charset="0"/>
                <a:ea typeface="Arial" pitchFamily="34" charset="-122"/>
                <a:cs typeface="Arial" pitchFamily="34" charset="-120"/>
              </a:rPr>
              <a:t>Replenish</a:t>
            </a:r>
            <a:endParaRPr lang="en-US" sz="950" dirty="0"/>
          </a:p>
        </p:txBody>
      </p:sp>
      <p:sp>
        <p:nvSpPr>
          <p:cNvPr id="38" name="Shape 36"/>
          <p:cNvSpPr/>
          <p:nvPr/>
        </p:nvSpPr>
        <p:spPr>
          <a:xfrm>
            <a:off x="594360" y="3584448"/>
            <a:ext cx="11018520" cy="411480"/>
          </a:xfrm>
          <a:prstGeom prst="roundRect">
            <a:avLst>
              <a:gd name="adj" fmla="val 11111"/>
            </a:avLst>
          </a:prstGeom>
          <a:solidFill>
            <a:srgbClr val="F0F4F8"/>
          </a:solidFill>
          <a:ln w="12700">
            <a:solidFill>
              <a:srgbClr val="F0F4F8">
                <a:alpha val="0"/>
              </a:srgbClr>
            </a:solidFill>
            <a:prstDash val="solid"/>
          </a:ln>
        </p:spPr>
        <p:txBody>
          <a:bodyPr/>
          <a:p/>
        </p:txBody>
      </p:sp>
      <p:sp>
        <p:nvSpPr>
          <p:cNvPr id="39" name="Text 37"/>
          <p:cNvSpPr txBox="1"/>
          <p:nvPr/>
        </p:nvSpPr>
        <p:spPr>
          <a:xfrm>
            <a:off x="685800" y="3657600"/>
            <a:ext cx="1737360" cy="201168"/>
          </a:xfrm>
          <a:prstGeom prst="rect">
            <a:avLst/>
          </a:prstGeom>
          <a:noFill/>
          <a:ln/>
        </p:spPr>
        <p:txBody>
          <a:bodyPr wrap="square" lIns="0" tIns="0" rIns="0" bIns="0" rtlCol="0" anchor="ctr">
            <a:normAutofit/>
          </a:bodyPr>
          <a:lstStyle/>
          <a:p>
            <a:pPr algn="l" indent="0" marL="0">
              <a:buNone/>
            </a:pPr>
            <a:r>
              <a:rPr lang="en-US" sz="950" dirty="0">
                <a:solidFill>
                  <a:srgbClr val="152238"/>
                </a:solidFill>
                <a:latin typeface="Arial" pitchFamily="34" charset="0"/>
                <a:ea typeface="Arial" pitchFamily="34" charset="-122"/>
                <a:cs typeface="Arial" pitchFamily="34" charset="-120"/>
              </a:rPr>
              <a:t>Girl's Jeans (Grey)</a:t>
            </a:r>
            <a:endParaRPr lang="en-US" sz="950" dirty="0"/>
          </a:p>
        </p:txBody>
      </p:sp>
      <p:sp>
        <p:nvSpPr>
          <p:cNvPr id="40" name="Text 38"/>
          <p:cNvSpPr txBox="1"/>
          <p:nvPr/>
        </p:nvSpPr>
        <p:spPr>
          <a:xfrm>
            <a:off x="2606040" y="3657600"/>
            <a:ext cx="173736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28</a:t>
            </a:r>
            <a:endParaRPr lang="en-US" sz="950" dirty="0"/>
          </a:p>
        </p:txBody>
      </p:sp>
      <p:sp>
        <p:nvSpPr>
          <p:cNvPr id="41" name="Text 39"/>
          <p:cNvSpPr txBox="1"/>
          <p:nvPr/>
        </p:nvSpPr>
        <p:spPr>
          <a:xfrm>
            <a:off x="4663440" y="3657600"/>
            <a:ext cx="109728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$274.40</a:t>
            </a:r>
            <a:endParaRPr lang="en-US" sz="950" dirty="0"/>
          </a:p>
        </p:txBody>
      </p:sp>
      <p:sp>
        <p:nvSpPr>
          <p:cNvPr id="42" name="Text 40"/>
          <p:cNvSpPr txBox="1"/>
          <p:nvPr/>
        </p:nvSpPr>
        <p:spPr>
          <a:xfrm>
            <a:off x="6080760" y="3657600"/>
            <a:ext cx="123444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21</a:t>
            </a:r>
            <a:endParaRPr lang="en-US" sz="950" dirty="0"/>
          </a:p>
        </p:txBody>
      </p:sp>
      <p:sp>
        <p:nvSpPr>
          <p:cNvPr id="43" name="Text 41"/>
          <p:cNvSpPr txBox="1"/>
          <p:nvPr/>
        </p:nvSpPr>
        <p:spPr>
          <a:xfrm>
            <a:off x="7726680" y="3657600"/>
            <a:ext cx="1325880" cy="201168"/>
          </a:xfrm>
          <a:prstGeom prst="rect">
            <a:avLst/>
          </a:prstGeom>
          <a:noFill/>
          <a:ln/>
        </p:spPr>
        <p:txBody>
          <a:bodyPr wrap="square" lIns="0" tIns="0" rIns="0" bIns="0" rtlCol="0" anchor="ctr">
            <a:normAutofit/>
          </a:bodyPr>
          <a:lstStyle/>
          <a:p>
            <a:pPr algn="ctr" indent="0" marL="0">
              <a:buNone/>
            </a:pPr>
            <a:r>
              <a:rPr lang="en-US" sz="950" b="1" dirty="0">
                <a:solidFill>
                  <a:srgbClr val="F4A261"/>
                </a:solidFill>
                <a:latin typeface="Arial" pitchFamily="34" charset="0"/>
                <a:ea typeface="Arial" pitchFamily="34" charset="-122"/>
                <a:cs typeface="Arial" pitchFamily="34" charset="-120"/>
              </a:rPr>
              <a:t>WATCH</a:t>
            </a:r>
            <a:endParaRPr lang="en-US" sz="950" dirty="0"/>
          </a:p>
        </p:txBody>
      </p:sp>
      <p:sp>
        <p:nvSpPr>
          <p:cNvPr id="44" name="Text 42"/>
          <p:cNvSpPr txBox="1"/>
          <p:nvPr/>
        </p:nvSpPr>
        <p:spPr>
          <a:xfrm>
            <a:off x="9464040" y="3657600"/>
            <a:ext cx="2057400" cy="201168"/>
          </a:xfrm>
          <a:prstGeom prst="rect">
            <a:avLst/>
          </a:prstGeom>
          <a:noFill/>
          <a:ln/>
        </p:spPr>
        <p:txBody>
          <a:bodyPr wrap="square" lIns="0" tIns="0" rIns="0" bIns="0" rtlCol="0" anchor="ctr">
            <a:normAutofit/>
          </a:bodyPr>
          <a:lstStyle/>
          <a:p>
            <a:pPr algn="ctr" indent="0" marL="0">
              <a:buNone/>
            </a:pPr>
            <a:r>
              <a:rPr lang="en-US" sz="950" b="1" dirty="0">
                <a:solidFill>
                  <a:srgbClr val="152238"/>
                </a:solidFill>
                <a:latin typeface="Arial" pitchFamily="34" charset="0"/>
                <a:ea typeface="Arial" pitchFamily="34" charset="-122"/>
                <a:cs typeface="Arial" pitchFamily="34" charset="-120"/>
              </a:rPr>
              <a:t>Review</a:t>
            </a:r>
            <a:endParaRPr lang="en-US" sz="950" dirty="0"/>
          </a:p>
        </p:txBody>
      </p:sp>
      <p:sp>
        <p:nvSpPr>
          <p:cNvPr id="45" name="Shape 43"/>
          <p:cNvSpPr/>
          <p:nvPr/>
        </p:nvSpPr>
        <p:spPr>
          <a:xfrm>
            <a:off x="594360" y="4032504"/>
            <a:ext cx="11018520" cy="411480"/>
          </a:xfrm>
          <a:prstGeom prst="roundRect">
            <a:avLst>
              <a:gd name="adj" fmla="val 11111"/>
            </a:avLst>
          </a:prstGeom>
          <a:solidFill>
            <a:srgbClr val="FFFFFF"/>
          </a:solidFill>
          <a:ln w="12700">
            <a:solidFill>
              <a:srgbClr val="FFFFFF">
                <a:alpha val="0"/>
              </a:srgbClr>
            </a:solidFill>
            <a:prstDash val="solid"/>
          </a:ln>
        </p:spPr>
        <p:txBody>
          <a:bodyPr/>
          <a:p/>
        </p:txBody>
      </p:sp>
      <p:sp>
        <p:nvSpPr>
          <p:cNvPr id="46" name="Text 44"/>
          <p:cNvSpPr txBox="1"/>
          <p:nvPr/>
        </p:nvSpPr>
        <p:spPr>
          <a:xfrm>
            <a:off x="685800" y="4105656"/>
            <a:ext cx="1737360" cy="201168"/>
          </a:xfrm>
          <a:prstGeom prst="rect">
            <a:avLst/>
          </a:prstGeom>
          <a:noFill/>
          <a:ln/>
        </p:spPr>
        <p:txBody>
          <a:bodyPr wrap="square" lIns="0" tIns="0" rIns="0" bIns="0" rtlCol="0" anchor="ctr">
            <a:normAutofit/>
          </a:bodyPr>
          <a:lstStyle/>
          <a:p>
            <a:pPr algn="l" indent="0" marL="0">
              <a:buNone/>
            </a:pPr>
            <a:r>
              <a:rPr lang="en-US" sz="950" dirty="0">
                <a:solidFill>
                  <a:srgbClr val="152238"/>
                </a:solidFill>
                <a:latin typeface="Arial" pitchFamily="34" charset="0"/>
                <a:ea typeface="Arial" pitchFamily="34" charset="-122"/>
                <a:cs typeface="Arial" pitchFamily="34" charset="-120"/>
              </a:rPr>
              <a:t>Women's Jacket (Black)</a:t>
            </a:r>
            <a:endParaRPr lang="en-US" sz="950" dirty="0"/>
          </a:p>
        </p:txBody>
      </p:sp>
      <p:sp>
        <p:nvSpPr>
          <p:cNvPr id="47" name="Text 45"/>
          <p:cNvSpPr txBox="1"/>
          <p:nvPr/>
        </p:nvSpPr>
        <p:spPr>
          <a:xfrm>
            <a:off x="2606040" y="4105656"/>
            <a:ext cx="173736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25</a:t>
            </a:r>
            <a:endParaRPr lang="en-US" sz="950" dirty="0"/>
          </a:p>
        </p:txBody>
      </p:sp>
      <p:sp>
        <p:nvSpPr>
          <p:cNvPr id="48" name="Text 46"/>
          <p:cNvSpPr txBox="1"/>
          <p:nvPr/>
        </p:nvSpPr>
        <p:spPr>
          <a:xfrm>
            <a:off x="4663440" y="4105656"/>
            <a:ext cx="109728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$611.50</a:t>
            </a:r>
            <a:endParaRPr lang="en-US" sz="950" dirty="0"/>
          </a:p>
        </p:txBody>
      </p:sp>
      <p:sp>
        <p:nvSpPr>
          <p:cNvPr id="49" name="Text 47"/>
          <p:cNvSpPr txBox="1"/>
          <p:nvPr/>
        </p:nvSpPr>
        <p:spPr>
          <a:xfrm>
            <a:off x="6080760" y="4105656"/>
            <a:ext cx="123444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9</a:t>
            </a:r>
            <a:endParaRPr lang="en-US" sz="950" dirty="0"/>
          </a:p>
        </p:txBody>
      </p:sp>
      <p:sp>
        <p:nvSpPr>
          <p:cNvPr id="50" name="Text 48"/>
          <p:cNvSpPr txBox="1"/>
          <p:nvPr/>
        </p:nvSpPr>
        <p:spPr>
          <a:xfrm>
            <a:off x="7726680" y="4105656"/>
            <a:ext cx="1325880" cy="201168"/>
          </a:xfrm>
          <a:prstGeom prst="rect">
            <a:avLst/>
          </a:prstGeom>
          <a:noFill/>
          <a:ln/>
        </p:spPr>
        <p:txBody>
          <a:bodyPr wrap="square" lIns="0" tIns="0" rIns="0" bIns="0" rtlCol="0" anchor="ctr">
            <a:normAutofit/>
          </a:bodyPr>
          <a:lstStyle/>
          <a:p>
            <a:pPr algn="ctr" indent="0" marL="0">
              <a:buNone/>
            </a:pPr>
            <a:r>
              <a:rPr lang="en-US" sz="950" b="1" dirty="0">
                <a:solidFill>
                  <a:srgbClr val="008C95"/>
                </a:solidFill>
                <a:latin typeface="Arial" pitchFamily="34" charset="0"/>
                <a:ea typeface="Arial" pitchFamily="34" charset="-122"/>
                <a:cs typeface="Arial" pitchFamily="34" charset="-120"/>
              </a:rPr>
              <a:t>HOT</a:t>
            </a:r>
            <a:endParaRPr lang="en-US" sz="950" dirty="0"/>
          </a:p>
        </p:txBody>
      </p:sp>
      <p:sp>
        <p:nvSpPr>
          <p:cNvPr id="51" name="Text 49"/>
          <p:cNvSpPr txBox="1"/>
          <p:nvPr/>
        </p:nvSpPr>
        <p:spPr>
          <a:xfrm>
            <a:off x="9464040" y="4105656"/>
            <a:ext cx="2057400" cy="201168"/>
          </a:xfrm>
          <a:prstGeom prst="rect">
            <a:avLst/>
          </a:prstGeom>
          <a:noFill/>
          <a:ln/>
        </p:spPr>
        <p:txBody>
          <a:bodyPr wrap="square" lIns="0" tIns="0" rIns="0" bIns="0" rtlCol="0" anchor="ctr">
            <a:normAutofit/>
          </a:bodyPr>
          <a:lstStyle/>
          <a:p>
            <a:pPr algn="ctr" indent="0" marL="0">
              <a:buNone/>
            </a:pPr>
            <a:r>
              <a:rPr lang="en-US" sz="950" b="1" dirty="0">
                <a:solidFill>
                  <a:srgbClr val="152238"/>
                </a:solidFill>
                <a:latin typeface="Arial" pitchFamily="34" charset="0"/>
                <a:ea typeface="Arial" pitchFamily="34" charset="-122"/>
                <a:cs typeface="Arial" pitchFamily="34" charset="-120"/>
              </a:rPr>
              <a:t>Replenish</a:t>
            </a:r>
            <a:endParaRPr lang="en-US" sz="950" dirty="0"/>
          </a:p>
        </p:txBody>
      </p:sp>
      <p:sp>
        <p:nvSpPr>
          <p:cNvPr id="52" name="Shape 50"/>
          <p:cNvSpPr/>
          <p:nvPr/>
        </p:nvSpPr>
        <p:spPr>
          <a:xfrm>
            <a:off x="594360" y="4480560"/>
            <a:ext cx="11018520" cy="411480"/>
          </a:xfrm>
          <a:prstGeom prst="roundRect">
            <a:avLst>
              <a:gd name="adj" fmla="val 11111"/>
            </a:avLst>
          </a:prstGeom>
          <a:solidFill>
            <a:srgbClr val="F0F4F8"/>
          </a:solidFill>
          <a:ln w="12700">
            <a:solidFill>
              <a:srgbClr val="F0F4F8">
                <a:alpha val="0"/>
              </a:srgbClr>
            </a:solidFill>
            <a:prstDash val="solid"/>
          </a:ln>
        </p:spPr>
        <p:txBody>
          <a:bodyPr/>
          <a:p/>
        </p:txBody>
      </p:sp>
      <p:sp>
        <p:nvSpPr>
          <p:cNvPr id="53" name="Text 51"/>
          <p:cNvSpPr txBox="1"/>
          <p:nvPr/>
        </p:nvSpPr>
        <p:spPr>
          <a:xfrm>
            <a:off x="685800" y="4553712"/>
            <a:ext cx="1737360" cy="201168"/>
          </a:xfrm>
          <a:prstGeom prst="rect">
            <a:avLst/>
          </a:prstGeom>
          <a:noFill/>
          <a:ln/>
        </p:spPr>
        <p:txBody>
          <a:bodyPr wrap="square" lIns="0" tIns="0" rIns="0" bIns="0" rtlCol="0" anchor="ctr">
            <a:normAutofit/>
          </a:bodyPr>
          <a:lstStyle/>
          <a:p>
            <a:pPr algn="l" indent="0" marL="0">
              <a:buNone/>
            </a:pPr>
            <a:r>
              <a:rPr lang="en-US" sz="950" dirty="0">
                <a:solidFill>
                  <a:srgbClr val="152238"/>
                </a:solidFill>
                <a:latin typeface="Arial" pitchFamily="34" charset="0"/>
                <a:ea typeface="Arial" pitchFamily="34" charset="-122"/>
                <a:cs typeface="Arial" pitchFamily="34" charset="-120"/>
              </a:rPr>
              <a:t>Girl's Shorts (Green)</a:t>
            </a:r>
            <a:endParaRPr lang="en-US" sz="950" dirty="0"/>
          </a:p>
        </p:txBody>
      </p:sp>
      <p:sp>
        <p:nvSpPr>
          <p:cNvPr id="54" name="Text 52"/>
          <p:cNvSpPr txBox="1"/>
          <p:nvPr/>
        </p:nvSpPr>
        <p:spPr>
          <a:xfrm>
            <a:off x="2606040" y="4553712"/>
            <a:ext cx="173736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25</a:t>
            </a:r>
            <a:endParaRPr lang="en-US" sz="950" dirty="0"/>
          </a:p>
        </p:txBody>
      </p:sp>
      <p:sp>
        <p:nvSpPr>
          <p:cNvPr id="55" name="Text 53"/>
          <p:cNvSpPr txBox="1"/>
          <p:nvPr/>
        </p:nvSpPr>
        <p:spPr>
          <a:xfrm>
            <a:off x="4663440" y="4553712"/>
            <a:ext cx="109728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$705.25</a:t>
            </a:r>
            <a:endParaRPr lang="en-US" sz="950" dirty="0"/>
          </a:p>
        </p:txBody>
      </p:sp>
      <p:sp>
        <p:nvSpPr>
          <p:cNvPr id="56" name="Text 54"/>
          <p:cNvSpPr txBox="1"/>
          <p:nvPr/>
        </p:nvSpPr>
        <p:spPr>
          <a:xfrm>
            <a:off x="6080760" y="4553712"/>
            <a:ext cx="123444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0</a:t>
            </a:r>
            <a:endParaRPr lang="en-US" sz="950" dirty="0"/>
          </a:p>
        </p:txBody>
      </p:sp>
      <p:sp>
        <p:nvSpPr>
          <p:cNvPr id="57" name="Text 55"/>
          <p:cNvSpPr txBox="1"/>
          <p:nvPr/>
        </p:nvSpPr>
        <p:spPr>
          <a:xfrm>
            <a:off x="7726680" y="4553712"/>
            <a:ext cx="1325880" cy="201168"/>
          </a:xfrm>
          <a:prstGeom prst="rect">
            <a:avLst/>
          </a:prstGeom>
          <a:noFill/>
          <a:ln/>
        </p:spPr>
        <p:txBody>
          <a:bodyPr wrap="square" lIns="0" tIns="0" rIns="0" bIns="0" rtlCol="0" anchor="ctr">
            <a:normAutofit/>
          </a:bodyPr>
          <a:lstStyle/>
          <a:p>
            <a:pPr algn="ctr" indent="0" marL="0">
              <a:buNone/>
            </a:pPr>
            <a:r>
              <a:rPr lang="en-US" sz="950" b="1" dirty="0">
                <a:solidFill>
                  <a:srgbClr val="D95D39"/>
                </a:solidFill>
                <a:latin typeface="Arial" pitchFamily="34" charset="0"/>
                <a:ea typeface="Arial" pitchFamily="34" charset="-122"/>
                <a:cs typeface="Arial" pitchFamily="34" charset="-120"/>
              </a:rPr>
              <a:t>CRITICAL</a:t>
            </a:r>
            <a:endParaRPr lang="en-US" sz="950" dirty="0"/>
          </a:p>
        </p:txBody>
      </p:sp>
      <p:sp>
        <p:nvSpPr>
          <p:cNvPr id="58" name="Text 56"/>
          <p:cNvSpPr txBox="1"/>
          <p:nvPr/>
        </p:nvSpPr>
        <p:spPr>
          <a:xfrm>
            <a:off x="9464040" y="4553712"/>
            <a:ext cx="2057400" cy="201168"/>
          </a:xfrm>
          <a:prstGeom prst="rect">
            <a:avLst/>
          </a:prstGeom>
          <a:noFill/>
          <a:ln/>
        </p:spPr>
        <p:txBody>
          <a:bodyPr wrap="square" lIns="0" tIns="0" rIns="0" bIns="0" rtlCol="0" anchor="ctr">
            <a:normAutofit/>
          </a:bodyPr>
          <a:lstStyle/>
          <a:p>
            <a:pPr algn="ctr" indent="0" marL="0">
              <a:buNone/>
            </a:pPr>
            <a:r>
              <a:rPr lang="en-US" sz="950" b="1" dirty="0">
                <a:solidFill>
                  <a:srgbClr val="152238"/>
                </a:solidFill>
                <a:latin typeface="Arial" pitchFamily="34" charset="0"/>
                <a:ea typeface="Arial" pitchFamily="34" charset="-122"/>
                <a:cs typeface="Arial" pitchFamily="34" charset="-120"/>
              </a:rPr>
              <a:t>Urgent</a:t>
            </a:r>
            <a:endParaRPr lang="en-US" sz="950" dirty="0"/>
          </a:p>
        </p:txBody>
      </p:sp>
      <p:sp>
        <p:nvSpPr>
          <p:cNvPr id="59" name="Shape 57"/>
          <p:cNvSpPr/>
          <p:nvPr/>
        </p:nvSpPr>
        <p:spPr>
          <a:xfrm>
            <a:off x="594360" y="4928616"/>
            <a:ext cx="11018520" cy="411480"/>
          </a:xfrm>
          <a:prstGeom prst="roundRect">
            <a:avLst>
              <a:gd name="adj" fmla="val 11111"/>
            </a:avLst>
          </a:prstGeom>
          <a:solidFill>
            <a:srgbClr val="FFFFFF"/>
          </a:solidFill>
          <a:ln w="12700">
            <a:solidFill>
              <a:srgbClr val="FFFFFF">
                <a:alpha val="0"/>
              </a:srgbClr>
            </a:solidFill>
            <a:prstDash val="solid"/>
          </a:ln>
        </p:spPr>
        <p:txBody>
          <a:bodyPr/>
          <a:p/>
        </p:txBody>
      </p:sp>
      <p:sp>
        <p:nvSpPr>
          <p:cNvPr id="60" name="Text 58"/>
          <p:cNvSpPr txBox="1"/>
          <p:nvPr/>
        </p:nvSpPr>
        <p:spPr>
          <a:xfrm>
            <a:off x="685800" y="5001768"/>
            <a:ext cx="1737360" cy="201168"/>
          </a:xfrm>
          <a:prstGeom prst="rect">
            <a:avLst/>
          </a:prstGeom>
          <a:noFill/>
          <a:ln/>
        </p:spPr>
        <p:txBody>
          <a:bodyPr wrap="square" lIns="0" tIns="0" rIns="0" bIns="0" rtlCol="0" anchor="ctr">
            <a:normAutofit/>
          </a:bodyPr>
          <a:lstStyle/>
          <a:p>
            <a:pPr algn="l" indent="0" marL="0">
              <a:buNone/>
            </a:pPr>
            <a:r>
              <a:rPr lang="en-US" sz="950" dirty="0">
                <a:solidFill>
                  <a:srgbClr val="152238"/>
                </a:solidFill>
                <a:latin typeface="Arial" pitchFamily="34" charset="0"/>
                <a:ea typeface="Arial" pitchFamily="34" charset="-122"/>
                <a:cs typeface="Arial" pitchFamily="34" charset="-120"/>
              </a:rPr>
              <a:t>Men's Shorts (Black)</a:t>
            </a:r>
            <a:endParaRPr lang="en-US" sz="950" dirty="0"/>
          </a:p>
        </p:txBody>
      </p:sp>
      <p:sp>
        <p:nvSpPr>
          <p:cNvPr id="61" name="Text 59"/>
          <p:cNvSpPr txBox="1"/>
          <p:nvPr/>
        </p:nvSpPr>
        <p:spPr>
          <a:xfrm>
            <a:off x="2606040" y="5001768"/>
            <a:ext cx="173736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25</a:t>
            </a:r>
            <a:endParaRPr lang="en-US" sz="950" dirty="0"/>
          </a:p>
        </p:txBody>
      </p:sp>
      <p:sp>
        <p:nvSpPr>
          <p:cNvPr id="62" name="Text 60"/>
          <p:cNvSpPr txBox="1"/>
          <p:nvPr/>
        </p:nvSpPr>
        <p:spPr>
          <a:xfrm>
            <a:off x="4663440" y="5001768"/>
            <a:ext cx="109728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$994.50</a:t>
            </a:r>
            <a:endParaRPr lang="en-US" sz="950" dirty="0"/>
          </a:p>
        </p:txBody>
      </p:sp>
      <p:sp>
        <p:nvSpPr>
          <p:cNvPr id="63" name="Text 61"/>
          <p:cNvSpPr txBox="1"/>
          <p:nvPr/>
        </p:nvSpPr>
        <p:spPr>
          <a:xfrm>
            <a:off x="6080760" y="5001768"/>
            <a:ext cx="123444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12</a:t>
            </a:r>
            <a:endParaRPr lang="en-US" sz="950" dirty="0"/>
          </a:p>
        </p:txBody>
      </p:sp>
      <p:sp>
        <p:nvSpPr>
          <p:cNvPr id="64" name="Text 62"/>
          <p:cNvSpPr txBox="1"/>
          <p:nvPr/>
        </p:nvSpPr>
        <p:spPr>
          <a:xfrm>
            <a:off x="7726680" y="5001768"/>
            <a:ext cx="1325880" cy="201168"/>
          </a:xfrm>
          <a:prstGeom prst="rect">
            <a:avLst/>
          </a:prstGeom>
          <a:noFill/>
          <a:ln/>
        </p:spPr>
        <p:txBody>
          <a:bodyPr wrap="square" lIns="0" tIns="0" rIns="0" bIns="0" rtlCol="0" anchor="ctr">
            <a:normAutofit/>
          </a:bodyPr>
          <a:lstStyle/>
          <a:p>
            <a:pPr algn="ctr" indent="0" marL="0">
              <a:buNone/>
            </a:pPr>
            <a:r>
              <a:rPr lang="en-US" sz="950" b="1" dirty="0">
                <a:solidFill>
                  <a:srgbClr val="008C95"/>
                </a:solidFill>
                <a:latin typeface="Arial" pitchFamily="34" charset="0"/>
                <a:ea typeface="Arial" pitchFamily="34" charset="-122"/>
                <a:cs typeface="Arial" pitchFamily="34" charset="-120"/>
              </a:rPr>
              <a:t>HOT</a:t>
            </a:r>
            <a:endParaRPr lang="en-US" sz="950" dirty="0"/>
          </a:p>
        </p:txBody>
      </p:sp>
      <p:sp>
        <p:nvSpPr>
          <p:cNvPr id="65" name="Text 63"/>
          <p:cNvSpPr txBox="1"/>
          <p:nvPr/>
        </p:nvSpPr>
        <p:spPr>
          <a:xfrm>
            <a:off x="9464040" y="5001768"/>
            <a:ext cx="2057400" cy="201168"/>
          </a:xfrm>
          <a:prstGeom prst="rect">
            <a:avLst/>
          </a:prstGeom>
          <a:noFill/>
          <a:ln/>
        </p:spPr>
        <p:txBody>
          <a:bodyPr wrap="square" lIns="0" tIns="0" rIns="0" bIns="0" rtlCol="0" anchor="ctr">
            <a:normAutofit/>
          </a:bodyPr>
          <a:lstStyle/>
          <a:p>
            <a:pPr algn="ctr" indent="0" marL="0">
              <a:buNone/>
            </a:pPr>
            <a:r>
              <a:rPr lang="en-US" sz="950" b="1" dirty="0">
                <a:solidFill>
                  <a:srgbClr val="152238"/>
                </a:solidFill>
                <a:latin typeface="Arial" pitchFamily="34" charset="0"/>
                <a:ea typeface="Arial" pitchFamily="34" charset="-122"/>
                <a:cs typeface="Arial" pitchFamily="34" charset="-120"/>
              </a:rPr>
              <a:t>Replenish</a:t>
            </a:r>
            <a:endParaRPr lang="en-US" sz="950" dirty="0"/>
          </a:p>
        </p:txBody>
      </p:sp>
      <p:sp>
        <p:nvSpPr>
          <p:cNvPr id="66" name="Shape 64"/>
          <p:cNvSpPr/>
          <p:nvPr/>
        </p:nvSpPr>
        <p:spPr>
          <a:xfrm>
            <a:off x="594360" y="5376672"/>
            <a:ext cx="11018520" cy="411480"/>
          </a:xfrm>
          <a:prstGeom prst="roundRect">
            <a:avLst>
              <a:gd name="adj" fmla="val 11111"/>
            </a:avLst>
          </a:prstGeom>
          <a:solidFill>
            <a:srgbClr val="F0F4F8"/>
          </a:solidFill>
          <a:ln w="12700">
            <a:solidFill>
              <a:srgbClr val="F0F4F8">
                <a:alpha val="0"/>
              </a:srgbClr>
            </a:solidFill>
            <a:prstDash val="solid"/>
          </a:ln>
        </p:spPr>
        <p:txBody>
          <a:bodyPr/>
          <a:p/>
        </p:txBody>
      </p:sp>
      <p:sp>
        <p:nvSpPr>
          <p:cNvPr id="67" name="Text 65"/>
          <p:cNvSpPr txBox="1"/>
          <p:nvPr/>
        </p:nvSpPr>
        <p:spPr>
          <a:xfrm>
            <a:off x="685800" y="5449824"/>
            <a:ext cx="1737360" cy="201168"/>
          </a:xfrm>
          <a:prstGeom prst="rect">
            <a:avLst/>
          </a:prstGeom>
          <a:noFill/>
          <a:ln/>
        </p:spPr>
        <p:txBody>
          <a:bodyPr wrap="square" lIns="0" tIns="0" rIns="0" bIns="0" rtlCol="0" anchor="ctr">
            <a:normAutofit/>
          </a:bodyPr>
          <a:lstStyle/>
          <a:p>
            <a:pPr algn="l" indent="0" marL="0">
              <a:buNone/>
            </a:pPr>
            <a:r>
              <a:rPr lang="en-US" sz="950" dirty="0">
                <a:solidFill>
                  <a:srgbClr val="152238"/>
                </a:solidFill>
                <a:latin typeface="Arial" pitchFamily="34" charset="0"/>
                <a:ea typeface="Arial" pitchFamily="34" charset="-122"/>
                <a:cs typeface="Arial" pitchFamily="34" charset="-120"/>
              </a:rPr>
              <a:t>Girl's Hoodie (White)</a:t>
            </a:r>
            <a:endParaRPr lang="en-US" sz="950" dirty="0"/>
          </a:p>
        </p:txBody>
      </p:sp>
      <p:sp>
        <p:nvSpPr>
          <p:cNvPr id="68" name="Text 66"/>
          <p:cNvSpPr txBox="1"/>
          <p:nvPr/>
        </p:nvSpPr>
        <p:spPr>
          <a:xfrm>
            <a:off x="2606040" y="5449824"/>
            <a:ext cx="173736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23</a:t>
            </a:r>
            <a:endParaRPr lang="en-US" sz="950" dirty="0"/>
          </a:p>
        </p:txBody>
      </p:sp>
      <p:sp>
        <p:nvSpPr>
          <p:cNvPr id="69" name="Text 67"/>
          <p:cNvSpPr txBox="1"/>
          <p:nvPr/>
        </p:nvSpPr>
        <p:spPr>
          <a:xfrm>
            <a:off x="4663440" y="5449824"/>
            <a:ext cx="109728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$1,121.25</a:t>
            </a:r>
            <a:endParaRPr lang="en-US" sz="950" dirty="0"/>
          </a:p>
        </p:txBody>
      </p:sp>
      <p:sp>
        <p:nvSpPr>
          <p:cNvPr id="70" name="Text 68"/>
          <p:cNvSpPr txBox="1"/>
          <p:nvPr/>
        </p:nvSpPr>
        <p:spPr>
          <a:xfrm>
            <a:off x="6080760" y="5449824"/>
            <a:ext cx="1234440" cy="201168"/>
          </a:xfrm>
          <a:prstGeom prst="rect">
            <a:avLst/>
          </a:prstGeom>
          <a:noFill/>
          <a:ln/>
        </p:spPr>
        <p:txBody>
          <a:bodyPr wrap="square" lIns="0" tIns="0" rIns="0" bIns="0" rtlCol="0" anchor="ctr">
            <a:normAutofit/>
          </a:bodyPr>
          <a:lstStyle/>
          <a:p>
            <a:pPr algn="ctr" indent="0" marL="0">
              <a:buNone/>
            </a:pPr>
            <a:r>
              <a:rPr lang="en-US" sz="950" dirty="0">
                <a:solidFill>
                  <a:srgbClr val="152238"/>
                </a:solidFill>
                <a:latin typeface="Arial" pitchFamily="34" charset="0"/>
                <a:ea typeface="Arial" pitchFamily="34" charset="-122"/>
                <a:cs typeface="Arial" pitchFamily="34" charset="-120"/>
              </a:rPr>
              <a:t>9</a:t>
            </a:r>
            <a:endParaRPr lang="en-US" sz="950" dirty="0"/>
          </a:p>
        </p:txBody>
      </p:sp>
      <p:sp>
        <p:nvSpPr>
          <p:cNvPr id="71" name="Text 69"/>
          <p:cNvSpPr txBox="1"/>
          <p:nvPr/>
        </p:nvSpPr>
        <p:spPr>
          <a:xfrm>
            <a:off x="7726680" y="5449824"/>
            <a:ext cx="1325880" cy="201168"/>
          </a:xfrm>
          <a:prstGeom prst="rect">
            <a:avLst/>
          </a:prstGeom>
          <a:noFill/>
          <a:ln/>
        </p:spPr>
        <p:txBody>
          <a:bodyPr wrap="square" lIns="0" tIns="0" rIns="0" bIns="0" rtlCol="0" anchor="ctr">
            <a:normAutofit/>
          </a:bodyPr>
          <a:lstStyle/>
          <a:p>
            <a:pPr algn="ctr" indent="0" marL="0">
              <a:buNone/>
            </a:pPr>
            <a:r>
              <a:rPr lang="en-US" sz="950" b="1" dirty="0">
                <a:solidFill>
                  <a:srgbClr val="008C95"/>
                </a:solidFill>
                <a:latin typeface="Arial" pitchFamily="34" charset="0"/>
                <a:ea typeface="Arial" pitchFamily="34" charset="-122"/>
                <a:cs typeface="Arial" pitchFamily="34" charset="-120"/>
              </a:rPr>
              <a:t>HOT</a:t>
            </a:r>
            <a:endParaRPr lang="en-US" sz="950" dirty="0"/>
          </a:p>
        </p:txBody>
      </p:sp>
      <p:sp>
        <p:nvSpPr>
          <p:cNvPr id="72" name="Text 70"/>
          <p:cNvSpPr txBox="1"/>
          <p:nvPr/>
        </p:nvSpPr>
        <p:spPr>
          <a:xfrm>
            <a:off x="9464040" y="5449824"/>
            <a:ext cx="2057400" cy="201168"/>
          </a:xfrm>
          <a:prstGeom prst="rect">
            <a:avLst/>
          </a:prstGeom>
          <a:noFill/>
          <a:ln/>
        </p:spPr>
        <p:txBody>
          <a:bodyPr wrap="square" lIns="0" tIns="0" rIns="0" bIns="0" rtlCol="0" anchor="ctr">
            <a:normAutofit/>
          </a:bodyPr>
          <a:lstStyle/>
          <a:p>
            <a:pPr algn="ctr" indent="0" marL="0">
              <a:buNone/>
            </a:pPr>
            <a:r>
              <a:rPr lang="en-US" sz="950" b="1" dirty="0">
                <a:solidFill>
                  <a:srgbClr val="152238"/>
                </a:solidFill>
                <a:latin typeface="Arial" pitchFamily="34" charset="0"/>
                <a:ea typeface="Arial" pitchFamily="34" charset="-122"/>
                <a:cs typeface="Arial" pitchFamily="34" charset="-120"/>
              </a:rPr>
              <a:t>Prioritize</a:t>
            </a:r>
            <a:endParaRPr lang="en-US" sz="950" dirty="0"/>
          </a:p>
        </p:txBody>
      </p:sp>
      <p:sp>
        <p:nvSpPr>
          <p:cNvPr id="73" name="Shape 71"/>
          <p:cNvSpPr/>
          <p:nvPr/>
        </p:nvSpPr>
        <p:spPr>
          <a:xfrm>
            <a:off x="594360" y="5989320"/>
            <a:ext cx="11018520" cy="310896"/>
          </a:xfrm>
          <a:prstGeom prst="roundRect">
            <a:avLst>
              <a:gd name="adj" fmla="val 35294"/>
            </a:avLst>
          </a:prstGeom>
          <a:solidFill>
            <a:srgbClr val="EAF7F8"/>
          </a:solidFill>
          <a:ln w="12700">
            <a:solidFill>
              <a:srgbClr val="EAF7F8">
                <a:alpha val="0"/>
              </a:srgbClr>
            </a:solidFill>
            <a:prstDash val="solid"/>
          </a:ln>
        </p:spPr>
        <p:txBody>
          <a:bodyPr/>
          <a:p/>
        </p:txBody>
      </p:sp>
      <p:sp>
        <p:nvSpPr>
          <p:cNvPr id="74" name="Text 72"/>
          <p:cNvSpPr txBox="1"/>
          <p:nvPr/>
        </p:nvSpPr>
        <p:spPr>
          <a:xfrm>
            <a:off x="749808" y="6053328"/>
            <a:ext cx="10698480" cy="182880"/>
          </a:xfrm>
          <a:prstGeom prst="rect">
            <a:avLst/>
          </a:prstGeom>
          <a:noFill/>
          <a:ln/>
        </p:spPr>
        <p:txBody>
          <a:bodyPr wrap="square" lIns="0" tIns="0" rIns="0" bIns="0" rtlCol="0" anchor="ctr">
            <a:normAutofit/>
          </a:bodyPr>
          <a:lstStyle/>
          <a:p>
            <a:pPr algn="ctr" indent="0" marL="0">
              <a:buNone/>
            </a:pPr>
            <a:r>
              <a:rPr lang="en-US" sz="1050" b="1" dirty="0">
                <a:solidFill>
                  <a:srgbClr val="008C95"/>
                </a:solidFill>
                <a:latin typeface="Arial" pitchFamily="34" charset="0"/>
                <a:ea typeface="Arial" pitchFamily="34" charset="-122"/>
                <a:cs typeface="Arial" pitchFamily="34" charset="-120"/>
              </a:rPr>
              <a:t>Priority rule: high sales velocity with 0–12 units in stock requires replenishment review.</a:t>
            </a:r>
            <a:endParaRPr lang="en-US" sz="1050" dirty="0"/>
          </a:p>
        </p:txBody>
      </p:sp>
      <p:sp>
        <p:nvSpPr>
          <p:cNvPr id="25" name="Slide Number Placeholder 0"/>
          <p:cNvSpPr>
            <a:spLocks noGrp="1"/>
          </p:cNvSpPr>
          <p:nvPr>
            <p:ph type="sldNum" sz="quarter" idx="4294967295"/>
          </p:nvPr>
        </p:nvSpPr>
        <p:spPr>
          <a:xfrm>
            <a:off x="11686032" y="646480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8595"/>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2560320" cy="228600"/>
          </a:xfrm>
          <a:prstGeom prst="rect">
            <a:avLst/>
          </a:prstGeom>
          <a:noFill/>
          <a:ln/>
        </p:spPr>
        <p:txBody>
          <a:bodyPr wrap="square" lIns="0" tIns="0" rIns="0" bIns="0" rtlCol="0" anchor="ctr">
            <a:normAutofit/>
          </a:bodyPr>
          <a:lstStyle/>
          <a:p>
            <a:pPr algn="l" indent="0" marL="0">
              <a:buNone/>
            </a:pPr>
            <a:r>
              <a:rPr lang="en-US" sz="900" b="1" spc="110" kern="0" dirty="0">
                <a:solidFill>
                  <a:srgbClr val="008C95"/>
                </a:solidFill>
                <a:latin typeface="Arial" pitchFamily="34" charset="0"/>
                <a:ea typeface="Arial" pitchFamily="34" charset="-122"/>
                <a:cs typeface="Arial" pitchFamily="34" charset="-120"/>
              </a:rPr>
              <a:t>08 • ANALYSIS 3</a:t>
            </a:r>
            <a:endParaRPr lang="en-US" sz="900" dirty="0"/>
          </a:p>
        </p:txBody>
      </p:sp>
      <p:sp>
        <p:nvSpPr>
          <p:cNvPr id="3" name="Text 1"/>
          <p:cNvSpPr txBox="1"/>
          <p:nvPr/>
        </p:nvSpPr>
        <p:spPr>
          <a:xfrm>
            <a:off x="548640" y="640080"/>
            <a:ext cx="10607040" cy="566928"/>
          </a:xfrm>
          <a:prstGeom prst="rect">
            <a:avLst/>
          </a:prstGeom>
          <a:noFill/>
          <a:ln/>
        </p:spPr>
        <p:txBody>
          <a:bodyPr wrap="square" lIns="0" tIns="0" rIns="0" bIns="0" rtlCol="0" anchor="ctr">
            <a:normAutofit/>
          </a:bodyPr>
          <a:lstStyle/>
          <a:p>
            <a:pPr algn="l" indent="0" marL="0">
              <a:buNone/>
            </a:pPr>
            <a:r>
              <a:rPr lang="en-US" sz="2900" b="1" dirty="0">
                <a:solidFill>
                  <a:srgbClr val="14213D"/>
                </a:solidFill>
                <a:latin typeface="Cambria" pitchFamily="34" charset="0"/>
                <a:ea typeface="Cambria" pitchFamily="34" charset="-122"/>
                <a:cs typeface="Cambria" pitchFamily="34" charset="-120"/>
              </a:rPr>
              <a:t>Repeat customer rate</a:t>
            </a:r>
            <a:endParaRPr lang="en-US" sz="2900" dirty="0"/>
          </a:p>
        </p:txBody>
      </p:sp>
      <p:sp>
        <p:nvSpPr>
          <p:cNvPr id="4" name="Text 2"/>
          <p:cNvSpPr txBox="1"/>
          <p:nvPr/>
        </p:nvSpPr>
        <p:spPr>
          <a:xfrm>
            <a:off x="548640" y="1243584"/>
            <a:ext cx="10607040" cy="384048"/>
          </a:xfrm>
          <a:prstGeom prst="rect">
            <a:avLst/>
          </a:prstGeom>
          <a:noFill/>
          <a:ln/>
        </p:spPr>
        <p:txBody>
          <a:bodyPr wrap="square" lIns="0" tIns="0" rIns="0" bIns="0" rtlCol="0" anchor="ctr">
            <a:normAutofit/>
          </a:bodyPr>
          <a:lstStyle/>
          <a:p>
            <a:pPr algn="l" indent="0" marL="0">
              <a:buNone/>
            </a:pPr>
            <a:r>
              <a:rPr lang="en-US" sz="1250" dirty="0">
                <a:solidFill>
                  <a:srgbClr val="667085"/>
                </a:solidFill>
                <a:latin typeface="Arial" pitchFamily="34" charset="0"/>
                <a:ea typeface="Arial" pitchFamily="34" charset="-122"/>
                <a:cs typeface="Arial" pitchFamily="34" charset="-120"/>
              </a:rPr>
              <a:t>Share of customers with more than one purchase.</a:t>
            </a:r>
            <a:endParaRPr lang="en-US" sz="1250" dirty="0"/>
          </a:p>
        </p:txBody>
      </p:sp>
      <p:sp>
        <p:nvSpPr>
          <p:cNvPr id="5" name="Shape 3"/>
          <p:cNvSpPr/>
          <p:nvPr/>
        </p:nvSpPr>
        <p:spPr>
          <a:xfrm>
            <a:off x="594360" y="1755648"/>
            <a:ext cx="6903720" cy="3611880"/>
          </a:xfrm>
          <a:prstGeom prst="roundRect">
            <a:avLst>
              <a:gd name="adj" fmla="val 3797"/>
            </a:avLst>
          </a:prstGeom>
          <a:solidFill>
            <a:srgbClr val="14213D"/>
          </a:solidFill>
          <a:ln w="12700">
            <a:solidFill>
              <a:srgbClr val="14213D">
                <a:alpha val="0"/>
              </a:srgbClr>
            </a:solidFill>
            <a:prstDash val="solid"/>
          </a:ln>
        </p:spPr>
      </p:sp>
      <p:sp>
        <p:nvSpPr>
          <p:cNvPr id="6" name="Text 4"/>
          <p:cNvSpPr txBox="1"/>
          <p:nvPr/>
        </p:nvSpPr>
        <p:spPr>
          <a:xfrm>
            <a:off x="758952" y="1901952"/>
            <a:ext cx="6574536" cy="3355848"/>
          </a:xfrm>
          <a:prstGeom prst="rect">
            <a:avLst/>
          </a:prstGeom>
          <a:noFill/>
          <a:ln/>
        </p:spPr>
        <p:txBody>
          <a:bodyPr wrap="square" lIns="0" tIns="0" rIns="0" bIns="0" rtlCol="0" anchor="t">
            <a:normAutofit/>
          </a:bodyPr>
          <a:lstStyle/>
          <a:p>
            <a:pPr algn="l" indent="0" marL="0">
              <a:buNone/>
            </a:pPr>
            <a:r>
              <a:rPr lang="en-US" sz="1070" dirty="0">
                <a:solidFill>
                  <a:srgbClr val="EAF0F7"/>
                </a:solidFill>
                <a:latin typeface="Courier New" pitchFamily="34" charset="0"/>
                <a:ea typeface="Courier New" pitchFamily="34" charset="-122"/>
                <a:cs typeface="Courier New" pitchFamily="34" charset="-120"/>
              </a:rPr>
              <a:t>WITH Customer_Order_Count AS (</a:t>
            </a:r>
            <a:endParaRPr lang="en-US" sz="1070" dirty="0"/>
          </a:p>
          <a:p>
            <a:pPr algn="l" indent="0" marL="0">
              <a:buNone/>
            </a:pPr>
            <a:r>
              <a:rPr lang="en-US" sz="1070" dirty="0">
                <a:solidFill>
                  <a:srgbClr val="EAF0F7"/>
                </a:solidFill>
                <a:latin typeface="Courier New" pitchFamily="34" charset="0"/>
                <a:ea typeface="Courier New" pitchFamily="34" charset="-122"/>
                <a:cs typeface="Courier New" pitchFamily="34" charset="-120"/>
              </a:rPr>
              <a:t>  SELECT c.Customer_ID, c.Full_Name,</a:t>
            </a:r>
            <a:endParaRPr lang="en-US" sz="1070" dirty="0"/>
          </a:p>
          <a:p>
            <a:pPr algn="l" indent="0" marL="0">
              <a:buNone/>
            </a:pPr>
            <a:r>
              <a:rPr lang="en-US" sz="1070" dirty="0">
                <a:solidFill>
                  <a:srgbClr val="EAF0F7"/>
                </a:solidFill>
                <a:latin typeface="Courier New" pitchFamily="34" charset="0"/>
                <a:ea typeface="Courier New" pitchFamily="34" charset="-122"/>
                <a:cs typeface="Courier New" pitchFamily="34" charset="-120"/>
              </a:rPr>
              <a:t>         COUNT(DISTINCT o.Order_Id) AS Total_Orders</a:t>
            </a:r>
            <a:endParaRPr lang="en-US" sz="1070" dirty="0"/>
          </a:p>
          <a:p>
            <a:pPr algn="l" indent="0" marL="0">
              <a:buNone/>
            </a:pPr>
            <a:r>
              <a:rPr lang="en-US" sz="1070" dirty="0">
                <a:solidFill>
                  <a:srgbClr val="EAF0F7"/>
                </a:solidFill>
                <a:latin typeface="Courier New" pitchFamily="34" charset="0"/>
                <a:ea typeface="Courier New" pitchFamily="34" charset="-122"/>
                <a:cs typeface="Courier New" pitchFamily="34" charset="-120"/>
              </a:rPr>
              <a:t>  FROM customers c</a:t>
            </a:r>
            <a:endParaRPr lang="en-US" sz="1070" dirty="0"/>
          </a:p>
          <a:p>
            <a:pPr algn="l" indent="0" marL="0">
              <a:buNone/>
            </a:pPr>
            <a:r>
              <a:rPr lang="en-US" sz="1070" dirty="0">
                <a:solidFill>
                  <a:srgbClr val="EAF0F7"/>
                </a:solidFill>
                <a:latin typeface="Courier New" pitchFamily="34" charset="0"/>
                <a:ea typeface="Courier New" pitchFamily="34" charset="-122"/>
                <a:cs typeface="Courier New" pitchFamily="34" charset="-120"/>
              </a:rPr>
              <a:t>  INNER JOIN orders o ON c.Customer_ID=o.Customer_ID</a:t>
            </a:r>
            <a:endParaRPr lang="en-US" sz="1070" dirty="0"/>
          </a:p>
          <a:p>
            <a:pPr algn="l" indent="0" marL="0">
              <a:buNone/>
            </a:pPr>
            <a:r>
              <a:rPr lang="en-US" sz="1070" dirty="0">
                <a:solidFill>
                  <a:srgbClr val="EAF0F7"/>
                </a:solidFill>
                <a:latin typeface="Courier New" pitchFamily="34" charset="0"/>
                <a:ea typeface="Courier New" pitchFamily="34" charset="-122"/>
                <a:cs typeface="Courier New" pitchFamily="34" charset="-120"/>
              </a:rPr>
              <a:t>  GROUP BY c.Customer_ID, c.Full_Name</a:t>
            </a:r>
            <a:endParaRPr lang="en-US" sz="1070" dirty="0"/>
          </a:p>
          <a:p>
            <a:pPr algn="l" indent="0" marL="0">
              <a:buNone/>
            </a:pPr>
            <a:r>
              <a:rPr lang="en-US" sz="1070" dirty="0">
                <a:solidFill>
                  <a:srgbClr val="EAF0F7"/>
                </a:solidFill>
                <a:latin typeface="Courier New" pitchFamily="34" charset="0"/>
                <a:ea typeface="Courier New" pitchFamily="34" charset="-122"/>
                <a:cs typeface="Courier New" pitchFamily="34" charset="-120"/>
              </a:rPr>
              <a:t>)</a:t>
            </a:r>
            <a:endParaRPr lang="en-US" sz="1070" dirty="0"/>
          </a:p>
          <a:p>
            <a:pPr algn="l" indent="0" marL="0">
              <a:buNone/>
            </a:pPr>
            <a:r>
              <a:rPr lang="en-US" sz="1070" dirty="0">
                <a:solidFill>
                  <a:srgbClr val="EAF0F7"/>
                </a:solidFill>
                <a:latin typeface="Courier New" pitchFamily="34" charset="0"/>
                <a:ea typeface="Courier New" pitchFamily="34" charset="-122"/>
                <a:cs typeface="Courier New" pitchFamily="34" charset="-120"/>
              </a:rPr>
              <a:t>SELECT COUNT(*) AS Total_Customers,</a:t>
            </a:r>
            <a:endParaRPr lang="en-US" sz="1070" dirty="0"/>
          </a:p>
          <a:p>
            <a:pPr algn="l" indent="0" marL="0">
              <a:buNone/>
            </a:pPr>
            <a:r>
              <a:rPr lang="en-US" sz="1070" dirty="0">
                <a:solidFill>
                  <a:srgbClr val="EAF0F7"/>
                </a:solidFill>
                <a:latin typeface="Courier New" pitchFamily="34" charset="0"/>
                <a:ea typeface="Courier New" pitchFamily="34" charset="-122"/>
                <a:cs typeface="Courier New" pitchFamily="34" charset="-120"/>
              </a:rPr>
              <a:t>       SUM(CASE WHEN Total_Orders &gt; 1 THEN 1 ELSE 0 END) AS Repeat_Customers,</a:t>
            </a:r>
            <a:endParaRPr lang="en-US" sz="1070" dirty="0"/>
          </a:p>
          <a:p>
            <a:pPr algn="l" indent="0" marL="0">
              <a:buNone/>
            </a:pPr>
            <a:r>
              <a:rPr lang="en-US" sz="1070" dirty="0">
                <a:solidFill>
                  <a:srgbClr val="EAF0F7"/>
                </a:solidFill>
                <a:latin typeface="Courier New" pitchFamily="34" charset="0"/>
                <a:ea typeface="Courier New" pitchFamily="34" charset="-122"/>
                <a:cs typeface="Courier New" pitchFamily="34" charset="-120"/>
              </a:rPr>
              <a:t>       SUM(CASE WHEN Total_Orders = 1 THEN 1 ELSE 0 END) AS One_Time_Customers,</a:t>
            </a:r>
            <a:endParaRPr lang="en-US" sz="1070" dirty="0"/>
          </a:p>
          <a:p>
            <a:pPr algn="l" indent="0" marL="0">
              <a:buNone/>
            </a:pPr>
            <a:r>
              <a:rPr lang="en-US" sz="1070" dirty="0">
                <a:solidFill>
                  <a:srgbClr val="EAF0F7"/>
                </a:solidFill>
                <a:latin typeface="Courier New" pitchFamily="34" charset="0"/>
                <a:ea typeface="Courier New" pitchFamily="34" charset="-122"/>
                <a:cs typeface="Courier New" pitchFamily="34" charset="-120"/>
              </a:rPr>
              <a:t>       ROUND(SUM(CASE WHEN Total_Orders &gt; 1 THEN 1 ELSE 0 END)</a:t>
            </a:r>
            <a:endParaRPr lang="en-US" sz="1070" dirty="0"/>
          </a:p>
          <a:p>
            <a:pPr algn="l" indent="0" marL="0">
              <a:buNone/>
            </a:pPr>
            <a:r>
              <a:rPr lang="en-US" sz="1070" dirty="0">
                <a:solidFill>
                  <a:srgbClr val="EAF0F7"/>
                </a:solidFill>
                <a:latin typeface="Courier New" pitchFamily="34" charset="0"/>
                <a:ea typeface="Courier New" pitchFamily="34" charset="-122"/>
                <a:cs typeface="Courier New" pitchFamily="34" charset="-120"/>
              </a:rPr>
              <a:t>             * 100.0 / COUNT(*),2) AS Repeat_Customer_Rate_Pct</a:t>
            </a:r>
            <a:endParaRPr lang="en-US" sz="1070" dirty="0"/>
          </a:p>
          <a:p>
            <a:pPr algn="l" indent="0" marL="0">
              <a:buNone/>
            </a:pPr>
            <a:r>
              <a:rPr lang="en-US" sz="1070" dirty="0">
                <a:solidFill>
                  <a:srgbClr val="EAF0F7"/>
                </a:solidFill>
                <a:latin typeface="Courier New" pitchFamily="34" charset="0"/>
                <a:ea typeface="Courier New" pitchFamily="34" charset="-122"/>
                <a:cs typeface="Courier New" pitchFamily="34" charset="-120"/>
              </a:rPr>
              <a:t>FROM Customer_Order_Count;</a:t>
            </a:r>
            <a:endParaRPr lang="en-US" sz="1070" dirty="0"/>
          </a:p>
        </p:txBody>
      </p:sp>
      <p:graphicFrame>
        <p:nvGraphicFramePr>
          <p:cNvPr id="7" name="Chart 0" descr=""/>
          <p:cNvGraphicFramePr/>
          <p:nvPr/>
        </p:nvGraphicFramePr>
        <p:xfrm>
          <a:off x="7818120" y="1810512"/>
          <a:ext cx="3566160" cy="3017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8339328" y="2724912"/>
            <a:ext cx="2514600" cy="512064"/>
          </a:xfrm>
          <a:prstGeom prst="rect">
            <a:avLst/>
          </a:prstGeom>
          <a:noFill/>
          <a:ln/>
        </p:spPr>
        <p:txBody>
          <a:bodyPr wrap="square" lIns="0" tIns="0" rIns="0" bIns="0" rtlCol="0" anchor="ctr">
            <a:normAutofit/>
          </a:bodyPr>
          <a:lstStyle/>
          <a:p>
            <a:pPr algn="ctr" indent="0" marL="0">
              <a:buNone/>
            </a:pPr>
            <a:r>
              <a:rPr lang="en-US" sz="2900" b="1" dirty="0">
                <a:solidFill>
                  <a:srgbClr val="14213D"/>
                </a:solidFill>
                <a:latin typeface="Cambria" pitchFamily="34" charset="0"/>
                <a:ea typeface="Cambria" pitchFamily="34" charset="-122"/>
                <a:cs typeface="Cambria" pitchFamily="34" charset="-120"/>
              </a:rPr>
              <a:t>31.62%</a:t>
            </a:r>
            <a:endParaRPr lang="en-US" sz="2900" dirty="0"/>
          </a:p>
        </p:txBody>
      </p:sp>
      <p:sp>
        <p:nvSpPr>
          <p:cNvPr id="9" name="Text 6"/>
          <p:cNvSpPr txBox="1"/>
          <p:nvPr/>
        </p:nvSpPr>
        <p:spPr>
          <a:xfrm>
            <a:off x="8339328" y="3218688"/>
            <a:ext cx="2514600" cy="219456"/>
          </a:xfrm>
          <a:prstGeom prst="rect">
            <a:avLst/>
          </a:prstGeom>
          <a:noFill/>
          <a:ln/>
        </p:spPr>
        <p:txBody>
          <a:bodyPr wrap="square" lIns="0" tIns="0" rIns="0" bIns="0" rtlCol="0" anchor="ctr">
            <a:normAutofit/>
          </a:bodyPr>
          <a:lstStyle/>
          <a:p>
            <a:pPr algn="ctr" indent="0" marL="0">
              <a:buNone/>
            </a:pPr>
            <a:r>
              <a:rPr lang="en-US" sz="1100" dirty="0">
                <a:solidFill>
                  <a:srgbClr val="667085"/>
                </a:solidFill>
                <a:latin typeface="Arial" pitchFamily="34" charset="0"/>
                <a:ea typeface="Arial" pitchFamily="34" charset="-122"/>
                <a:cs typeface="Arial" pitchFamily="34" charset="-120"/>
              </a:rPr>
              <a:t>repeat rate</a:t>
            </a:r>
            <a:endParaRPr lang="en-US" sz="1100" dirty="0"/>
          </a:p>
        </p:txBody>
      </p:sp>
      <p:sp>
        <p:nvSpPr>
          <p:cNvPr id="10" name="Shape 7"/>
          <p:cNvSpPr/>
          <p:nvPr/>
        </p:nvSpPr>
        <p:spPr>
          <a:xfrm>
            <a:off x="594360" y="5532120"/>
            <a:ext cx="3246120" cy="1051560"/>
          </a:xfrm>
          <a:prstGeom prst="roundRect">
            <a:avLst>
              <a:gd name="adj" fmla="val 13913"/>
            </a:avLst>
          </a:prstGeom>
          <a:solidFill>
            <a:srgbClr val="FFFFFF"/>
          </a:solidFill>
          <a:ln w="12700">
            <a:solidFill>
              <a:srgbClr val="FFFFFF">
                <a:alpha val="0"/>
              </a:srgbClr>
            </a:solidFill>
            <a:prstDash val="solid"/>
          </a:ln>
        </p:spPr>
      </p:sp>
      <p:sp>
        <p:nvSpPr>
          <p:cNvPr id="11" name="Shape 8"/>
          <p:cNvSpPr/>
          <p:nvPr/>
        </p:nvSpPr>
        <p:spPr>
          <a:xfrm>
            <a:off x="758952" y="5696712"/>
            <a:ext cx="201168" cy="201168"/>
          </a:xfrm>
          <a:prstGeom prst="ellipse">
            <a:avLst/>
          </a:prstGeom>
          <a:solidFill>
            <a:srgbClr val="008C95"/>
          </a:solidFill>
          <a:ln w="12700">
            <a:solidFill>
              <a:srgbClr val="008C95">
                <a:alpha val="0"/>
              </a:srgbClr>
            </a:solidFill>
            <a:prstDash val="solid"/>
          </a:ln>
        </p:spPr>
      </p:sp>
      <p:sp>
        <p:nvSpPr>
          <p:cNvPr id="12" name="Text 9"/>
          <p:cNvSpPr txBox="1"/>
          <p:nvPr/>
        </p:nvSpPr>
        <p:spPr>
          <a:xfrm>
            <a:off x="1051560" y="5669280"/>
            <a:ext cx="265176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43</a:t>
            </a:r>
            <a:endParaRPr lang="en-US" sz="2700" dirty="0"/>
          </a:p>
        </p:txBody>
      </p:sp>
      <p:sp>
        <p:nvSpPr>
          <p:cNvPr id="13" name="Text 10"/>
          <p:cNvSpPr txBox="1"/>
          <p:nvPr/>
        </p:nvSpPr>
        <p:spPr>
          <a:xfrm>
            <a:off x="1051560" y="6135624"/>
            <a:ext cx="260604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repeat customers</a:t>
            </a:r>
            <a:endParaRPr lang="en-US" sz="1050" dirty="0"/>
          </a:p>
        </p:txBody>
      </p:sp>
      <p:sp>
        <p:nvSpPr>
          <p:cNvPr id="14" name="Shape 11"/>
          <p:cNvSpPr/>
          <p:nvPr/>
        </p:nvSpPr>
        <p:spPr>
          <a:xfrm>
            <a:off x="3977640" y="5532120"/>
            <a:ext cx="3246120" cy="1051560"/>
          </a:xfrm>
          <a:prstGeom prst="roundRect">
            <a:avLst>
              <a:gd name="adj" fmla="val 13913"/>
            </a:avLst>
          </a:prstGeom>
          <a:solidFill>
            <a:srgbClr val="FFFFFF"/>
          </a:solidFill>
          <a:ln w="12700">
            <a:solidFill>
              <a:srgbClr val="FFFFFF">
                <a:alpha val="0"/>
              </a:srgbClr>
            </a:solidFill>
            <a:prstDash val="solid"/>
          </a:ln>
        </p:spPr>
      </p:sp>
      <p:sp>
        <p:nvSpPr>
          <p:cNvPr id="15" name="Shape 12"/>
          <p:cNvSpPr/>
          <p:nvPr/>
        </p:nvSpPr>
        <p:spPr>
          <a:xfrm>
            <a:off x="4142232" y="5696712"/>
            <a:ext cx="201168" cy="201168"/>
          </a:xfrm>
          <a:prstGeom prst="ellipse">
            <a:avLst/>
          </a:prstGeom>
          <a:solidFill>
            <a:srgbClr val="F4A261"/>
          </a:solidFill>
          <a:ln w="12700">
            <a:solidFill>
              <a:srgbClr val="F4A261">
                <a:alpha val="0"/>
              </a:srgbClr>
            </a:solidFill>
            <a:prstDash val="solid"/>
          </a:ln>
        </p:spPr>
      </p:sp>
      <p:sp>
        <p:nvSpPr>
          <p:cNvPr id="16" name="Text 13"/>
          <p:cNvSpPr txBox="1"/>
          <p:nvPr/>
        </p:nvSpPr>
        <p:spPr>
          <a:xfrm>
            <a:off x="4434840" y="5669280"/>
            <a:ext cx="265176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93</a:t>
            </a:r>
            <a:endParaRPr lang="en-US" sz="2700" dirty="0"/>
          </a:p>
        </p:txBody>
      </p:sp>
      <p:sp>
        <p:nvSpPr>
          <p:cNvPr id="17" name="Text 14"/>
          <p:cNvSpPr txBox="1"/>
          <p:nvPr/>
        </p:nvSpPr>
        <p:spPr>
          <a:xfrm>
            <a:off x="4434840" y="6135624"/>
            <a:ext cx="260604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one-time customers</a:t>
            </a:r>
            <a:endParaRPr lang="en-US" sz="1050" dirty="0"/>
          </a:p>
        </p:txBody>
      </p:sp>
      <p:sp>
        <p:nvSpPr>
          <p:cNvPr id="18" name="Shape 15"/>
          <p:cNvSpPr/>
          <p:nvPr/>
        </p:nvSpPr>
        <p:spPr>
          <a:xfrm>
            <a:off x="7360920" y="5532120"/>
            <a:ext cx="4023360" cy="1051560"/>
          </a:xfrm>
          <a:prstGeom prst="roundRect">
            <a:avLst>
              <a:gd name="adj" fmla="val 13913"/>
            </a:avLst>
          </a:prstGeom>
          <a:solidFill>
            <a:srgbClr val="FFFFFF"/>
          </a:solidFill>
          <a:ln w="12700">
            <a:solidFill>
              <a:srgbClr val="FFFFFF">
                <a:alpha val="0"/>
              </a:srgbClr>
            </a:solidFill>
            <a:prstDash val="solid"/>
          </a:ln>
        </p:spPr>
      </p:sp>
      <p:sp>
        <p:nvSpPr>
          <p:cNvPr id="19" name="Shape 16"/>
          <p:cNvSpPr/>
          <p:nvPr/>
        </p:nvSpPr>
        <p:spPr>
          <a:xfrm>
            <a:off x="7525512" y="5696712"/>
            <a:ext cx="201168" cy="201168"/>
          </a:xfrm>
          <a:prstGeom prst="ellipse">
            <a:avLst/>
          </a:prstGeom>
          <a:solidFill>
            <a:srgbClr val="14213D"/>
          </a:solidFill>
          <a:ln w="12700">
            <a:solidFill>
              <a:srgbClr val="14213D">
                <a:alpha val="0"/>
              </a:srgbClr>
            </a:solidFill>
            <a:prstDash val="solid"/>
          </a:ln>
        </p:spPr>
      </p:sp>
      <p:sp>
        <p:nvSpPr>
          <p:cNvPr id="20" name="Text 17"/>
          <p:cNvSpPr txBox="1"/>
          <p:nvPr/>
        </p:nvSpPr>
        <p:spPr>
          <a:xfrm>
            <a:off x="7818120" y="5669280"/>
            <a:ext cx="342900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136</a:t>
            </a:r>
            <a:endParaRPr lang="en-US" sz="2700" dirty="0"/>
          </a:p>
        </p:txBody>
      </p:sp>
      <p:sp>
        <p:nvSpPr>
          <p:cNvPr id="21" name="Text 18"/>
          <p:cNvSpPr txBox="1"/>
          <p:nvPr/>
        </p:nvSpPr>
        <p:spPr>
          <a:xfrm>
            <a:off x="7818120" y="6135624"/>
            <a:ext cx="338328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customers with orders</a:t>
            </a:r>
            <a:endParaRPr lang="en-US" sz="1050" dirty="0"/>
          </a:p>
        </p:txBody>
      </p:sp>
      <p:sp>
        <p:nvSpPr>
          <p:cNvPr id="25" name="Slide Number Placeholder 0"/>
          <p:cNvSpPr>
            <a:spLocks noGrp="1"/>
          </p:cNvSpPr>
          <p:nvPr>
            <p:ph type="sldNum" sz="quarter" idx="4294967295"/>
          </p:nvPr>
        </p:nvSpPr>
        <p:spPr>
          <a:xfrm>
            <a:off x="11686032" y="646480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8595"/>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47472"/>
            <a:ext cx="2560320" cy="228600"/>
          </a:xfrm>
          <a:prstGeom prst="rect">
            <a:avLst/>
          </a:prstGeom>
          <a:noFill/>
          <a:ln/>
        </p:spPr>
        <p:txBody>
          <a:bodyPr wrap="square" lIns="0" tIns="0" rIns="0" bIns="0" rtlCol="0" anchor="ctr">
            <a:normAutofit/>
          </a:bodyPr>
          <a:lstStyle/>
          <a:p>
            <a:pPr algn="l" indent="0" marL="0">
              <a:buNone/>
            </a:pPr>
            <a:r>
              <a:rPr lang="en-US" sz="900" b="1" spc="110" kern="0" dirty="0">
                <a:solidFill>
                  <a:srgbClr val="008C95"/>
                </a:solidFill>
                <a:latin typeface="Arial" pitchFamily="34" charset="0"/>
                <a:ea typeface="Arial" pitchFamily="34" charset="-122"/>
                <a:cs typeface="Arial" pitchFamily="34" charset="-120"/>
              </a:rPr>
              <a:t>09 • BUSINESS IMPLICATIONS</a:t>
            </a:r>
            <a:endParaRPr lang="en-US" sz="900" dirty="0"/>
          </a:p>
        </p:txBody>
      </p:sp>
      <p:sp>
        <p:nvSpPr>
          <p:cNvPr id="3" name="Text 1"/>
          <p:cNvSpPr txBox="1"/>
          <p:nvPr/>
        </p:nvSpPr>
        <p:spPr>
          <a:xfrm>
            <a:off x="548640" y="640080"/>
            <a:ext cx="10607040" cy="566928"/>
          </a:xfrm>
          <a:prstGeom prst="rect">
            <a:avLst/>
          </a:prstGeom>
          <a:noFill/>
          <a:ln/>
        </p:spPr>
        <p:txBody>
          <a:bodyPr wrap="square" lIns="0" tIns="0" rIns="0" bIns="0" rtlCol="0" anchor="ctr">
            <a:normAutofit/>
          </a:bodyPr>
          <a:lstStyle/>
          <a:p>
            <a:pPr algn="l" indent="0" marL="0">
              <a:buNone/>
            </a:pPr>
            <a:r>
              <a:rPr lang="en-US" sz="2900" b="1" dirty="0">
                <a:solidFill>
                  <a:srgbClr val="14213D"/>
                </a:solidFill>
                <a:latin typeface="Cambria" pitchFamily="34" charset="0"/>
                <a:ea typeface="Cambria" pitchFamily="34" charset="-122"/>
                <a:cs typeface="Cambria" pitchFamily="34" charset="-120"/>
              </a:rPr>
              <a:t>Business implications</a:t>
            </a:r>
            <a:endParaRPr lang="en-US" sz="2900" dirty="0"/>
          </a:p>
        </p:txBody>
      </p:sp>
      <p:sp>
        <p:nvSpPr>
          <p:cNvPr id="4" name="Text 2"/>
          <p:cNvSpPr txBox="1"/>
          <p:nvPr/>
        </p:nvSpPr>
        <p:spPr>
          <a:xfrm>
            <a:off x="548640" y="1243584"/>
            <a:ext cx="10607040" cy="384048"/>
          </a:xfrm>
          <a:prstGeom prst="rect">
            <a:avLst/>
          </a:prstGeom>
          <a:noFill/>
          <a:ln/>
        </p:spPr>
        <p:txBody>
          <a:bodyPr wrap="square" lIns="0" tIns="0" rIns="0" bIns="0" rtlCol="0" anchor="ctr">
            <a:normAutofit/>
          </a:bodyPr>
          <a:lstStyle/>
          <a:p>
            <a:pPr algn="l" indent="0" marL="0">
              <a:buNone/>
            </a:pPr>
            <a:r>
              <a:rPr lang="en-US" sz="1250" dirty="0">
                <a:solidFill>
                  <a:srgbClr val="667085"/>
                </a:solidFill>
                <a:latin typeface="Arial" pitchFamily="34" charset="0"/>
                <a:ea typeface="Arial" pitchFamily="34" charset="-122"/>
                <a:cs typeface="Arial" pitchFamily="34" charset="-120"/>
              </a:rPr>
              <a:t>The analysis highlights three practical areas for action.</a:t>
            </a:r>
            <a:endParaRPr lang="en-US" sz="1250" dirty="0"/>
          </a:p>
        </p:txBody>
      </p:sp>
      <p:sp>
        <p:nvSpPr>
          <p:cNvPr id="5" name="Shape 3"/>
          <p:cNvSpPr/>
          <p:nvPr/>
        </p:nvSpPr>
        <p:spPr>
          <a:xfrm>
            <a:off x="594360" y="1783080"/>
            <a:ext cx="3429000" cy="1828800"/>
          </a:xfrm>
          <a:prstGeom prst="roundRect">
            <a:avLst>
              <a:gd name="adj" fmla="val 8000"/>
            </a:avLst>
          </a:prstGeom>
          <a:solidFill>
            <a:srgbClr val="FFFFFF"/>
          </a:solidFill>
          <a:ln w="12700">
            <a:solidFill>
              <a:srgbClr val="FFFFFF">
                <a:alpha val="0"/>
              </a:srgbClr>
            </a:solidFill>
            <a:prstDash val="solid"/>
          </a:ln>
        </p:spPr>
        <p:txBody>
          <a:bodyPr/>
          <a:p/>
        </p:txBody>
      </p:sp>
      <p:sp>
        <p:nvSpPr>
          <p:cNvPr id="6" name="Shape 4"/>
          <p:cNvSpPr/>
          <p:nvPr/>
        </p:nvSpPr>
        <p:spPr>
          <a:xfrm>
            <a:off x="777240" y="1965960"/>
            <a:ext cx="347472" cy="347472"/>
          </a:xfrm>
          <a:prstGeom prst="ellipse">
            <a:avLst/>
          </a:prstGeom>
          <a:solidFill>
            <a:srgbClr val="F4A261"/>
          </a:solidFill>
          <a:ln w="12700">
            <a:solidFill>
              <a:srgbClr val="F4A261">
                <a:alpha val="0"/>
              </a:srgbClr>
            </a:solidFill>
            <a:prstDash val="solid"/>
          </a:ln>
        </p:spPr>
        <p:txBody>
          <a:bodyPr/>
          <a:p/>
        </p:txBody>
      </p:sp>
      <p:sp>
        <p:nvSpPr>
          <p:cNvPr id="7" name="Text 5"/>
          <p:cNvSpPr txBox="1"/>
          <p:nvPr/>
        </p:nvSpPr>
        <p:spPr>
          <a:xfrm>
            <a:off x="777240" y="1984248"/>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txBox="1"/>
          <p:nvPr/>
        </p:nvSpPr>
        <p:spPr>
          <a:xfrm>
            <a:off x="1234440" y="1938528"/>
            <a:ext cx="26060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Re-engage lapsed customers</a:t>
            </a:r>
            <a:endParaRPr lang="en-US" sz="1600" dirty="0"/>
          </a:p>
        </p:txBody>
      </p:sp>
      <p:sp>
        <p:nvSpPr>
          <p:cNvPr id="9" name="Text 7"/>
          <p:cNvSpPr txBox="1"/>
          <p:nvPr/>
        </p:nvSpPr>
        <p:spPr>
          <a:xfrm>
            <a:off x="1234440" y="2286000"/>
            <a:ext cx="2606040" cy="1216152"/>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Prioritize customers with the largest purchase gaps for retention campaigns.</a:t>
            </a:r>
            <a:endParaRPr lang="en-US" sz="1150" dirty="0"/>
          </a:p>
        </p:txBody>
      </p:sp>
      <p:sp>
        <p:nvSpPr>
          <p:cNvPr id="10" name="Shape 8"/>
          <p:cNvSpPr/>
          <p:nvPr/>
        </p:nvSpPr>
        <p:spPr>
          <a:xfrm>
            <a:off x="4251960" y="1783080"/>
            <a:ext cx="3429000" cy="1828800"/>
          </a:xfrm>
          <a:prstGeom prst="roundRect">
            <a:avLst>
              <a:gd name="adj" fmla="val 8000"/>
            </a:avLst>
          </a:prstGeom>
          <a:solidFill>
            <a:srgbClr val="FFFFFF"/>
          </a:solidFill>
          <a:ln w="12700">
            <a:solidFill>
              <a:srgbClr val="FFFFFF">
                <a:alpha val="0"/>
              </a:srgbClr>
            </a:solidFill>
            <a:prstDash val="solid"/>
          </a:ln>
        </p:spPr>
        <p:txBody>
          <a:bodyPr/>
          <a:p/>
        </p:txBody>
      </p:sp>
      <p:sp>
        <p:nvSpPr>
          <p:cNvPr id="11" name="Shape 9"/>
          <p:cNvSpPr/>
          <p:nvPr/>
        </p:nvSpPr>
        <p:spPr>
          <a:xfrm>
            <a:off x="4434840" y="1965960"/>
            <a:ext cx="347472" cy="347472"/>
          </a:xfrm>
          <a:prstGeom prst="ellipse">
            <a:avLst/>
          </a:prstGeom>
          <a:solidFill>
            <a:srgbClr val="008C95"/>
          </a:solidFill>
          <a:ln w="12700">
            <a:solidFill>
              <a:srgbClr val="008C95">
                <a:alpha val="0"/>
              </a:srgbClr>
            </a:solidFill>
            <a:prstDash val="solid"/>
          </a:ln>
        </p:spPr>
        <p:txBody>
          <a:bodyPr/>
          <a:p/>
        </p:txBody>
      </p:sp>
      <p:sp>
        <p:nvSpPr>
          <p:cNvPr id="12" name="Text 10"/>
          <p:cNvSpPr txBox="1"/>
          <p:nvPr/>
        </p:nvSpPr>
        <p:spPr>
          <a:xfrm>
            <a:off x="4434840" y="1984248"/>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txBox="1"/>
          <p:nvPr/>
        </p:nvSpPr>
        <p:spPr>
          <a:xfrm>
            <a:off x="4892040" y="1938528"/>
            <a:ext cx="26060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Protect high-velocity stock</a:t>
            </a:r>
            <a:endParaRPr lang="en-US" sz="1600" dirty="0"/>
          </a:p>
        </p:txBody>
      </p:sp>
      <p:sp>
        <p:nvSpPr>
          <p:cNvPr id="14" name="Text 12"/>
          <p:cNvSpPr txBox="1"/>
          <p:nvPr/>
        </p:nvSpPr>
        <p:spPr>
          <a:xfrm>
            <a:off x="4892040" y="2286000"/>
            <a:ext cx="2606040" cy="1216152"/>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Review replenishment for products with above-average sales and below-average inventory.</a:t>
            </a:r>
            <a:endParaRPr lang="en-US" sz="1150" dirty="0"/>
          </a:p>
        </p:txBody>
      </p:sp>
      <p:sp>
        <p:nvSpPr>
          <p:cNvPr id="15" name="Shape 13"/>
          <p:cNvSpPr/>
          <p:nvPr/>
        </p:nvSpPr>
        <p:spPr>
          <a:xfrm>
            <a:off x="7909560" y="1783080"/>
            <a:ext cx="3429000" cy="1828800"/>
          </a:xfrm>
          <a:prstGeom prst="roundRect">
            <a:avLst>
              <a:gd name="adj" fmla="val 8000"/>
            </a:avLst>
          </a:prstGeom>
          <a:solidFill>
            <a:srgbClr val="FFFFFF"/>
          </a:solidFill>
          <a:ln w="12700">
            <a:solidFill>
              <a:srgbClr val="FFFFFF">
                <a:alpha val="0"/>
              </a:srgbClr>
            </a:solidFill>
            <a:prstDash val="solid"/>
          </a:ln>
        </p:spPr>
        <p:txBody>
          <a:bodyPr/>
          <a:p/>
        </p:txBody>
      </p:sp>
      <p:sp>
        <p:nvSpPr>
          <p:cNvPr id="16" name="Shape 14"/>
          <p:cNvSpPr/>
          <p:nvPr/>
        </p:nvSpPr>
        <p:spPr>
          <a:xfrm>
            <a:off x="8092440" y="1965960"/>
            <a:ext cx="347472" cy="347472"/>
          </a:xfrm>
          <a:prstGeom prst="ellipse">
            <a:avLst/>
          </a:prstGeom>
          <a:solidFill>
            <a:srgbClr val="36C5D8"/>
          </a:solidFill>
          <a:ln w="12700">
            <a:solidFill>
              <a:srgbClr val="36C5D8">
                <a:alpha val="0"/>
              </a:srgbClr>
            </a:solidFill>
            <a:prstDash val="solid"/>
          </a:ln>
        </p:spPr>
        <p:txBody>
          <a:bodyPr/>
          <a:p/>
        </p:txBody>
      </p:sp>
      <p:sp>
        <p:nvSpPr>
          <p:cNvPr id="17" name="Text 15"/>
          <p:cNvSpPr txBox="1"/>
          <p:nvPr/>
        </p:nvSpPr>
        <p:spPr>
          <a:xfrm>
            <a:off x="8092440" y="1984248"/>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8" name="Text 16"/>
          <p:cNvSpPr txBox="1"/>
          <p:nvPr/>
        </p:nvSpPr>
        <p:spPr>
          <a:xfrm>
            <a:off x="8549640" y="1938528"/>
            <a:ext cx="26060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Grow repeat behavior</a:t>
            </a:r>
            <a:endParaRPr lang="en-US" sz="1600" dirty="0"/>
          </a:p>
        </p:txBody>
      </p:sp>
      <p:sp>
        <p:nvSpPr>
          <p:cNvPr id="19" name="Text 17"/>
          <p:cNvSpPr txBox="1"/>
          <p:nvPr/>
        </p:nvSpPr>
        <p:spPr>
          <a:xfrm>
            <a:off x="8549640" y="2286000"/>
            <a:ext cx="2606040" cy="1216152"/>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Use the 31.62% repeat rate as a baseline for retention initiatives.</a:t>
            </a:r>
            <a:endParaRPr lang="en-US" sz="1150" dirty="0"/>
          </a:p>
        </p:txBody>
      </p:sp>
      <p:sp>
        <p:nvSpPr>
          <p:cNvPr id="20" name="Shape 18"/>
          <p:cNvSpPr/>
          <p:nvPr/>
        </p:nvSpPr>
        <p:spPr>
          <a:xfrm>
            <a:off x="594360" y="4041648"/>
            <a:ext cx="10744200" cy="1261872"/>
          </a:xfrm>
          <a:prstGeom prst="roundRect">
            <a:avLst>
              <a:gd name="adj" fmla="val 13043"/>
            </a:avLst>
          </a:prstGeom>
          <a:solidFill>
            <a:srgbClr val="14213D"/>
          </a:solidFill>
          <a:ln w="12700">
            <a:solidFill>
              <a:srgbClr val="14213D">
                <a:alpha val="0"/>
              </a:srgbClr>
            </a:solidFill>
            <a:prstDash val="solid"/>
          </a:ln>
        </p:spPr>
        <p:txBody>
          <a:bodyPr/>
          <a:p/>
        </p:txBody>
      </p:sp>
      <p:sp>
        <p:nvSpPr>
          <p:cNvPr id="21" name="Text 19"/>
          <p:cNvSpPr txBox="1"/>
          <p:nvPr/>
        </p:nvSpPr>
        <p:spPr>
          <a:xfrm>
            <a:off x="914400" y="4315968"/>
            <a:ext cx="4754880" cy="274320"/>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Cambria" pitchFamily="34" charset="0"/>
                <a:ea typeface="Cambria" pitchFamily="34" charset="-122"/>
                <a:cs typeface="Cambria" pitchFamily="34" charset="-120"/>
              </a:rPr>
              <a:t>Metric → insight → action</a:t>
            </a:r>
            <a:endParaRPr lang="en-US" sz="2300" dirty="0"/>
          </a:p>
        </p:txBody>
      </p:sp>
      <p:sp>
        <p:nvSpPr>
          <p:cNvPr id="22" name="Text 20"/>
          <p:cNvSpPr txBox="1"/>
          <p:nvPr/>
        </p:nvSpPr>
        <p:spPr>
          <a:xfrm>
            <a:off x="5532120" y="4251960"/>
            <a:ext cx="5303520" cy="438912"/>
          </a:xfrm>
          <a:prstGeom prst="rect">
            <a:avLst/>
          </a:prstGeom>
          <a:noFill/>
          <a:ln/>
        </p:spPr>
        <p:txBody>
          <a:bodyPr wrap="square" lIns="0" tIns="0" rIns="0" bIns="0" rtlCol="0" anchor="ctr">
            <a:normAutofit/>
          </a:bodyPr>
          <a:lstStyle/>
          <a:p>
            <a:pPr algn="l" indent="0" marL="0">
              <a:buNone/>
            </a:pPr>
            <a:r>
              <a:rPr lang="en-US" sz="1350" dirty="0">
                <a:solidFill>
                  <a:srgbClr val="D9E4F1"/>
                </a:solidFill>
                <a:latin typeface="Arial" pitchFamily="34" charset="0"/>
                <a:ea typeface="Arial" pitchFamily="34" charset="-122"/>
                <a:cs typeface="Arial" pitchFamily="34" charset="-120"/>
              </a:rPr>
              <a:t>The analysis links measured patterns to practical next steps.</a:t>
            </a:r>
            <a:endParaRPr lang="en-US" sz="1350" dirty="0"/>
          </a:p>
        </p:txBody>
      </p:sp>
      <p:sp>
        <p:nvSpPr>
          <p:cNvPr id="23" name="Shape 21"/>
          <p:cNvSpPr/>
          <p:nvPr/>
        </p:nvSpPr>
        <p:spPr>
          <a:xfrm>
            <a:off x="914400" y="5650992"/>
            <a:ext cx="310896" cy="310896"/>
          </a:xfrm>
          <a:prstGeom prst="ellipse">
            <a:avLst/>
          </a:prstGeom>
          <a:solidFill>
            <a:srgbClr val="008C95"/>
          </a:solidFill>
          <a:ln w="12700">
            <a:solidFill>
              <a:srgbClr val="008C95">
                <a:alpha val="0"/>
              </a:srgbClr>
            </a:solidFill>
            <a:prstDash val="solid"/>
          </a:ln>
        </p:spPr>
      </p:sp>
      <p:sp>
        <p:nvSpPr>
          <p:cNvPr id="24" name="Text 22"/>
          <p:cNvSpPr txBox="1"/>
          <p:nvPr/>
        </p:nvSpPr>
        <p:spPr>
          <a:xfrm>
            <a:off x="914400" y="5687568"/>
            <a:ext cx="310896"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25" name="Text 23"/>
          <p:cNvSpPr txBox="1"/>
          <p:nvPr/>
        </p:nvSpPr>
        <p:spPr>
          <a:xfrm>
            <a:off x="1325880" y="5632704"/>
            <a:ext cx="1463040" cy="219456"/>
          </a:xfrm>
          <a:prstGeom prst="rect">
            <a:avLst/>
          </a:prstGeom>
          <a:noFill/>
          <a:ln/>
        </p:spPr>
        <p:txBody>
          <a:bodyPr wrap="square" lIns="0" tIns="0" rIns="0" bIns="0" rtlCol="0" anchor="ctr">
            <a:normAutofit/>
          </a:bodyPr>
          <a:lstStyle/>
          <a:p>
            <a:pPr algn="l" indent="0" marL="0">
              <a:buNone/>
            </a:pPr>
            <a:r>
              <a:rPr lang="en-US" sz="1200" b="1" dirty="0">
                <a:solidFill>
                  <a:srgbClr val="14213D"/>
                </a:solidFill>
                <a:latin typeface="Arial" pitchFamily="34" charset="0"/>
                <a:ea typeface="Arial" pitchFamily="34" charset="-122"/>
                <a:cs typeface="Arial" pitchFamily="34" charset="-120"/>
              </a:rPr>
              <a:t>Measure</a:t>
            </a:r>
            <a:endParaRPr lang="en-US" sz="1200" dirty="0"/>
          </a:p>
        </p:txBody>
      </p:sp>
      <p:sp>
        <p:nvSpPr>
          <p:cNvPr id="26" name="Shape 24"/>
          <p:cNvSpPr/>
          <p:nvPr/>
        </p:nvSpPr>
        <p:spPr>
          <a:xfrm>
            <a:off x="1965960" y="5806440"/>
            <a:ext cx="1234440" cy="0"/>
          </a:xfrm>
          <a:prstGeom prst="line">
            <a:avLst/>
          </a:prstGeom>
          <a:noFill/>
          <a:ln w="15240">
            <a:solidFill>
              <a:srgbClr val="BAC5D3"/>
            </a:solidFill>
            <a:prstDash val="solid"/>
            <a:headEnd type="none"/>
            <a:tailEnd type="triangle"/>
          </a:ln>
        </p:spPr>
      </p:sp>
      <p:sp>
        <p:nvSpPr>
          <p:cNvPr id="27" name="Shape 25"/>
          <p:cNvSpPr/>
          <p:nvPr/>
        </p:nvSpPr>
        <p:spPr>
          <a:xfrm>
            <a:off x="3401568" y="5650992"/>
            <a:ext cx="310896" cy="310896"/>
          </a:xfrm>
          <a:prstGeom prst="ellipse">
            <a:avLst/>
          </a:prstGeom>
          <a:solidFill>
            <a:srgbClr val="008C95"/>
          </a:solidFill>
          <a:ln w="12700">
            <a:solidFill>
              <a:srgbClr val="008C95">
                <a:alpha val="0"/>
              </a:srgbClr>
            </a:solidFill>
            <a:prstDash val="solid"/>
          </a:ln>
        </p:spPr>
      </p:sp>
      <p:sp>
        <p:nvSpPr>
          <p:cNvPr id="28" name="Text 26"/>
          <p:cNvSpPr txBox="1"/>
          <p:nvPr/>
        </p:nvSpPr>
        <p:spPr>
          <a:xfrm>
            <a:off x="3401568" y="5687568"/>
            <a:ext cx="310896"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29" name="Text 27"/>
          <p:cNvSpPr txBox="1"/>
          <p:nvPr/>
        </p:nvSpPr>
        <p:spPr>
          <a:xfrm>
            <a:off x="3813048" y="5632704"/>
            <a:ext cx="1463040" cy="219456"/>
          </a:xfrm>
          <a:prstGeom prst="rect">
            <a:avLst/>
          </a:prstGeom>
          <a:noFill/>
          <a:ln/>
        </p:spPr>
        <p:txBody>
          <a:bodyPr wrap="square" lIns="0" tIns="0" rIns="0" bIns="0" rtlCol="0" anchor="ctr">
            <a:normAutofit/>
          </a:bodyPr>
          <a:lstStyle/>
          <a:p>
            <a:pPr algn="l" indent="0" marL="0">
              <a:buNone/>
            </a:pPr>
            <a:r>
              <a:rPr lang="en-US" sz="1200" b="1" dirty="0">
                <a:solidFill>
                  <a:srgbClr val="14213D"/>
                </a:solidFill>
                <a:latin typeface="Arial" pitchFamily="34" charset="0"/>
                <a:ea typeface="Arial" pitchFamily="34" charset="-122"/>
                <a:cs typeface="Arial" pitchFamily="34" charset="-120"/>
              </a:rPr>
              <a:t>Segment</a:t>
            </a:r>
            <a:endParaRPr lang="en-US" sz="1200" dirty="0"/>
          </a:p>
        </p:txBody>
      </p:sp>
      <p:sp>
        <p:nvSpPr>
          <p:cNvPr id="30" name="Shape 28"/>
          <p:cNvSpPr/>
          <p:nvPr/>
        </p:nvSpPr>
        <p:spPr>
          <a:xfrm>
            <a:off x="4453128" y="5806440"/>
            <a:ext cx="1234440" cy="0"/>
          </a:xfrm>
          <a:prstGeom prst="line">
            <a:avLst/>
          </a:prstGeom>
          <a:noFill/>
          <a:ln w="15240">
            <a:solidFill>
              <a:srgbClr val="BAC5D3"/>
            </a:solidFill>
            <a:prstDash val="solid"/>
            <a:headEnd type="none"/>
            <a:tailEnd type="triangle"/>
          </a:ln>
        </p:spPr>
      </p:sp>
      <p:sp>
        <p:nvSpPr>
          <p:cNvPr id="31" name="Shape 29"/>
          <p:cNvSpPr/>
          <p:nvPr/>
        </p:nvSpPr>
        <p:spPr>
          <a:xfrm>
            <a:off x="5888736" y="5650992"/>
            <a:ext cx="310896" cy="310896"/>
          </a:xfrm>
          <a:prstGeom prst="ellipse">
            <a:avLst/>
          </a:prstGeom>
          <a:solidFill>
            <a:srgbClr val="008C95"/>
          </a:solidFill>
          <a:ln w="12700">
            <a:solidFill>
              <a:srgbClr val="008C95">
                <a:alpha val="0"/>
              </a:srgbClr>
            </a:solidFill>
            <a:prstDash val="solid"/>
          </a:ln>
        </p:spPr>
      </p:sp>
      <p:sp>
        <p:nvSpPr>
          <p:cNvPr id="32" name="Text 30"/>
          <p:cNvSpPr txBox="1"/>
          <p:nvPr/>
        </p:nvSpPr>
        <p:spPr>
          <a:xfrm>
            <a:off x="5888736" y="5687568"/>
            <a:ext cx="310896"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33" name="Text 31"/>
          <p:cNvSpPr txBox="1"/>
          <p:nvPr/>
        </p:nvSpPr>
        <p:spPr>
          <a:xfrm>
            <a:off x="6300216" y="5632704"/>
            <a:ext cx="1463040" cy="219456"/>
          </a:xfrm>
          <a:prstGeom prst="rect">
            <a:avLst/>
          </a:prstGeom>
          <a:noFill/>
          <a:ln/>
        </p:spPr>
        <p:txBody>
          <a:bodyPr wrap="square" lIns="0" tIns="0" rIns="0" bIns="0" rtlCol="0" anchor="ctr">
            <a:normAutofit/>
          </a:bodyPr>
          <a:lstStyle/>
          <a:p>
            <a:pPr algn="l" indent="0" marL="0">
              <a:buNone/>
            </a:pPr>
            <a:r>
              <a:rPr lang="en-US" sz="1200" b="1" dirty="0">
                <a:solidFill>
                  <a:srgbClr val="14213D"/>
                </a:solidFill>
                <a:latin typeface="Arial" pitchFamily="34" charset="0"/>
                <a:ea typeface="Arial" pitchFamily="34" charset="-122"/>
                <a:cs typeface="Arial" pitchFamily="34" charset="-120"/>
              </a:rPr>
              <a:t>Prioritize</a:t>
            </a:r>
            <a:endParaRPr lang="en-US" sz="1200" dirty="0"/>
          </a:p>
        </p:txBody>
      </p:sp>
      <p:sp>
        <p:nvSpPr>
          <p:cNvPr id="34" name="Shape 32"/>
          <p:cNvSpPr/>
          <p:nvPr/>
        </p:nvSpPr>
        <p:spPr>
          <a:xfrm>
            <a:off x="6940296" y="5806440"/>
            <a:ext cx="1234440" cy="0"/>
          </a:xfrm>
          <a:prstGeom prst="line">
            <a:avLst/>
          </a:prstGeom>
          <a:noFill/>
          <a:ln w="15240">
            <a:solidFill>
              <a:srgbClr val="BAC5D3"/>
            </a:solidFill>
            <a:prstDash val="solid"/>
            <a:headEnd type="none"/>
            <a:tailEnd type="triangle"/>
          </a:ln>
        </p:spPr>
      </p:sp>
      <p:sp>
        <p:nvSpPr>
          <p:cNvPr id="35" name="Shape 33"/>
          <p:cNvSpPr/>
          <p:nvPr/>
        </p:nvSpPr>
        <p:spPr>
          <a:xfrm>
            <a:off x="8375904" y="5650992"/>
            <a:ext cx="310896" cy="310896"/>
          </a:xfrm>
          <a:prstGeom prst="ellipse">
            <a:avLst/>
          </a:prstGeom>
          <a:solidFill>
            <a:srgbClr val="F4A261"/>
          </a:solidFill>
          <a:ln w="12700">
            <a:solidFill>
              <a:srgbClr val="F4A261">
                <a:alpha val="0"/>
              </a:srgbClr>
            </a:solidFill>
            <a:prstDash val="solid"/>
          </a:ln>
        </p:spPr>
      </p:sp>
      <p:sp>
        <p:nvSpPr>
          <p:cNvPr id="36" name="Text 34"/>
          <p:cNvSpPr txBox="1"/>
          <p:nvPr/>
        </p:nvSpPr>
        <p:spPr>
          <a:xfrm>
            <a:off x="8375904" y="5687568"/>
            <a:ext cx="310896" cy="16459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37" name="Text 35"/>
          <p:cNvSpPr txBox="1"/>
          <p:nvPr/>
        </p:nvSpPr>
        <p:spPr>
          <a:xfrm>
            <a:off x="8787384" y="5632704"/>
            <a:ext cx="1463040" cy="219456"/>
          </a:xfrm>
          <a:prstGeom prst="rect">
            <a:avLst/>
          </a:prstGeom>
          <a:noFill/>
          <a:ln/>
        </p:spPr>
        <p:txBody>
          <a:bodyPr wrap="square" lIns="0" tIns="0" rIns="0" bIns="0" rtlCol="0" anchor="ctr">
            <a:normAutofit/>
          </a:bodyPr>
          <a:lstStyle/>
          <a:p>
            <a:pPr algn="l" indent="0" marL="0">
              <a:buNone/>
            </a:pPr>
            <a:r>
              <a:rPr lang="en-US" sz="1200" b="1" dirty="0">
                <a:solidFill>
                  <a:srgbClr val="14213D"/>
                </a:solidFill>
                <a:latin typeface="Arial" pitchFamily="34" charset="0"/>
                <a:ea typeface="Arial" pitchFamily="34" charset="-122"/>
                <a:cs typeface="Arial" pitchFamily="34" charset="-120"/>
              </a:rPr>
              <a:t>Act</a:t>
            </a:r>
            <a:endParaRPr lang="en-US" sz="1200" dirty="0"/>
          </a:p>
        </p:txBody>
      </p:sp>
      <p:sp>
        <p:nvSpPr>
          <p:cNvPr id="25" name="Slide Number Placeholder 0"/>
          <p:cNvSpPr>
            <a:spLocks noGrp="1"/>
          </p:cNvSpPr>
          <p:nvPr>
            <p:ph type="sldNum" sz="quarter" idx="4294967295"/>
          </p:nvPr>
        </p:nvSpPr>
        <p:spPr>
          <a:xfrm>
            <a:off x="11686032" y="646480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8595"/>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47472"/>
            <a:ext cx="2560320" cy="228600"/>
          </a:xfrm>
          <a:prstGeom prst="rect">
            <a:avLst/>
          </a:prstGeom>
          <a:noFill/>
          <a:ln/>
        </p:spPr>
        <p:txBody>
          <a:bodyPr wrap="square" lIns="0" tIns="0" rIns="0" bIns="0" rtlCol="0" anchor="ctr">
            <a:normAutofit/>
          </a:bodyPr>
          <a:lstStyle/>
          <a:p>
            <a:pPr algn="l" indent="0" marL="0">
              <a:buNone/>
            </a:pPr>
            <a:r>
              <a:rPr lang="en-US" sz="900" b="1" spc="110" kern="0" dirty="0">
                <a:solidFill>
                  <a:srgbClr val="008C95"/>
                </a:solidFill>
                <a:latin typeface="Arial" pitchFamily="34" charset="0"/>
                <a:ea typeface="Arial" pitchFamily="34" charset="-122"/>
                <a:cs typeface="Arial" pitchFamily="34" charset="-120"/>
              </a:rPr>
              <a:t>10 • NEXT ANALYSIS</a:t>
            </a:r>
            <a:endParaRPr lang="en-US" sz="900" dirty="0"/>
          </a:p>
        </p:txBody>
      </p:sp>
      <p:sp>
        <p:nvSpPr>
          <p:cNvPr id="3" name="Text 1"/>
          <p:cNvSpPr txBox="1"/>
          <p:nvPr/>
        </p:nvSpPr>
        <p:spPr>
          <a:xfrm>
            <a:off x="548640" y="640080"/>
            <a:ext cx="10607040" cy="566928"/>
          </a:xfrm>
          <a:prstGeom prst="rect">
            <a:avLst/>
          </a:prstGeom>
          <a:noFill/>
          <a:ln/>
        </p:spPr>
        <p:txBody>
          <a:bodyPr wrap="square" lIns="0" tIns="0" rIns="0" bIns="0" rtlCol="0" anchor="ctr">
            <a:normAutofit/>
          </a:bodyPr>
          <a:lstStyle/>
          <a:p>
            <a:pPr algn="l" indent="0" marL="0">
              <a:buNone/>
            </a:pPr>
            <a:r>
              <a:rPr lang="en-US" sz="2900" b="1" dirty="0">
                <a:solidFill>
                  <a:srgbClr val="14213D"/>
                </a:solidFill>
                <a:latin typeface="Cambria" pitchFamily="34" charset="0"/>
                <a:ea typeface="Cambria" pitchFamily="34" charset="-122"/>
                <a:cs typeface="Cambria" pitchFamily="34" charset="-120"/>
              </a:rPr>
              <a:t>Next analysis opportunities</a:t>
            </a:r>
            <a:endParaRPr lang="en-US" sz="2900" dirty="0"/>
          </a:p>
        </p:txBody>
      </p:sp>
      <p:sp>
        <p:nvSpPr>
          <p:cNvPr id="4" name="Text 2"/>
          <p:cNvSpPr txBox="1"/>
          <p:nvPr/>
        </p:nvSpPr>
        <p:spPr>
          <a:xfrm>
            <a:off x="548640" y="1243584"/>
            <a:ext cx="10607040" cy="384048"/>
          </a:xfrm>
          <a:prstGeom prst="rect">
            <a:avLst/>
          </a:prstGeom>
          <a:noFill/>
          <a:ln/>
        </p:spPr>
        <p:txBody>
          <a:bodyPr wrap="square" lIns="0" tIns="0" rIns="0" bIns="0" rtlCol="0" anchor="ctr">
            <a:normAutofit/>
          </a:bodyPr>
          <a:lstStyle/>
          <a:p>
            <a:pPr algn="l" indent="0" marL="0">
              <a:buNone/>
            </a:pPr>
            <a:r>
              <a:rPr lang="en-US" sz="1250" dirty="0">
                <a:solidFill>
                  <a:srgbClr val="667085"/>
                </a:solidFill>
                <a:latin typeface="Arial" pitchFamily="34" charset="0"/>
                <a:ea typeface="Arial" pitchFamily="34" charset="-122"/>
                <a:cs typeface="Arial" pitchFamily="34" charset="-120"/>
              </a:rPr>
              <a:t>Additional analysis can extend the same customer, order, product, and inventory data.</a:t>
            </a:r>
            <a:endParaRPr lang="en-US" sz="1250" dirty="0"/>
          </a:p>
        </p:txBody>
      </p:sp>
      <p:sp>
        <p:nvSpPr>
          <p:cNvPr id="5" name="Shape 3"/>
          <p:cNvSpPr/>
          <p:nvPr/>
        </p:nvSpPr>
        <p:spPr>
          <a:xfrm>
            <a:off x="594360" y="1783080"/>
            <a:ext cx="3429000" cy="1325880"/>
          </a:xfrm>
          <a:prstGeom prst="roundRect">
            <a:avLst>
              <a:gd name="adj" fmla="val 11034"/>
            </a:avLst>
          </a:prstGeom>
          <a:solidFill>
            <a:srgbClr val="FFFFFF"/>
          </a:solidFill>
          <a:ln w="12700">
            <a:solidFill>
              <a:srgbClr val="FFFFFF">
                <a:alpha val="0"/>
              </a:srgbClr>
            </a:solidFill>
            <a:prstDash val="solid"/>
          </a:ln>
        </p:spPr>
        <p:txBody>
          <a:bodyPr/>
          <a:p/>
        </p:txBody>
      </p:sp>
      <p:sp>
        <p:nvSpPr>
          <p:cNvPr id="6" name="Shape 4"/>
          <p:cNvSpPr/>
          <p:nvPr/>
        </p:nvSpPr>
        <p:spPr>
          <a:xfrm>
            <a:off x="777240" y="1965960"/>
            <a:ext cx="347472" cy="347472"/>
          </a:xfrm>
          <a:prstGeom prst="ellipse">
            <a:avLst/>
          </a:prstGeom>
          <a:solidFill>
            <a:srgbClr val="008C95"/>
          </a:solidFill>
          <a:ln w="12700">
            <a:solidFill>
              <a:srgbClr val="008C95">
                <a:alpha val="0"/>
              </a:srgbClr>
            </a:solidFill>
            <a:prstDash val="solid"/>
          </a:ln>
        </p:spPr>
        <p:txBody>
          <a:bodyPr/>
          <a:p/>
        </p:txBody>
      </p:sp>
      <p:sp>
        <p:nvSpPr>
          <p:cNvPr id="7" name="Text 5"/>
          <p:cNvSpPr txBox="1"/>
          <p:nvPr/>
        </p:nvSpPr>
        <p:spPr>
          <a:xfrm>
            <a:off x="777240" y="1984248"/>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txBox="1"/>
          <p:nvPr/>
        </p:nvSpPr>
        <p:spPr>
          <a:xfrm>
            <a:off x="1234440" y="1938528"/>
            <a:ext cx="26060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Retention cohorts</a:t>
            </a:r>
            <a:endParaRPr lang="en-US" sz="1600" dirty="0"/>
          </a:p>
        </p:txBody>
      </p:sp>
      <p:sp>
        <p:nvSpPr>
          <p:cNvPr id="9" name="Text 7"/>
          <p:cNvSpPr txBox="1"/>
          <p:nvPr/>
        </p:nvSpPr>
        <p:spPr>
          <a:xfrm>
            <a:off x="1234440" y="2286000"/>
            <a:ext cx="2606040" cy="713232"/>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Compare repeat behavior by first-purchase month or quarter.</a:t>
            </a:r>
            <a:endParaRPr lang="en-US" sz="1150" dirty="0"/>
          </a:p>
        </p:txBody>
      </p:sp>
      <p:sp>
        <p:nvSpPr>
          <p:cNvPr id="10" name="Shape 8"/>
          <p:cNvSpPr/>
          <p:nvPr/>
        </p:nvSpPr>
        <p:spPr>
          <a:xfrm>
            <a:off x="4270248" y="1783080"/>
            <a:ext cx="3429000" cy="1325880"/>
          </a:xfrm>
          <a:prstGeom prst="roundRect">
            <a:avLst>
              <a:gd name="adj" fmla="val 11034"/>
            </a:avLst>
          </a:prstGeom>
          <a:solidFill>
            <a:srgbClr val="FFFFFF"/>
          </a:solidFill>
          <a:ln w="12700">
            <a:solidFill>
              <a:srgbClr val="FFFFFF">
                <a:alpha val="0"/>
              </a:srgbClr>
            </a:solidFill>
            <a:prstDash val="solid"/>
          </a:ln>
        </p:spPr>
        <p:txBody>
          <a:bodyPr/>
          <a:p/>
        </p:txBody>
      </p:sp>
      <p:sp>
        <p:nvSpPr>
          <p:cNvPr id="11" name="Shape 9"/>
          <p:cNvSpPr/>
          <p:nvPr/>
        </p:nvSpPr>
        <p:spPr>
          <a:xfrm>
            <a:off x="4453128" y="1965960"/>
            <a:ext cx="347472" cy="347472"/>
          </a:xfrm>
          <a:prstGeom prst="ellipse">
            <a:avLst/>
          </a:prstGeom>
          <a:solidFill>
            <a:srgbClr val="36C5D8"/>
          </a:solidFill>
          <a:ln w="12700">
            <a:solidFill>
              <a:srgbClr val="36C5D8">
                <a:alpha val="0"/>
              </a:srgbClr>
            </a:solidFill>
            <a:prstDash val="solid"/>
          </a:ln>
        </p:spPr>
        <p:txBody>
          <a:bodyPr/>
          <a:p/>
        </p:txBody>
      </p:sp>
      <p:sp>
        <p:nvSpPr>
          <p:cNvPr id="12" name="Text 10"/>
          <p:cNvSpPr txBox="1"/>
          <p:nvPr/>
        </p:nvSpPr>
        <p:spPr>
          <a:xfrm>
            <a:off x="4453128" y="1984248"/>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txBox="1"/>
          <p:nvPr/>
        </p:nvSpPr>
        <p:spPr>
          <a:xfrm>
            <a:off x="4910328" y="1938528"/>
            <a:ext cx="26060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Customer value</a:t>
            </a:r>
            <a:endParaRPr lang="en-US" sz="1600" dirty="0"/>
          </a:p>
        </p:txBody>
      </p:sp>
      <p:sp>
        <p:nvSpPr>
          <p:cNvPr id="14" name="Text 12"/>
          <p:cNvSpPr txBox="1"/>
          <p:nvPr/>
        </p:nvSpPr>
        <p:spPr>
          <a:xfrm>
            <a:off x="4910328" y="2286000"/>
            <a:ext cx="2606040" cy="713232"/>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Add revenue, order frequency and average order value to build customer segments.</a:t>
            </a:r>
            <a:endParaRPr lang="en-US" sz="1150" dirty="0"/>
          </a:p>
        </p:txBody>
      </p:sp>
      <p:sp>
        <p:nvSpPr>
          <p:cNvPr id="15" name="Shape 13"/>
          <p:cNvSpPr/>
          <p:nvPr/>
        </p:nvSpPr>
        <p:spPr>
          <a:xfrm>
            <a:off x="7946136" y="1783080"/>
            <a:ext cx="3429000" cy="1325880"/>
          </a:xfrm>
          <a:prstGeom prst="roundRect">
            <a:avLst>
              <a:gd name="adj" fmla="val 11034"/>
            </a:avLst>
          </a:prstGeom>
          <a:solidFill>
            <a:srgbClr val="FFFFFF"/>
          </a:solidFill>
          <a:ln w="12700">
            <a:solidFill>
              <a:srgbClr val="FFFFFF">
                <a:alpha val="0"/>
              </a:srgbClr>
            </a:solidFill>
            <a:prstDash val="solid"/>
          </a:ln>
        </p:spPr>
        <p:txBody>
          <a:bodyPr/>
          <a:p/>
        </p:txBody>
      </p:sp>
      <p:sp>
        <p:nvSpPr>
          <p:cNvPr id="16" name="Shape 14"/>
          <p:cNvSpPr/>
          <p:nvPr/>
        </p:nvSpPr>
        <p:spPr>
          <a:xfrm>
            <a:off x="8129016" y="1965960"/>
            <a:ext cx="347472" cy="347472"/>
          </a:xfrm>
          <a:prstGeom prst="ellipse">
            <a:avLst/>
          </a:prstGeom>
          <a:solidFill>
            <a:srgbClr val="F4A261"/>
          </a:solidFill>
          <a:ln w="12700">
            <a:solidFill>
              <a:srgbClr val="F4A261">
                <a:alpha val="0"/>
              </a:srgbClr>
            </a:solidFill>
            <a:prstDash val="solid"/>
          </a:ln>
        </p:spPr>
        <p:txBody>
          <a:bodyPr/>
          <a:p/>
        </p:txBody>
      </p:sp>
      <p:sp>
        <p:nvSpPr>
          <p:cNvPr id="17" name="Text 15"/>
          <p:cNvSpPr txBox="1"/>
          <p:nvPr/>
        </p:nvSpPr>
        <p:spPr>
          <a:xfrm>
            <a:off x="8129016" y="1984248"/>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8" name="Text 16"/>
          <p:cNvSpPr txBox="1"/>
          <p:nvPr/>
        </p:nvSpPr>
        <p:spPr>
          <a:xfrm>
            <a:off x="8586216" y="1938528"/>
            <a:ext cx="26060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Inventory risk</a:t>
            </a:r>
            <a:endParaRPr lang="en-US" sz="1600" dirty="0"/>
          </a:p>
        </p:txBody>
      </p:sp>
      <p:sp>
        <p:nvSpPr>
          <p:cNvPr id="19" name="Text 17"/>
          <p:cNvSpPr txBox="1"/>
          <p:nvPr/>
        </p:nvSpPr>
        <p:spPr>
          <a:xfrm>
            <a:off x="8586216" y="2286000"/>
            <a:ext cx="2606040" cy="713232"/>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Measure stock coverage or sales velocity over a rolling time window.</a:t>
            </a:r>
            <a:endParaRPr lang="en-US" sz="1150" dirty="0"/>
          </a:p>
        </p:txBody>
      </p:sp>
      <p:sp>
        <p:nvSpPr>
          <p:cNvPr id="20" name="Shape 18"/>
          <p:cNvSpPr/>
          <p:nvPr/>
        </p:nvSpPr>
        <p:spPr>
          <a:xfrm>
            <a:off x="594360" y="3355848"/>
            <a:ext cx="3429000" cy="1325880"/>
          </a:xfrm>
          <a:prstGeom prst="roundRect">
            <a:avLst>
              <a:gd name="adj" fmla="val 11034"/>
            </a:avLst>
          </a:prstGeom>
          <a:solidFill>
            <a:srgbClr val="FFFFFF"/>
          </a:solidFill>
          <a:ln w="12700">
            <a:solidFill>
              <a:srgbClr val="FFFFFF">
                <a:alpha val="0"/>
              </a:srgbClr>
            </a:solidFill>
            <a:prstDash val="solid"/>
          </a:ln>
        </p:spPr>
        <p:txBody>
          <a:bodyPr/>
          <a:p/>
        </p:txBody>
      </p:sp>
      <p:sp>
        <p:nvSpPr>
          <p:cNvPr id="21" name="Shape 19"/>
          <p:cNvSpPr/>
          <p:nvPr/>
        </p:nvSpPr>
        <p:spPr>
          <a:xfrm>
            <a:off x="777240" y="3538728"/>
            <a:ext cx="347472" cy="347472"/>
          </a:xfrm>
          <a:prstGeom prst="ellipse">
            <a:avLst/>
          </a:prstGeom>
          <a:solidFill>
            <a:srgbClr val="14213D"/>
          </a:solidFill>
          <a:ln w="12700">
            <a:solidFill>
              <a:srgbClr val="14213D">
                <a:alpha val="0"/>
              </a:srgbClr>
            </a:solidFill>
            <a:prstDash val="solid"/>
          </a:ln>
        </p:spPr>
        <p:txBody>
          <a:bodyPr/>
          <a:p/>
        </p:txBody>
      </p:sp>
      <p:sp>
        <p:nvSpPr>
          <p:cNvPr id="22" name="Text 20"/>
          <p:cNvSpPr txBox="1"/>
          <p:nvPr/>
        </p:nvSpPr>
        <p:spPr>
          <a:xfrm>
            <a:off x="777240" y="3557016"/>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3" name="Text 21"/>
          <p:cNvSpPr txBox="1"/>
          <p:nvPr/>
        </p:nvSpPr>
        <p:spPr>
          <a:xfrm>
            <a:off x="1234440" y="3511296"/>
            <a:ext cx="26060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Store performance</a:t>
            </a:r>
            <a:endParaRPr lang="en-US" sz="1600" dirty="0"/>
          </a:p>
        </p:txBody>
      </p:sp>
      <p:sp>
        <p:nvSpPr>
          <p:cNvPr id="24" name="Text 22"/>
          <p:cNvSpPr txBox="1"/>
          <p:nvPr/>
        </p:nvSpPr>
        <p:spPr>
          <a:xfrm>
            <a:off x="1234440" y="3858768"/>
            <a:ext cx="2606040" cy="713232"/>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Compare customer retention and product demand by Store_ID.</a:t>
            </a:r>
            <a:endParaRPr lang="en-US" sz="1150" dirty="0"/>
          </a:p>
        </p:txBody>
      </p:sp>
      <p:sp>
        <p:nvSpPr>
          <p:cNvPr id="25" name="Shape 23"/>
          <p:cNvSpPr/>
          <p:nvPr/>
        </p:nvSpPr>
        <p:spPr>
          <a:xfrm>
            <a:off x="4270248" y="3355848"/>
            <a:ext cx="3429000" cy="1325880"/>
          </a:xfrm>
          <a:prstGeom prst="roundRect">
            <a:avLst>
              <a:gd name="adj" fmla="val 11034"/>
            </a:avLst>
          </a:prstGeom>
          <a:solidFill>
            <a:srgbClr val="FFFFFF"/>
          </a:solidFill>
          <a:ln w="12700">
            <a:solidFill>
              <a:srgbClr val="FFFFFF">
                <a:alpha val="0"/>
              </a:srgbClr>
            </a:solidFill>
            <a:prstDash val="solid"/>
          </a:ln>
        </p:spPr>
        <p:txBody>
          <a:bodyPr/>
          <a:p/>
        </p:txBody>
      </p:sp>
      <p:sp>
        <p:nvSpPr>
          <p:cNvPr id="26" name="Shape 24"/>
          <p:cNvSpPr/>
          <p:nvPr/>
        </p:nvSpPr>
        <p:spPr>
          <a:xfrm>
            <a:off x="4453128" y="3538728"/>
            <a:ext cx="347472" cy="347472"/>
          </a:xfrm>
          <a:prstGeom prst="ellipse">
            <a:avLst/>
          </a:prstGeom>
          <a:solidFill>
            <a:srgbClr val="2A9D8F"/>
          </a:solidFill>
          <a:ln w="12700">
            <a:solidFill>
              <a:srgbClr val="2A9D8F">
                <a:alpha val="0"/>
              </a:srgbClr>
            </a:solidFill>
            <a:prstDash val="solid"/>
          </a:ln>
        </p:spPr>
        <p:txBody>
          <a:bodyPr/>
          <a:p/>
        </p:txBody>
      </p:sp>
      <p:sp>
        <p:nvSpPr>
          <p:cNvPr id="27" name="Text 25"/>
          <p:cNvSpPr txBox="1"/>
          <p:nvPr/>
        </p:nvSpPr>
        <p:spPr>
          <a:xfrm>
            <a:off x="4453128" y="3557016"/>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28" name="Text 26"/>
          <p:cNvSpPr txBox="1"/>
          <p:nvPr/>
        </p:nvSpPr>
        <p:spPr>
          <a:xfrm>
            <a:off x="4910328" y="3511296"/>
            <a:ext cx="26060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Seasonality</a:t>
            </a:r>
            <a:endParaRPr lang="en-US" sz="1600" dirty="0"/>
          </a:p>
        </p:txBody>
      </p:sp>
      <p:sp>
        <p:nvSpPr>
          <p:cNvPr id="29" name="Text 27"/>
          <p:cNvSpPr txBox="1"/>
          <p:nvPr/>
        </p:nvSpPr>
        <p:spPr>
          <a:xfrm>
            <a:off x="4910328" y="3858768"/>
            <a:ext cx="2606040" cy="713232"/>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Break purchase gaps and demand by month / quarter to separate normal cycles from churn.</a:t>
            </a:r>
            <a:endParaRPr lang="en-US" sz="1150" dirty="0"/>
          </a:p>
        </p:txBody>
      </p:sp>
      <p:sp>
        <p:nvSpPr>
          <p:cNvPr id="30" name="Shape 28"/>
          <p:cNvSpPr/>
          <p:nvPr/>
        </p:nvSpPr>
        <p:spPr>
          <a:xfrm>
            <a:off x="7946136" y="3355848"/>
            <a:ext cx="3429000" cy="1325880"/>
          </a:xfrm>
          <a:prstGeom prst="roundRect">
            <a:avLst>
              <a:gd name="adj" fmla="val 11034"/>
            </a:avLst>
          </a:prstGeom>
          <a:solidFill>
            <a:srgbClr val="FFFFFF"/>
          </a:solidFill>
          <a:ln w="12700">
            <a:solidFill>
              <a:srgbClr val="FFFFFF">
                <a:alpha val="0"/>
              </a:srgbClr>
            </a:solidFill>
            <a:prstDash val="solid"/>
          </a:ln>
        </p:spPr>
        <p:txBody>
          <a:bodyPr/>
          <a:p/>
        </p:txBody>
      </p:sp>
      <p:sp>
        <p:nvSpPr>
          <p:cNvPr id="31" name="Shape 29"/>
          <p:cNvSpPr/>
          <p:nvPr/>
        </p:nvSpPr>
        <p:spPr>
          <a:xfrm>
            <a:off x="8129016" y="3538728"/>
            <a:ext cx="347472" cy="347472"/>
          </a:xfrm>
          <a:prstGeom prst="ellipse">
            <a:avLst/>
          </a:prstGeom>
          <a:solidFill>
            <a:srgbClr val="F6BD60"/>
          </a:solidFill>
          <a:ln w="12700">
            <a:solidFill>
              <a:srgbClr val="F6BD60">
                <a:alpha val="0"/>
              </a:srgbClr>
            </a:solidFill>
            <a:prstDash val="solid"/>
          </a:ln>
        </p:spPr>
        <p:txBody>
          <a:bodyPr/>
          <a:p/>
        </p:txBody>
      </p:sp>
      <p:sp>
        <p:nvSpPr>
          <p:cNvPr id="32" name="Text 30"/>
          <p:cNvSpPr txBox="1"/>
          <p:nvPr/>
        </p:nvSpPr>
        <p:spPr>
          <a:xfrm>
            <a:off x="8129016" y="3557016"/>
            <a:ext cx="347472" cy="18288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33" name="Text 31"/>
          <p:cNvSpPr txBox="1"/>
          <p:nvPr/>
        </p:nvSpPr>
        <p:spPr>
          <a:xfrm>
            <a:off x="8586216" y="3511296"/>
            <a:ext cx="2606040" cy="274320"/>
          </a:xfrm>
          <a:prstGeom prst="rect">
            <a:avLst/>
          </a:prstGeom>
          <a:noFill/>
          <a:ln/>
        </p:spPr>
        <p:txBody>
          <a:bodyPr wrap="square" lIns="0" tIns="0" rIns="0" bIns="0" rtlCol="0" anchor="ctr">
            <a:normAutofit/>
          </a:bodyPr>
          <a:lstStyle/>
          <a:p>
            <a:pPr algn="l" indent="0" marL="0">
              <a:buNone/>
            </a:pPr>
            <a:r>
              <a:rPr lang="en-US" sz="1600" b="1" dirty="0">
                <a:solidFill>
                  <a:srgbClr val="14213D"/>
                </a:solidFill>
                <a:latin typeface="Arial" pitchFamily="34" charset="0"/>
                <a:ea typeface="Arial" pitchFamily="34" charset="-122"/>
                <a:cs typeface="Arial" pitchFamily="34" charset="-120"/>
              </a:rPr>
              <a:t>Margin view</a:t>
            </a:r>
            <a:endParaRPr lang="en-US" sz="1600" dirty="0"/>
          </a:p>
        </p:txBody>
      </p:sp>
      <p:sp>
        <p:nvSpPr>
          <p:cNvPr id="34" name="Text 32"/>
          <p:cNvSpPr txBox="1"/>
          <p:nvPr/>
        </p:nvSpPr>
        <p:spPr>
          <a:xfrm>
            <a:off x="8586216" y="3858768"/>
            <a:ext cx="2606040" cy="713232"/>
          </a:xfrm>
          <a:prstGeom prst="rect">
            <a:avLst/>
          </a:prstGeom>
          <a:noFill/>
          <a:ln/>
        </p:spPr>
        <p:txBody>
          <a:bodyPr wrap="square" lIns="0" tIns="0" rIns="0" bIns="0" rtlCol="0" anchor="t">
            <a:normAutofit/>
          </a:bodyPr>
          <a:lstStyle/>
          <a:p>
            <a:pPr algn="l" indent="0" marL="0">
              <a:buNone/>
            </a:pPr>
            <a:r>
              <a:rPr lang="en-US" sz="1150" dirty="0">
                <a:solidFill>
                  <a:srgbClr val="667085"/>
                </a:solidFill>
                <a:latin typeface="Arial" pitchFamily="34" charset="0"/>
                <a:ea typeface="Arial" pitchFamily="34" charset="-122"/>
                <a:cs typeface="Arial" pitchFamily="34" charset="-120"/>
              </a:rPr>
              <a:t>Replace pure revenue with gross-margin contribution for stronger prioritization.</a:t>
            </a:r>
            <a:endParaRPr lang="en-US" sz="1150" dirty="0"/>
          </a:p>
        </p:txBody>
      </p:sp>
      <p:sp>
        <p:nvSpPr>
          <p:cNvPr id="35" name="Shape 33"/>
          <p:cNvSpPr/>
          <p:nvPr/>
        </p:nvSpPr>
        <p:spPr>
          <a:xfrm>
            <a:off x="594360" y="5376672"/>
            <a:ext cx="10744200" cy="658368"/>
          </a:xfrm>
          <a:prstGeom prst="roundRect">
            <a:avLst>
              <a:gd name="adj" fmla="val 19444"/>
            </a:avLst>
          </a:prstGeom>
          <a:solidFill>
            <a:srgbClr val="FFFFFF"/>
          </a:solidFill>
          <a:ln w="12700">
            <a:solidFill>
              <a:srgbClr val="FFFFFF">
                <a:alpha val="0"/>
              </a:srgbClr>
            </a:solidFill>
            <a:prstDash val="solid"/>
          </a:ln>
        </p:spPr>
        <p:txBody>
          <a:bodyPr/>
          <a:p/>
        </p:txBody>
      </p:sp>
      <p:sp>
        <p:nvSpPr>
          <p:cNvPr id="36" name="Text 34"/>
          <p:cNvSpPr txBox="1"/>
          <p:nvPr/>
        </p:nvSpPr>
        <p:spPr>
          <a:xfrm>
            <a:off x="822960" y="5559552"/>
            <a:ext cx="10241280" cy="274320"/>
          </a:xfrm>
          <a:prstGeom prst="rect">
            <a:avLst/>
          </a:prstGeom>
          <a:noFill/>
          <a:ln/>
        </p:spPr>
        <p:txBody>
          <a:bodyPr wrap="square" lIns="0" tIns="0" rIns="0" bIns="0" rtlCol="0" anchor="ctr">
            <a:normAutofit/>
          </a:bodyPr>
          <a:lstStyle/>
          <a:p>
            <a:pPr algn="ctr" indent="0" marL="0">
              <a:buNone/>
            </a:pPr>
            <a:r>
              <a:rPr lang="en-US" sz="1600" b="1" dirty="0">
                <a:solidFill>
                  <a:srgbClr val="14213D"/>
                </a:solidFill>
                <a:latin typeface="Cambria" pitchFamily="34" charset="0"/>
                <a:ea typeface="Cambria" pitchFamily="34" charset="-122"/>
                <a:cs typeface="Cambria" pitchFamily="34" charset="-120"/>
              </a:rPr>
              <a:t>Modular SQL makes it easier to extend the analysis with additional metrics.</a:t>
            </a:r>
            <a:endParaRPr lang="en-US" sz="1600" dirty="0"/>
          </a:p>
        </p:txBody>
      </p:sp>
      <p:sp>
        <p:nvSpPr>
          <p:cNvPr id="25" name="Slide Number Placeholder 0"/>
          <p:cNvSpPr>
            <a:spLocks noGrp="1"/>
          </p:cNvSpPr>
          <p:nvPr>
            <p:ph type="sldNum" sz="quarter" idx="4294967295"/>
          </p:nvPr>
        </p:nvSpPr>
        <p:spPr>
          <a:xfrm>
            <a:off x="11686032" y="646480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8595"/>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47472"/>
            <a:ext cx="2560320" cy="228600"/>
          </a:xfrm>
          <a:prstGeom prst="rect">
            <a:avLst/>
          </a:prstGeom>
          <a:noFill/>
          <a:ln/>
        </p:spPr>
        <p:txBody>
          <a:bodyPr wrap="square" lIns="0" tIns="0" rIns="0" bIns="0" rtlCol="0" anchor="ctr">
            <a:normAutofit/>
          </a:bodyPr>
          <a:lstStyle/>
          <a:p>
            <a:pPr algn="l" indent="0" marL="0">
              <a:buNone/>
            </a:pPr>
            <a:r>
              <a:rPr lang="en-US" sz="900" b="1" spc="110" kern="0" dirty="0">
                <a:solidFill>
                  <a:srgbClr val="008C95"/>
                </a:solidFill>
                <a:latin typeface="Arial" pitchFamily="34" charset="0"/>
                <a:ea typeface="Arial" pitchFamily="34" charset="-122"/>
                <a:cs typeface="Arial" pitchFamily="34" charset="-120"/>
              </a:rPr>
              <a:t>11 • PROJECT REPOSITORY</a:t>
            </a:r>
            <a:endParaRPr lang="en-US" sz="900" dirty="0"/>
          </a:p>
        </p:txBody>
      </p:sp>
      <p:sp>
        <p:nvSpPr>
          <p:cNvPr id="3" name="Text 1"/>
          <p:cNvSpPr txBox="1"/>
          <p:nvPr/>
        </p:nvSpPr>
        <p:spPr>
          <a:xfrm>
            <a:off x="548640" y="640080"/>
            <a:ext cx="10607040" cy="566928"/>
          </a:xfrm>
          <a:prstGeom prst="rect">
            <a:avLst/>
          </a:prstGeom>
          <a:noFill/>
          <a:ln/>
        </p:spPr>
        <p:txBody>
          <a:bodyPr wrap="square" lIns="0" tIns="0" rIns="0" bIns="0" rtlCol="0" anchor="ctr">
            <a:normAutofit/>
          </a:bodyPr>
          <a:lstStyle/>
          <a:p>
            <a:pPr algn="l" indent="0" marL="0">
              <a:buNone/>
            </a:pPr>
            <a:r>
              <a:rPr lang="en-US" sz="2900" b="1" dirty="0">
                <a:solidFill>
                  <a:srgbClr val="14213D"/>
                </a:solidFill>
                <a:latin typeface="Cambria" pitchFamily="34" charset="0"/>
                <a:ea typeface="Cambria" pitchFamily="34" charset="-122"/>
                <a:cs typeface="Cambria" pitchFamily="34" charset="-120"/>
              </a:rPr>
              <a:t>Project repository</a:t>
            </a:r>
            <a:endParaRPr lang="en-US" sz="2900" dirty="0"/>
          </a:p>
        </p:txBody>
      </p:sp>
      <p:sp>
        <p:nvSpPr>
          <p:cNvPr id="4" name="Text 2"/>
          <p:cNvSpPr txBox="1"/>
          <p:nvPr/>
        </p:nvSpPr>
        <p:spPr>
          <a:xfrm>
            <a:off x="548640" y="1243584"/>
            <a:ext cx="10607040" cy="384048"/>
          </a:xfrm>
          <a:prstGeom prst="rect">
            <a:avLst/>
          </a:prstGeom>
          <a:noFill/>
          <a:ln/>
        </p:spPr>
        <p:txBody>
          <a:bodyPr wrap="square" lIns="0" tIns="0" rIns="0" bIns="0" rtlCol="0" anchor="ctr">
            <a:normAutofit/>
          </a:bodyPr>
          <a:lstStyle/>
          <a:p>
            <a:pPr algn="l" indent="0" marL="0">
              <a:buNone/>
            </a:pPr>
            <a:r>
              <a:rPr lang="en-US" sz="1250" dirty="0">
                <a:solidFill>
                  <a:srgbClr val="667085"/>
                </a:solidFill>
                <a:latin typeface="Arial" pitchFamily="34" charset="0"/>
                <a:ea typeface="Arial" pitchFamily="34" charset="-122"/>
                <a:cs typeface="Arial" pitchFamily="34" charset="-120"/>
              </a:rPr>
              <a:t>The repository contains the database schema, practice queries, and analytical SQL used in this project.</a:t>
            </a:r>
            <a:endParaRPr lang="en-US" sz="1250" dirty="0"/>
          </a:p>
        </p:txBody>
      </p:sp>
      <p:sp>
        <p:nvSpPr>
          <p:cNvPr id="5" name="Shape 3"/>
          <p:cNvSpPr/>
          <p:nvPr/>
        </p:nvSpPr>
        <p:spPr>
          <a:xfrm>
            <a:off x="594360" y="1783080"/>
            <a:ext cx="6995160" cy="3566160"/>
          </a:xfrm>
          <a:prstGeom prst="roundRect">
            <a:avLst>
              <a:gd name="adj" fmla="val 4359"/>
            </a:avLst>
          </a:prstGeom>
          <a:solidFill>
            <a:srgbClr val="FFFFFF"/>
          </a:solidFill>
          <a:ln w="12700">
            <a:solidFill>
              <a:srgbClr val="FFFFFF">
                <a:alpha val="0"/>
              </a:srgbClr>
            </a:solidFill>
            <a:prstDash val="solid"/>
          </a:ln>
        </p:spPr>
        <p:txBody>
          <a:bodyPr/>
          <a:p/>
        </p:txBody>
      </p:sp>
      <p:sp>
        <p:nvSpPr>
          <p:cNvPr id="6" name="Shape 4"/>
          <p:cNvSpPr/>
          <p:nvPr/>
        </p:nvSpPr>
        <p:spPr>
          <a:xfrm>
            <a:off x="868680" y="2048256"/>
            <a:ext cx="1645920" cy="310896"/>
          </a:xfrm>
          <a:prstGeom prst="roundRect">
            <a:avLst>
              <a:gd name="adj" fmla="val 50000"/>
            </a:avLst>
          </a:prstGeom>
          <a:solidFill>
            <a:srgbClr val="EAF7F8"/>
          </a:solidFill>
          <a:ln w="12700">
            <a:solidFill>
              <a:srgbClr val="EAF7F8">
                <a:alpha val="0"/>
              </a:srgbClr>
            </a:solidFill>
            <a:prstDash val="solid"/>
          </a:ln>
        </p:spPr>
        <p:txBody>
          <a:bodyPr/>
          <a:p/>
        </p:txBody>
      </p:sp>
      <p:sp>
        <p:nvSpPr>
          <p:cNvPr id="7" name="Text 5"/>
          <p:cNvSpPr txBox="1"/>
          <p:nvPr/>
        </p:nvSpPr>
        <p:spPr>
          <a:xfrm>
            <a:off x="868680" y="2066544"/>
            <a:ext cx="1645920" cy="201168"/>
          </a:xfrm>
          <a:prstGeom prst="rect">
            <a:avLst/>
          </a:prstGeom>
          <a:noFill/>
          <a:ln/>
        </p:spPr>
        <p:txBody>
          <a:bodyPr wrap="square" lIns="0" tIns="0" rIns="0" bIns="0" rtlCol="0" anchor="ctr">
            <a:normAutofit/>
          </a:bodyPr>
          <a:lstStyle/>
          <a:p>
            <a:pPr algn="ctr" indent="0" marL="0">
              <a:buNone/>
            </a:pPr>
            <a:r>
              <a:rPr lang="en-US" sz="900" b="1" dirty="0">
                <a:solidFill>
                  <a:srgbClr val="008C95"/>
                </a:solidFill>
                <a:latin typeface="Arial" pitchFamily="34" charset="0"/>
                <a:ea typeface="Arial" pitchFamily="34" charset="-122"/>
                <a:cs typeface="Arial" pitchFamily="34" charset="-120"/>
              </a:rPr>
              <a:t>GITHUB REPOSITORY</a:t>
            </a:r>
            <a:endParaRPr lang="en-US" sz="900" dirty="0"/>
          </a:p>
        </p:txBody>
      </p:sp>
      <p:sp>
        <p:nvSpPr>
          <p:cNvPr id="8" name="Text 6"/>
          <p:cNvSpPr txBox="1"/>
          <p:nvPr/>
        </p:nvSpPr>
        <p:spPr>
          <a:xfrm>
            <a:off x="868680" y="2606040"/>
            <a:ext cx="5989320" cy="438912"/>
          </a:xfrm>
          <a:prstGeom prst="rect">
            <a:avLst/>
          </a:prstGeom>
          <a:noFill/>
          <a:ln/>
        </p:spPr>
        <p:txBody>
          <a:bodyPr wrap="square" lIns="0" tIns="0" rIns="0" bIns="0" rtlCol="0" anchor="ctr">
            <a:normAutofit/>
          </a:bodyPr>
          <a:lstStyle/>
          <a:p>
            <a:pPr algn="l" indent="0" marL="0">
              <a:buNone/>
            </a:pPr>
            <a:r>
              <a:rPr lang="en-US" sz="2400" b="1" dirty="0">
                <a:solidFill>
                  <a:srgbClr val="14213D"/>
                </a:solidFill>
                <a:latin typeface="Cambria" pitchFamily="34" charset="0"/>
                <a:ea typeface="Cambria" pitchFamily="34" charset="-122"/>
                <a:cs typeface="Cambria" pitchFamily="34" charset="-120"/>
              </a:rPr>
              <a:t>sql-data-science-mastery</a:t>
            </a:r>
            <a:endParaRPr lang="en-US" sz="2400" dirty="0"/>
          </a:p>
        </p:txBody>
      </p:sp>
      <p:sp>
        <p:nvSpPr>
          <p:cNvPr id="9" name="Text 7"/>
          <p:cNvSpPr txBox="1"/>
          <p:nvPr/>
        </p:nvSpPr>
        <p:spPr>
          <a:xfrm>
            <a:off x="868680" y="3200400"/>
            <a:ext cx="6035040" cy="438912"/>
          </a:xfrm>
          <a:prstGeom prst="rect">
            <a:avLst/>
          </a:prstGeom>
          <a:noFill/>
          <a:ln/>
        </p:spPr>
        <p:txBody>
          <a:bodyPr wrap="square" lIns="0" tIns="0" rIns="0" bIns="0" rtlCol="0" anchor="ctr">
            <a:normAutofit/>
          </a:bodyPr>
          <a:lstStyle/>
          <a:p>
            <a:pPr algn="l" indent="0" marL="0">
              <a:buNone/>
            </a:pPr>
            <a:r>
              <a:rPr lang="en-US" sz="1150" dirty="0">
                <a:solidFill>
                  <a:srgbClr val="008C95"/>
                </a:solidFill>
                <a:latin typeface="Arial" pitchFamily="34" charset="0"/>
                <a:ea typeface="Arial" pitchFamily="34" charset="-122"/>
                <a:cs typeface="Arial" pitchFamily="34" charset="-120"/>
              </a:rPr>
              <a:t>github.com/kalipindiprasanthsai1267-hub/sql-data-science-mastery</a:t>
            </a:r>
            <a:endParaRPr lang="en-US" sz="1150" dirty="0"/>
          </a:p>
        </p:txBody>
      </p:sp>
      <p:sp>
        <p:nvSpPr>
          <p:cNvPr id="10" name="Shape 8"/>
          <p:cNvSpPr/>
          <p:nvPr/>
        </p:nvSpPr>
        <p:spPr>
          <a:xfrm>
            <a:off x="896112" y="3977640"/>
            <a:ext cx="137160" cy="137160"/>
          </a:xfrm>
          <a:prstGeom prst="ellipse">
            <a:avLst/>
          </a:prstGeom>
          <a:solidFill>
            <a:srgbClr val="008C95"/>
          </a:solidFill>
          <a:ln w="12700">
            <a:solidFill>
              <a:srgbClr val="008C95">
                <a:alpha val="0"/>
              </a:srgbClr>
            </a:solidFill>
            <a:prstDash val="solid"/>
          </a:ln>
        </p:spPr>
        <p:txBody>
          <a:bodyPr/>
          <a:p/>
        </p:txBody>
      </p:sp>
      <p:sp>
        <p:nvSpPr>
          <p:cNvPr id="11" name="Text 9"/>
          <p:cNvSpPr txBox="1"/>
          <p:nvPr/>
        </p:nvSpPr>
        <p:spPr>
          <a:xfrm>
            <a:off x="1170432" y="3922776"/>
            <a:ext cx="5303520" cy="201168"/>
          </a:xfrm>
          <a:prstGeom prst="rect">
            <a:avLst/>
          </a:prstGeom>
          <a:noFill/>
          <a:ln/>
        </p:spPr>
        <p:txBody>
          <a:bodyPr wrap="square" lIns="0" tIns="0" rIns="0" bIns="0" rtlCol="0" anchor="ctr">
            <a:normAutofit/>
          </a:bodyPr>
          <a:lstStyle/>
          <a:p>
            <a:pPr algn="l" indent="0" marL="0">
              <a:buNone/>
            </a:pPr>
            <a:r>
              <a:rPr lang="en-US" sz="1150" dirty="0">
                <a:solidFill>
                  <a:srgbClr val="152238"/>
                </a:solidFill>
                <a:latin typeface="Arial" pitchFamily="34" charset="0"/>
                <a:ea typeface="Arial" pitchFamily="34" charset="-122"/>
                <a:cs typeface="Arial" pitchFamily="34" charset="-120"/>
              </a:rPr>
              <a:t>Database schema</a:t>
            </a:r>
            <a:endParaRPr lang="en-US" sz="1150" dirty="0"/>
          </a:p>
        </p:txBody>
      </p:sp>
      <p:sp>
        <p:nvSpPr>
          <p:cNvPr id="12" name="Shape 10"/>
          <p:cNvSpPr/>
          <p:nvPr/>
        </p:nvSpPr>
        <p:spPr>
          <a:xfrm>
            <a:off x="896112" y="4297680"/>
            <a:ext cx="137160" cy="137160"/>
          </a:xfrm>
          <a:prstGeom prst="ellipse">
            <a:avLst/>
          </a:prstGeom>
          <a:solidFill>
            <a:srgbClr val="008C95"/>
          </a:solidFill>
          <a:ln w="12700">
            <a:solidFill>
              <a:srgbClr val="008C95">
                <a:alpha val="0"/>
              </a:srgbClr>
            </a:solidFill>
            <a:prstDash val="solid"/>
          </a:ln>
        </p:spPr>
        <p:txBody>
          <a:bodyPr/>
          <a:p/>
        </p:txBody>
      </p:sp>
      <p:sp>
        <p:nvSpPr>
          <p:cNvPr id="13" name="Text 11"/>
          <p:cNvSpPr txBox="1"/>
          <p:nvPr/>
        </p:nvSpPr>
        <p:spPr>
          <a:xfrm>
            <a:off x="1170432" y="4242816"/>
            <a:ext cx="5303520" cy="201168"/>
          </a:xfrm>
          <a:prstGeom prst="rect">
            <a:avLst/>
          </a:prstGeom>
          <a:noFill/>
          <a:ln/>
        </p:spPr>
        <p:txBody>
          <a:bodyPr wrap="square" lIns="0" tIns="0" rIns="0" bIns="0" rtlCol="0" anchor="ctr">
            <a:normAutofit/>
          </a:bodyPr>
          <a:lstStyle/>
          <a:p>
            <a:pPr algn="l" indent="0" marL="0">
              <a:buNone/>
            </a:pPr>
            <a:r>
              <a:rPr lang="en-US" sz="1150" dirty="0">
                <a:solidFill>
                  <a:srgbClr val="152238"/>
                </a:solidFill>
                <a:latin typeface="Arial" pitchFamily="34" charset="0"/>
                <a:ea typeface="Arial" pitchFamily="34" charset="-122"/>
                <a:cs typeface="Arial" pitchFamily="34" charset="-120"/>
              </a:rPr>
              <a:t>Practice queries</a:t>
            </a:r>
            <a:endParaRPr lang="en-US" sz="1150" dirty="0"/>
          </a:p>
        </p:txBody>
      </p:sp>
      <p:sp>
        <p:nvSpPr>
          <p:cNvPr id="14" name="Shape 12"/>
          <p:cNvSpPr/>
          <p:nvPr/>
        </p:nvSpPr>
        <p:spPr>
          <a:xfrm>
            <a:off x="896112" y="4617720"/>
            <a:ext cx="137160" cy="137160"/>
          </a:xfrm>
          <a:prstGeom prst="ellipse">
            <a:avLst/>
          </a:prstGeom>
          <a:solidFill>
            <a:srgbClr val="008C95"/>
          </a:solidFill>
          <a:ln w="12700">
            <a:solidFill>
              <a:srgbClr val="008C95">
                <a:alpha val="0"/>
              </a:srgbClr>
            </a:solidFill>
            <a:prstDash val="solid"/>
          </a:ln>
        </p:spPr>
        <p:txBody>
          <a:bodyPr/>
          <a:p/>
        </p:txBody>
      </p:sp>
      <p:sp>
        <p:nvSpPr>
          <p:cNvPr id="15" name="Text 13"/>
          <p:cNvSpPr txBox="1"/>
          <p:nvPr/>
        </p:nvSpPr>
        <p:spPr>
          <a:xfrm>
            <a:off x="1170432" y="4562856"/>
            <a:ext cx="5303520" cy="201168"/>
          </a:xfrm>
          <a:prstGeom prst="rect">
            <a:avLst/>
          </a:prstGeom>
          <a:noFill/>
          <a:ln/>
        </p:spPr>
        <p:txBody>
          <a:bodyPr wrap="square" lIns="0" tIns="0" rIns="0" bIns="0" rtlCol="0" anchor="ctr">
            <a:normAutofit/>
          </a:bodyPr>
          <a:lstStyle/>
          <a:p>
            <a:pPr algn="l" indent="0" marL="0">
              <a:buNone/>
            </a:pPr>
            <a:r>
              <a:rPr lang="en-US" sz="1150" dirty="0">
                <a:solidFill>
                  <a:srgbClr val="152238"/>
                </a:solidFill>
                <a:latin typeface="Arial" pitchFamily="34" charset="0"/>
                <a:ea typeface="Arial" pitchFamily="34" charset="-122"/>
                <a:cs typeface="Arial" pitchFamily="34" charset="-120"/>
              </a:rPr>
              <a:t>Progressive SQL concepts</a:t>
            </a:r>
            <a:endParaRPr lang="en-US" sz="1150" dirty="0"/>
          </a:p>
        </p:txBody>
      </p:sp>
      <p:sp>
        <p:nvSpPr>
          <p:cNvPr id="16" name="Shape 14"/>
          <p:cNvSpPr/>
          <p:nvPr/>
        </p:nvSpPr>
        <p:spPr>
          <a:xfrm>
            <a:off x="896112" y="4937760"/>
            <a:ext cx="137160" cy="137160"/>
          </a:xfrm>
          <a:prstGeom prst="ellipse">
            <a:avLst/>
          </a:prstGeom>
          <a:solidFill>
            <a:srgbClr val="008C95"/>
          </a:solidFill>
          <a:ln w="12700">
            <a:solidFill>
              <a:srgbClr val="008C95">
                <a:alpha val="0"/>
              </a:srgbClr>
            </a:solidFill>
            <a:prstDash val="solid"/>
          </a:ln>
        </p:spPr>
        <p:txBody>
          <a:bodyPr/>
          <a:p/>
        </p:txBody>
      </p:sp>
      <p:sp>
        <p:nvSpPr>
          <p:cNvPr id="17" name="Text 15"/>
          <p:cNvSpPr txBox="1"/>
          <p:nvPr/>
        </p:nvSpPr>
        <p:spPr>
          <a:xfrm>
            <a:off x="1170432" y="4882896"/>
            <a:ext cx="5303520" cy="201168"/>
          </a:xfrm>
          <a:prstGeom prst="rect">
            <a:avLst/>
          </a:prstGeom>
          <a:noFill/>
          <a:ln/>
        </p:spPr>
        <p:txBody>
          <a:bodyPr wrap="square" lIns="0" tIns="0" rIns="0" bIns="0" rtlCol="0" anchor="ctr">
            <a:normAutofit/>
          </a:bodyPr>
          <a:lstStyle/>
          <a:p>
            <a:pPr algn="l" indent="0" marL="0">
              <a:buNone/>
            </a:pPr>
            <a:r>
              <a:rPr lang="en-US" sz="1150" dirty="0">
                <a:solidFill>
                  <a:srgbClr val="152238"/>
                </a:solidFill>
                <a:latin typeface="Arial" pitchFamily="34" charset="0"/>
                <a:ea typeface="Arial" pitchFamily="34" charset="-122"/>
                <a:cs typeface="Arial" pitchFamily="34" charset="-120"/>
              </a:rPr>
              <a:t>Business-style analytical questions</a:t>
            </a:r>
            <a:endParaRPr lang="en-US" sz="1150" dirty="0"/>
          </a:p>
        </p:txBody>
      </p:sp>
      <p:pic>
        <p:nvPicPr>
          <p:cNvPr id="18" name="Image 0" descr="/mnt/data/sql_deck_assets/github.png">    </p:cNvPr>
          <p:cNvPicPr>
            <a:picLocks noChangeAspect="1"/>
          </p:cNvPicPr>
          <p:nvPr/>
        </p:nvPicPr>
        <p:blipFill>
          <a:blip r:embed="rId1"/>
          <a:stretch>
            <a:fillRect/>
          </a:stretch>
        </p:blipFill>
        <p:spPr>
          <a:xfrm>
            <a:off x="8275320" y="1920240"/>
            <a:ext cx="1554480" cy="1554480"/>
          </a:xfrm>
          <a:prstGeom prst="rect">
            <a:avLst/>
          </a:prstGeom>
        </p:spPr>
      </p:pic>
      <p:sp>
        <p:nvSpPr>
          <p:cNvPr id="19" name="Text 16"/>
          <p:cNvSpPr txBox="1"/>
          <p:nvPr/>
        </p:nvSpPr>
        <p:spPr>
          <a:xfrm>
            <a:off x="7936992" y="3675888"/>
            <a:ext cx="2240280" cy="256032"/>
          </a:xfrm>
          <a:prstGeom prst="rect">
            <a:avLst/>
          </a:prstGeom>
          <a:noFill/>
          <a:ln/>
        </p:spPr>
        <p:txBody>
          <a:bodyPr wrap="square" lIns="0" tIns="0" rIns="0" bIns="0" rtlCol="0" anchor="ctr">
            <a:normAutofit/>
          </a:bodyPr>
          <a:lstStyle/>
          <a:p>
            <a:pPr algn="ctr" indent="0" marL="0">
              <a:buNone/>
            </a:pPr>
            <a:r>
              <a:rPr lang="en-US" sz="1100" b="1" dirty="0">
                <a:solidFill>
                  <a:srgbClr val="14213D"/>
                </a:solidFill>
                <a:latin typeface="Arial" pitchFamily="34" charset="0"/>
                <a:ea typeface="Arial" pitchFamily="34" charset="-122"/>
                <a:cs typeface="Arial" pitchFamily="34" charset="-120"/>
              </a:rPr>
              <a:t>Scan to open the repository</a:t>
            </a:r>
            <a:endParaRPr lang="en-US" sz="1100" dirty="0"/>
          </a:p>
        </p:txBody>
      </p:sp>
      <p:sp>
        <p:nvSpPr>
          <p:cNvPr id="20" name="Text 17"/>
          <p:cNvSpPr txBox="1"/>
          <p:nvPr/>
        </p:nvSpPr>
        <p:spPr>
          <a:xfrm>
            <a:off x="7973568" y="4069080"/>
            <a:ext cx="2148840" cy="228600"/>
          </a:xfrm>
          <a:prstGeom prst="rect">
            <a:avLst/>
          </a:prstGeom>
          <a:noFill/>
          <a:ln/>
        </p:spPr>
        <p:txBody>
          <a:bodyPr wrap="square" lIns="0" tIns="0" rIns="0" bIns="0" rtlCol="0" anchor="ctr">
            <a:normAutofit/>
          </a:bodyPr>
          <a:lstStyle/>
          <a:p>
            <a:pPr algn="ctr" indent="0" marL="0">
              <a:buNone/>
            </a:pPr>
            <a:r>
              <a:rPr lang="en-US" sz="1000" dirty="0">
                <a:solidFill>
                  <a:srgbClr val="667085"/>
                </a:solidFill>
                <a:latin typeface="Arial" pitchFamily="34" charset="0"/>
                <a:ea typeface="Arial" pitchFamily="34" charset="-122"/>
                <a:cs typeface="Arial" pitchFamily="34" charset="-120"/>
              </a:rPr>
              <a:t>Project source • SQL</a:t>
            </a:r>
            <a:endParaRPr lang="en-US" sz="1000" dirty="0"/>
          </a:p>
        </p:txBody>
      </p:sp>
      <p:sp>
        <p:nvSpPr>
          <p:cNvPr id="25" name="Slide Number Placeholder 0"/>
          <p:cNvSpPr>
            <a:spLocks noGrp="1"/>
          </p:cNvSpPr>
          <p:nvPr>
            <p:ph type="sldNum" sz="quarter" idx="4294967295"/>
          </p:nvPr>
        </p:nvSpPr>
        <p:spPr>
          <a:xfrm>
            <a:off x="11686032" y="646480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8595"/>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47472"/>
            <a:ext cx="2560320" cy="228600"/>
          </a:xfrm>
          <a:prstGeom prst="rect">
            <a:avLst/>
          </a:prstGeom>
          <a:noFill/>
          <a:ln/>
        </p:spPr>
        <p:txBody>
          <a:bodyPr wrap="square" lIns="0" tIns="0" rIns="0" bIns="0" rtlCol="0" anchor="ctr">
            <a:normAutofit/>
          </a:bodyPr>
          <a:lstStyle/>
          <a:p>
            <a:pPr algn="l" indent="0" marL="0">
              <a:buNone/>
            </a:pPr>
            <a:r>
              <a:rPr lang="en-US" sz="900" b="1" spc="110" kern="0" dirty="0">
                <a:solidFill>
                  <a:srgbClr val="008C95"/>
                </a:solidFill>
                <a:latin typeface="Arial" pitchFamily="34" charset="0"/>
                <a:ea typeface="Arial" pitchFamily="34" charset="-122"/>
                <a:cs typeface="Arial" pitchFamily="34" charset="-120"/>
              </a:rPr>
              <a:t>12 • DATA SCIENCE FOUNDATION</a:t>
            </a:r>
            <a:endParaRPr lang="en-US" sz="900" dirty="0"/>
          </a:p>
        </p:txBody>
      </p:sp>
      <p:sp>
        <p:nvSpPr>
          <p:cNvPr id="3" name="Text 1"/>
          <p:cNvSpPr txBox="1"/>
          <p:nvPr/>
        </p:nvSpPr>
        <p:spPr>
          <a:xfrm>
            <a:off x="548640" y="640080"/>
            <a:ext cx="10607040" cy="566928"/>
          </a:xfrm>
          <a:prstGeom prst="rect">
            <a:avLst/>
          </a:prstGeom>
          <a:noFill/>
          <a:ln/>
        </p:spPr>
        <p:txBody>
          <a:bodyPr wrap="square" lIns="0" tIns="0" rIns="0" bIns="0" rtlCol="0" anchor="ctr">
            <a:normAutofit/>
          </a:bodyPr>
          <a:lstStyle/>
          <a:p>
            <a:pPr algn="l" indent="0" marL="0">
              <a:buNone/>
            </a:pPr>
            <a:r>
              <a:rPr lang="en-US" sz="2900" b="1" dirty="0">
                <a:solidFill>
                  <a:srgbClr val="14213D"/>
                </a:solidFill>
                <a:latin typeface="Cambria" pitchFamily="34" charset="0"/>
                <a:ea typeface="Cambria" pitchFamily="34" charset="-122"/>
                <a:cs typeface="Cambria" pitchFamily="34" charset="-120"/>
              </a:rPr>
              <a:t>Data science foundation</a:t>
            </a:r>
            <a:endParaRPr lang="en-US" sz="2900" dirty="0"/>
          </a:p>
        </p:txBody>
      </p:sp>
      <p:sp>
        <p:nvSpPr>
          <p:cNvPr id="4" name="Text 2"/>
          <p:cNvSpPr txBox="1"/>
          <p:nvPr/>
        </p:nvSpPr>
        <p:spPr>
          <a:xfrm>
            <a:off x="548640" y="1243584"/>
            <a:ext cx="10607040" cy="384048"/>
          </a:xfrm>
          <a:prstGeom prst="rect">
            <a:avLst/>
          </a:prstGeom>
          <a:noFill/>
          <a:ln/>
        </p:spPr>
        <p:txBody>
          <a:bodyPr wrap="square" lIns="0" tIns="0" rIns="0" bIns="0" rtlCol="0" anchor="ctr">
            <a:normAutofit/>
          </a:bodyPr>
          <a:lstStyle/>
          <a:p>
            <a:pPr algn="l" indent="0" marL="0">
              <a:buNone/>
            </a:pPr>
            <a:r>
              <a:rPr lang="en-US" sz="1250" dirty="0">
                <a:solidFill>
                  <a:srgbClr val="667085"/>
                </a:solidFill>
                <a:latin typeface="Arial" pitchFamily="34" charset="0"/>
                <a:ea typeface="Arial" pitchFamily="34" charset="-122"/>
                <a:cs typeface="Arial" pitchFamily="34" charset="-120"/>
              </a:rPr>
              <a:t>This project builds core foundations for data science: SQL, relational data modeling, analytical reasoning, and business interpretation.</a:t>
            </a:r>
            <a:endParaRPr lang="en-US" sz="1250" dirty="0"/>
          </a:p>
        </p:txBody>
      </p:sp>
      <p:sp>
        <p:nvSpPr>
          <p:cNvPr id="25" name="Slide Number Placeholder 0"/>
          <p:cNvSpPr>
            <a:spLocks noGrp="1"/>
          </p:cNvSpPr>
          <p:nvPr>
            <p:ph type="sldNum" sz="quarter" idx="4294967295"/>
          </p:nvPr>
        </p:nvSpPr>
        <p:spPr>
          <a:xfrm>
            <a:off x="11686032" y="646480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A8595"/>
                </a:solidFill>
                <a:latin typeface="Arial"/>
                <a:ea typeface="Arial"/>
                <a:cs typeface="Arial"/>
              </a:defRPr>
            </a:lvl1pPr>
          </a:lstStyle>
          <a:p>
            <a:pPr algn="l"/>
            <a:fld id="{F7021451-1387-4CA6-816F-3879F97B5CBC}" type="slidenum">
              <a:rPr b="0" lang="en-US"/>
              <a:t>13</a:t>
            </a:fld>
            <a:endParaRPr lang="en-US"/>
          </a:p>
        </p:txBody>
      </p:sp>
      <p:sp>
        <p:nvSpPr>
          <p:cNvPr id="26" name="Rounded Rectangle 25"/>
          <p:cNvSpPr/>
          <p:nvPr/>
        </p:nvSpPr>
        <p:spPr>
          <a:xfrm>
            <a:off x="594360" y="1847088"/>
            <a:ext cx="5257800" cy="1572768"/>
          </a:xfrm>
          <a:prstGeom prst="roundRect">
            <a:avLst/>
          </a:prstGeom>
          <a:solidFill>
            <a:srgbClr val="FFFFFF"/>
          </a:solidFill>
          <a:ln w="10160">
            <a:solidFill>
              <a:srgbClr val="E4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5528" y="2103120"/>
            <a:ext cx="384048" cy="384048"/>
          </a:xfrm>
          <a:prstGeom prst="ellipse">
            <a:avLst/>
          </a:prstGeom>
          <a:solidFill>
            <a:srgbClr val="008C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5528" y="2125980"/>
            <a:ext cx="384048" cy="228600"/>
          </a:xfrm>
          <a:prstGeom prst="rect">
            <a:avLst/>
          </a:prstGeom>
          <a:noFill/>
        </p:spPr>
        <p:txBody>
          <a:bodyPr wrap="none">
            <a:spAutoFit/>
          </a:bodyPr>
          <a:lstStyle/>
          <a:p>
            <a:pPr algn="ctr"/>
            <a:r>
              <a:rPr sz="900" b="1">
                <a:solidFill>
                  <a:srgbClr val="14213D"/>
                </a:solidFill>
                <a:latin typeface="Arial"/>
              </a:rPr>
              <a:t>1</a:t>
            </a:r>
          </a:p>
        </p:txBody>
      </p:sp>
      <p:sp>
        <p:nvSpPr>
          <p:cNvPr id="29" name="TextBox 28"/>
          <p:cNvSpPr txBox="1"/>
          <p:nvPr/>
        </p:nvSpPr>
        <p:spPr>
          <a:xfrm>
            <a:off x="1344168" y="2048256"/>
            <a:ext cx="4306824" cy="292608"/>
          </a:xfrm>
          <a:prstGeom prst="rect">
            <a:avLst/>
          </a:prstGeom>
          <a:noFill/>
        </p:spPr>
        <p:txBody>
          <a:bodyPr wrap="none">
            <a:spAutoFit/>
          </a:bodyPr>
          <a:lstStyle/>
          <a:p>
            <a:r>
              <a:rPr sz="1700" b="1">
                <a:solidFill>
                  <a:srgbClr val="14213D"/>
                </a:solidFill>
                <a:latin typeface="Arial"/>
              </a:rPr>
              <a:t>SQL analysis</a:t>
            </a:r>
          </a:p>
        </p:txBody>
      </p:sp>
      <p:sp>
        <p:nvSpPr>
          <p:cNvPr id="30" name="TextBox 29"/>
          <p:cNvSpPr txBox="1"/>
          <p:nvPr/>
        </p:nvSpPr>
        <p:spPr>
          <a:xfrm>
            <a:off x="1344168" y="2450592"/>
            <a:ext cx="4297680" cy="685800"/>
          </a:xfrm>
          <a:prstGeom prst="rect">
            <a:avLst/>
          </a:prstGeom>
          <a:noFill/>
        </p:spPr>
        <p:txBody>
          <a:bodyPr wrap="none">
            <a:spAutoFit/>
          </a:bodyPr>
          <a:lstStyle/>
          <a:p>
            <a:r>
              <a:rPr sz="1250">
                <a:solidFill>
                  <a:srgbClr val="667085"/>
                </a:solidFill>
                <a:latin typeface="Arial"/>
              </a:rPr>
              <a:t>CTEs, window functions, JOINs, aggregations, and date functions.</a:t>
            </a:r>
          </a:p>
        </p:txBody>
      </p:sp>
      <p:sp>
        <p:nvSpPr>
          <p:cNvPr id="31" name="Rounded Rectangle 30"/>
          <p:cNvSpPr/>
          <p:nvPr/>
        </p:nvSpPr>
        <p:spPr>
          <a:xfrm>
            <a:off x="6263640" y="1847088"/>
            <a:ext cx="5257800" cy="1572768"/>
          </a:xfrm>
          <a:prstGeom prst="roundRect">
            <a:avLst/>
          </a:prstGeom>
          <a:solidFill>
            <a:srgbClr val="FFFFFF"/>
          </a:solidFill>
          <a:ln w="10160">
            <a:solidFill>
              <a:srgbClr val="E4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64807" y="2103120"/>
            <a:ext cx="384048" cy="384048"/>
          </a:xfrm>
          <a:prstGeom prst="ellipse">
            <a:avLst/>
          </a:prstGeom>
          <a:solidFill>
            <a:srgbClr val="36C5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4807" y="2125980"/>
            <a:ext cx="384048" cy="228600"/>
          </a:xfrm>
          <a:prstGeom prst="rect">
            <a:avLst/>
          </a:prstGeom>
          <a:noFill/>
        </p:spPr>
        <p:txBody>
          <a:bodyPr wrap="none">
            <a:spAutoFit/>
          </a:bodyPr>
          <a:lstStyle/>
          <a:p>
            <a:pPr algn="ctr"/>
            <a:r>
              <a:rPr sz="900" b="1">
                <a:solidFill>
                  <a:srgbClr val="14213D"/>
                </a:solidFill>
                <a:latin typeface="Arial"/>
              </a:rPr>
              <a:t>2</a:t>
            </a:r>
          </a:p>
        </p:txBody>
      </p:sp>
      <p:sp>
        <p:nvSpPr>
          <p:cNvPr id="34" name="TextBox 33"/>
          <p:cNvSpPr txBox="1"/>
          <p:nvPr/>
        </p:nvSpPr>
        <p:spPr>
          <a:xfrm>
            <a:off x="7013448" y="2048256"/>
            <a:ext cx="4306824" cy="292608"/>
          </a:xfrm>
          <a:prstGeom prst="rect">
            <a:avLst/>
          </a:prstGeom>
          <a:noFill/>
        </p:spPr>
        <p:txBody>
          <a:bodyPr wrap="none">
            <a:spAutoFit/>
          </a:bodyPr>
          <a:lstStyle/>
          <a:p>
            <a:r>
              <a:rPr sz="1700" b="1">
                <a:solidFill>
                  <a:srgbClr val="14213D"/>
                </a:solidFill>
                <a:latin typeface="Arial"/>
              </a:rPr>
              <a:t>Relational data modeling</a:t>
            </a:r>
          </a:p>
        </p:txBody>
      </p:sp>
      <p:sp>
        <p:nvSpPr>
          <p:cNvPr id="35" name="TextBox 34"/>
          <p:cNvSpPr txBox="1"/>
          <p:nvPr/>
        </p:nvSpPr>
        <p:spPr>
          <a:xfrm>
            <a:off x="7013448" y="2450592"/>
            <a:ext cx="4297680" cy="685800"/>
          </a:xfrm>
          <a:prstGeom prst="rect">
            <a:avLst/>
          </a:prstGeom>
          <a:noFill/>
        </p:spPr>
        <p:txBody>
          <a:bodyPr wrap="none">
            <a:spAutoFit/>
          </a:bodyPr>
          <a:lstStyle/>
          <a:p>
            <a:r>
              <a:rPr sz="1250">
                <a:solidFill>
                  <a:srgbClr val="667085"/>
                </a:solidFill>
                <a:latin typeface="Arial"/>
              </a:rPr>
              <a:t>Customers, orders, products, inventory, stores, and line-item relationships.</a:t>
            </a:r>
          </a:p>
        </p:txBody>
      </p:sp>
      <p:sp>
        <p:nvSpPr>
          <p:cNvPr id="36" name="Rounded Rectangle 35"/>
          <p:cNvSpPr/>
          <p:nvPr/>
        </p:nvSpPr>
        <p:spPr>
          <a:xfrm>
            <a:off x="594360" y="3675887"/>
            <a:ext cx="5257800" cy="1572768"/>
          </a:xfrm>
          <a:prstGeom prst="roundRect">
            <a:avLst/>
          </a:prstGeom>
          <a:solidFill>
            <a:srgbClr val="FFFFFF"/>
          </a:solidFill>
          <a:ln w="10160">
            <a:solidFill>
              <a:srgbClr val="E4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95528" y="3931920"/>
            <a:ext cx="384048" cy="384048"/>
          </a:xfrm>
          <a:prstGeom prst="ellipse">
            <a:avLst/>
          </a:prstGeom>
          <a:solidFill>
            <a:srgbClr val="F4A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5528" y="3954779"/>
            <a:ext cx="384048" cy="228600"/>
          </a:xfrm>
          <a:prstGeom prst="rect">
            <a:avLst/>
          </a:prstGeom>
          <a:noFill/>
        </p:spPr>
        <p:txBody>
          <a:bodyPr wrap="none">
            <a:spAutoFit/>
          </a:bodyPr>
          <a:lstStyle/>
          <a:p>
            <a:pPr algn="ctr"/>
            <a:r>
              <a:rPr sz="900" b="1">
                <a:solidFill>
                  <a:srgbClr val="14213D"/>
                </a:solidFill>
                <a:latin typeface="Arial"/>
              </a:rPr>
              <a:t>3</a:t>
            </a:r>
          </a:p>
        </p:txBody>
      </p:sp>
      <p:sp>
        <p:nvSpPr>
          <p:cNvPr id="39" name="TextBox 38"/>
          <p:cNvSpPr txBox="1"/>
          <p:nvPr/>
        </p:nvSpPr>
        <p:spPr>
          <a:xfrm>
            <a:off x="1344168" y="3877055"/>
            <a:ext cx="4306824" cy="292608"/>
          </a:xfrm>
          <a:prstGeom prst="rect">
            <a:avLst/>
          </a:prstGeom>
          <a:noFill/>
        </p:spPr>
        <p:txBody>
          <a:bodyPr wrap="none">
            <a:spAutoFit/>
          </a:bodyPr>
          <a:lstStyle/>
          <a:p>
            <a:r>
              <a:rPr sz="1700" b="1">
                <a:solidFill>
                  <a:srgbClr val="14213D"/>
                </a:solidFill>
                <a:latin typeface="Arial"/>
              </a:rPr>
              <a:t>Analytical thinking</a:t>
            </a:r>
          </a:p>
        </p:txBody>
      </p:sp>
      <p:sp>
        <p:nvSpPr>
          <p:cNvPr id="40" name="TextBox 39"/>
          <p:cNvSpPr txBox="1"/>
          <p:nvPr/>
        </p:nvSpPr>
        <p:spPr>
          <a:xfrm>
            <a:off x="1344168" y="4279392"/>
            <a:ext cx="4297680" cy="685800"/>
          </a:xfrm>
          <a:prstGeom prst="rect">
            <a:avLst/>
          </a:prstGeom>
          <a:noFill/>
        </p:spPr>
        <p:txBody>
          <a:bodyPr wrap="none">
            <a:spAutoFit/>
          </a:bodyPr>
          <a:lstStyle/>
          <a:p>
            <a:r>
              <a:rPr sz="1250">
                <a:solidFill>
                  <a:srgbClr val="667085"/>
                </a:solidFill>
                <a:latin typeface="Arial"/>
              </a:rPr>
              <a:t>Translate business questions into measurable metrics, comparisons, and patterns.</a:t>
            </a:r>
          </a:p>
        </p:txBody>
      </p:sp>
      <p:sp>
        <p:nvSpPr>
          <p:cNvPr id="41" name="Rounded Rectangle 40"/>
          <p:cNvSpPr/>
          <p:nvPr/>
        </p:nvSpPr>
        <p:spPr>
          <a:xfrm>
            <a:off x="6263640" y="3675887"/>
            <a:ext cx="5257800" cy="1572768"/>
          </a:xfrm>
          <a:prstGeom prst="roundRect">
            <a:avLst/>
          </a:prstGeom>
          <a:solidFill>
            <a:srgbClr val="FFFFFF"/>
          </a:solidFill>
          <a:ln w="10160">
            <a:solidFill>
              <a:srgbClr val="E4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464807" y="3931920"/>
            <a:ext cx="384048" cy="384048"/>
          </a:xfrm>
          <a:prstGeom prst="ellipse">
            <a:avLst/>
          </a:prstGeom>
          <a:solidFill>
            <a:srgbClr val="F6BD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64807" y="3954779"/>
            <a:ext cx="384048" cy="228600"/>
          </a:xfrm>
          <a:prstGeom prst="rect">
            <a:avLst/>
          </a:prstGeom>
          <a:noFill/>
        </p:spPr>
        <p:txBody>
          <a:bodyPr wrap="none">
            <a:spAutoFit/>
          </a:bodyPr>
          <a:lstStyle/>
          <a:p>
            <a:pPr algn="ctr"/>
            <a:r>
              <a:rPr sz="900" b="1">
                <a:solidFill>
                  <a:srgbClr val="14213D"/>
                </a:solidFill>
                <a:latin typeface="Arial"/>
              </a:rPr>
              <a:t>4</a:t>
            </a:r>
          </a:p>
        </p:txBody>
      </p:sp>
      <p:sp>
        <p:nvSpPr>
          <p:cNvPr id="44" name="TextBox 43"/>
          <p:cNvSpPr txBox="1"/>
          <p:nvPr/>
        </p:nvSpPr>
        <p:spPr>
          <a:xfrm>
            <a:off x="7013448" y="3877055"/>
            <a:ext cx="4306824" cy="292608"/>
          </a:xfrm>
          <a:prstGeom prst="rect">
            <a:avLst/>
          </a:prstGeom>
          <a:noFill/>
        </p:spPr>
        <p:txBody>
          <a:bodyPr wrap="none">
            <a:spAutoFit/>
          </a:bodyPr>
          <a:lstStyle/>
          <a:p>
            <a:r>
              <a:rPr sz="1700" b="1">
                <a:solidFill>
                  <a:srgbClr val="14213D"/>
                </a:solidFill>
                <a:latin typeface="Arial"/>
              </a:rPr>
              <a:t>Next focus in data science</a:t>
            </a:r>
          </a:p>
        </p:txBody>
      </p:sp>
      <p:sp>
        <p:nvSpPr>
          <p:cNvPr id="45" name="TextBox 44"/>
          <p:cNvSpPr txBox="1"/>
          <p:nvPr/>
        </p:nvSpPr>
        <p:spPr>
          <a:xfrm>
            <a:off x="7013448" y="4279392"/>
            <a:ext cx="4297680" cy="685800"/>
          </a:xfrm>
          <a:prstGeom prst="rect">
            <a:avLst/>
          </a:prstGeom>
          <a:noFill/>
        </p:spPr>
        <p:txBody>
          <a:bodyPr wrap="none">
            <a:spAutoFit/>
          </a:bodyPr>
          <a:lstStyle/>
          <a:p>
            <a:r>
              <a:rPr sz="1250">
                <a:solidFill>
                  <a:srgbClr val="667085"/>
                </a:solidFill>
                <a:latin typeface="Arial"/>
              </a:rPr>
              <a:t>Build deeper skills in statistics, machine learning, feature engineering, and applied modeling.</a:t>
            </a:r>
          </a:p>
        </p:txBody>
      </p:sp>
      <p:sp>
        <p:nvSpPr>
          <p:cNvPr id="46" name="TextBox 45"/>
          <p:cNvSpPr txBox="1"/>
          <p:nvPr/>
        </p:nvSpPr>
        <p:spPr>
          <a:xfrm>
            <a:off x="594360" y="5504688"/>
            <a:ext cx="10789920" cy="292608"/>
          </a:xfrm>
          <a:prstGeom prst="rect">
            <a:avLst/>
          </a:prstGeom>
          <a:noFill/>
        </p:spPr>
        <p:txBody>
          <a:bodyPr wrap="none">
            <a:spAutoFit/>
          </a:bodyPr>
          <a:lstStyle/>
          <a:p>
            <a:r>
              <a:rPr sz="1050">
                <a:solidFill>
                  <a:srgbClr val="667085"/>
                </a:solidFill>
                <a:latin typeface="Arial"/>
              </a:rPr>
              <a:t>This project strengthens the SQL and analytical foundation used for broader data science work.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713232" y="960120"/>
            <a:ext cx="7223760" cy="1234440"/>
          </a:xfrm>
          <a:prstGeom prst="rect">
            <a:avLst/>
          </a:prstGeom>
          <a:noFill/>
          <a:ln/>
        </p:spPr>
        <p:txBody>
          <a:bodyPr wrap="square" lIns="0" tIns="0" rIns="0" bIns="0" rtlCol="0" anchor="ctr">
            <a:normAutofit/>
          </a:bodyPr>
          <a:lstStyle/>
          <a:p>
            <a:pPr algn="l" indent="0" marL="0">
              <a:buNone/>
            </a:pPr>
            <a:r>
              <a:rPr lang="en-US" sz="3800" b="1" dirty="0">
                <a:solidFill>
                  <a:srgbClr val="FFFFFF"/>
                </a:solidFill>
                <a:latin typeface="Cambria" pitchFamily="34" charset="0"/>
                <a:ea typeface="Cambria" pitchFamily="34" charset="-122"/>
                <a:cs typeface="Cambria" pitchFamily="34" charset="-120"/>
              </a:rPr>
              <a:t>SQL Data Science Mastery</a:t>
            </a:r>
            <a:endParaRPr lang="en-US" sz="3800" dirty="0"/>
          </a:p>
          <a:p>
            <a:pPr algn="l" indent="0" marL="0">
              <a:buNone/>
            </a:pPr>
            <a:r>
              <a:rPr lang="en-US" sz="3800" b="1" dirty="0">
                <a:solidFill>
                  <a:srgbClr val="FFFFFF"/>
                </a:solidFill>
                <a:latin typeface="Cambria" pitchFamily="34" charset="0"/>
                <a:ea typeface="Cambria" pitchFamily="34" charset="-122"/>
                <a:cs typeface="Cambria" pitchFamily="34" charset="-120"/>
              </a:rPr>
              <a:t/>
            </a:r>
            <a:endParaRPr lang="en-US" sz="3800" dirty="0"/>
          </a:p>
        </p:txBody>
      </p:sp>
      <p:sp>
        <p:nvSpPr>
          <p:cNvPr id="3" name="Text 1"/>
          <p:cNvSpPr txBox="1"/>
          <p:nvPr/>
        </p:nvSpPr>
        <p:spPr>
          <a:xfrm>
            <a:off x="731520" y="2487168"/>
            <a:ext cx="6675120" cy="640080"/>
          </a:xfrm>
          <a:prstGeom prst="rect">
            <a:avLst/>
          </a:prstGeom>
          <a:noFill/>
          <a:ln/>
        </p:spPr>
        <p:txBody>
          <a:bodyPr wrap="square" lIns="0" tIns="0" rIns="0" bIns="0" rtlCol="0" anchor="ctr">
            <a:normAutofit/>
          </a:bodyPr>
          <a:lstStyle/>
          <a:p>
            <a:pPr algn="l" indent="0" marL="0">
              <a:buNone/>
            </a:pPr>
            <a:r>
              <a:rPr lang="en-US" sz="1700" dirty="0">
                <a:solidFill>
                  <a:srgbClr val="D9E4F1"/>
                </a:solidFill>
                <a:latin typeface="Arial" pitchFamily="34" charset="0"/>
                <a:ea typeface="Arial" pitchFamily="34" charset="-122"/>
                <a:cs typeface="Arial" pitchFamily="34" charset="-120"/>
              </a:rPr>
              <a:t>Retail order analytics using relational data and SQL.</a:t>
            </a:r>
            <a:endParaRPr lang="en-US" sz="1700" dirty="0"/>
          </a:p>
        </p:txBody>
      </p:sp>
      <p:sp>
        <p:nvSpPr>
          <p:cNvPr id="4" name="Shape 2">
            <a:hlinkClick r:id="rId3"/>
          </p:cNvPr>
          <p:cNvSpPr/>
          <p:nvPr/>
        </p:nvSpPr>
        <p:spPr>
          <a:xfrm>
            <a:off x="731520" y="3822192"/>
            <a:ext cx="2331720" cy="1051560"/>
          </a:xfrm>
          <a:prstGeom prst="roundRect">
            <a:avLst>
              <a:gd name="adj" fmla="val 13913"/>
            </a:avLst>
          </a:prstGeom>
          <a:solidFill>
            <a:srgbClr val="FFFFFF"/>
          </a:solidFill>
          <a:ln w="12700">
            <a:solidFill>
              <a:srgbClr val="FFFFFF">
                <a:alpha val="0"/>
              </a:srgbClr>
            </a:solidFill>
            <a:prstDash val="solid"/>
          </a:ln>
        </p:spPr>
        <p:txBody>
          <a:bodyPr/>
          <a:p/>
        </p:txBody>
      </p:sp>
      <p:sp>
        <p:nvSpPr>
          <p:cNvPr id="5" name="Shape 3"/>
          <p:cNvSpPr/>
          <p:nvPr/>
        </p:nvSpPr>
        <p:spPr>
          <a:xfrm>
            <a:off x="896112" y="3986784"/>
            <a:ext cx="201168" cy="201168"/>
          </a:xfrm>
          <a:prstGeom prst="ellipse">
            <a:avLst/>
          </a:prstGeom>
          <a:solidFill>
            <a:srgbClr val="36C5D8"/>
          </a:solidFill>
          <a:ln w="12700">
            <a:solidFill>
              <a:srgbClr val="36C5D8">
                <a:alpha val="0"/>
              </a:srgbClr>
            </a:solidFill>
            <a:prstDash val="solid"/>
          </a:ln>
        </p:spPr>
        <p:txBody>
          <a:bodyPr/>
          <a:p/>
        </p:txBody>
      </p:sp>
      <p:sp>
        <p:nvSpPr>
          <p:cNvPr id="6" name="Text 4"/>
          <p:cNvSpPr txBox="1"/>
          <p:nvPr/>
        </p:nvSpPr>
        <p:spPr>
          <a:xfrm>
            <a:off x="1188720" y="3959352"/>
            <a:ext cx="173736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31.62%</a:t>
            </a:r>
            <a:endParaRPr lang="en-US" sz="2700" dirty="0"/>
          </a:p>
        </p:txBody>
      </p:sp>
      <p:sp>
        <p:nvSpPr>
          <p:cNvPr id="7" name="Text 5"/>
          <p:cNvSpPr txBox="1"/>
          <p:nvPr/>
        </p:nvSpPr>
        <p:spPr>
          <a:xfrm>
            <a:off x="1188720" y="4425696"/>
            <a:ext cx="169164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repeat customer rate</a:t>
            </a:r>
            <a:endParaRPr lang="en-US" sz="1050" dirty="0"/>
          </a:p>
        </p:txBody>
      </p:sp>
      <p:sp>
        <p:nvSpPr>
          <p:cNvPr id="8" name="Shape 6"/>
          <p:cNvSpPr/>
          <p:nvPr/>
        </p:nvSpPr>
        <p:spPr>
          <a:xfrm>
            <a:off x="3246120" y="3822192"/>
            <a:ext cx="2331720" cy="1051560"/>
          </a:xfrm>
          <a:prstGeom prst="roundRect">
            <a:avLst>
              <a:gd name="adj" fmla="val 13913"/>
            </a:avLst>
          </a:prstGeom>
          <a:solidFill>
            <a:srgbClr val="FFFFFF"/>
          </a:solidFill>
          <a:ln w="12700">
            <a:solidFill>
              <a:srgbClr val="FFFFFF">
                <a:alpha val="0"/>
              </a:srgbClr>
            </a:solidFill>
            <a:prstDash val="solid"/>
          </a:ln>
        </p:spPr>
        <p:txBody>
          <a:bodyPr/>
          <a:p/>
        </p:txBody>
      </p:sp>
      <p:sp>
        <p:nvSpPr>
          <p:cNvPr id="9" name="Shape 7"/>
          <p:cNvSpPr/>
          <p:nvPr/>
        </p:nvSpPr>
        <p:spPr>
          <a:xfrm>
            <a:off x="3410712" y="3986784"/>
            <a:ext cx="201168" cy="201168"/>
          </a:xfrm>
          <a:prstGeom prst="ellipse">
            <a:avLst/>
          </a:prstGeom>
          <a:solidFill>
            <a:srgbClr val="F4A261"/>
          </a:solidFill>
          <a:ln w="12700">
            <a:solidFill>
              <a:srgbClr val="F4A261">
                <a:alpha val="0"/>
              </a:srgbClr>
            </a:solidFill>
            <a:prstDash val="solid"/>
          </a:ln>
        </p:spPr>
        <p:txBody>
          <a:bodyPr/>
          <a:p/>
        </p:txBody>
      </p:sp>
      <p:sp>
        <p:nvSpPr>
          <p:cNvPr id="10" name="Text 8"/>
          <p:cNvSpPr txBox="1"/>
          <p:nvPr/>
        </p:nvSpPr>
        <p:spPr>
          <a:xfrm>
            <a:off x="3703320" y="3959352"/>
            <a:ext cx="173736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241 days</a:t>
            </a:r>
            <a:endParaRPr lang="en-US" sz="2700" dirty="0"/>
          </a:p>
        </p:txBody>
      </p:sp>
      <p:sp>
        <p:nvSpPr>
          <p:cNvPr id="11" name="Text 9"/>
          <p:cNvSpPr txBox="1"/>
          <p:nvPr/>
        </p:nvSpPr>
        <p:spPr>
          <a:xfrm>
            <a:off x="3703320" y="4425696"/>
            <a:ext cx="169164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longest purchase gap</a:t>
            </a:r>
            <a:endParaRPr lang="en-US" sz="1050" dirty="0"/>
          </a:p>
        </p:txBody>
      </p:sp>
      <p:sp>
        <p:nvSpPr>
          <p:cNvPr id="12" name="Shape 10"/>
          <p:cNvSpPr/>
          <p:nvPr/>
        </p:nvSpPr>
        <p:spPr>
          <a:xfrm>
            <a:off x="5760720" y="3822192"/>
            <a:ext cx="2331720" cy="1051560"/>
          </a:xfrm>
          <a:prstGeom prst="roundRect">
            <a:avLst>
              <a:gd name="adj" fmla="val 13913"/>
            </a:avLst>
          </a:prstGeom>
          <a:solidFill>
            <a:srgbClr val="FFFFFF"/>
          </a:solidFill>
          <a:ln w="12700">
            <a:solidFill>
              <a:srgbClr val="FFFFFF">
                <a:alpha val="0"/>
              </a:srgbClr>
            </a:solidFill>
            <a:prstDash val="solid"/>
          </a:ln>
        </p:spPr>
        <p:txBody>
          <a:bodyPr/>
          <a:p/>
        </p:txBody>
      </p:sp>
      <p:sp>
        <p:nvSpPr>
          <p:cNvPr id="13" name="Shape 11"/>
          <p:cNvSpPr/>
          <p:nvPr/>
        </p:nvSpPr>
        <p:spPr>
          <a:xfrm>
            <a:off x="5925312" y="3986784"/>
            <a:ext cx="201168" cy="201168"/>
          </a:xfrm>
          <a:prstGeom prst="ellipse">
            <a:avLst/>
          </a:prstGeom>
          <a:solidFill>
            <a:srgbClr val="008C95"/>
          </a:solidFill>
          <a:ln w="12700">
            <a:solidFill>
              <a:srgbClr val="008C95">
                <a:alpha val="0"/>
              </a:srgbClr>
            </a:solidFill>
            <a:prstDash val="solid"/>
          </a:ln>
        </p:spPr>
        <p:txBody>
          <a:bodyPr/>
          <a:p/>
        </p:txBody>
      </p:sp>
      <p:sp>
        <p:nvSpPr>
          <p:cNvPr id="14" name="Text 12"/>
          <p:cNvSpPr txBox="1"/>
          <p:nvPr/>
        </p:nvSpPr>
        <p:spPr>
          <a:xfrm>
            <a:off x="6217920" y="3959352"/>
            <a:ext cx="1737360" cy="411480"/>
          </a:xfrm>
          <a:prstGeom prst="rect">
            <a:avLst/>
          </a:prstGeom>
          <a:noFill/>
          <a:ln/>
        </p:spPr>
        <p:txBody>
          <a:bodyPr wrap="square" lIns="0" tIns="0" rIns="0" bIns="0" rtlCol="0" anchor="ctr">
            <a:normAutofit/>
          </a:bodyPr>
          <a:lstStyle/>
          <a:p>
            <a:pPr algn="l" indent="0" marL="0">
              <a:buNone/>
            </a:pPr>
            <a:r>
              <a:rPr lang="en-US" sz="2700" b="1" dirty="0">
                <a:solidFill>
                  <a:srgbClr val="14213D"/>
                </a:solidFill>
                <a:latin typeface="Arial" pitchFamily="34" charset="0"/>
                <a:ea typeface="Arial" pitchFamily="34" charset="-122"/>
                <a:cs typeface="Arial" pitchFamily="34" charset="-120"/>
              </a:rPr>
              <a:t>12</a:t>
            </a:r>
            <a:endParaRPr lang="en-US" sz="2700" dirty="0"/>
          </a:p>
        </p:txBody>
      </p:sp>
      <p:sp>
        <p:nvSpPr>
          <p:cNvPr id="15" name="Text 13"/>
          <p:cNvSpPr txBox="1"/>
          <p:nvPr/>
        </p:nvSpPr>
        <p:spPr>
          <a:xfrm>
            <a:off x="6217920" y="4425696"/>
            <a:ext cx="1691640" cy="228600"/>
          </a:xfrm>
          <a:prstGeom prst="rect">
            <a:avLst/>
          </a:prstGeom>
          <a:noFill/>
          <a:ln/>
        </p:spPr>
        <p:txBody>
          <a:bodyPr wrap="square" lIns="0" tIns="0" rIns="0" bIns="0" rtlCol="0" anchor="ctr">
            <a:normAutofit/>
          </a:bodyPr>
          <a:lstStyle/>
          <a:p>
            <a:pPr algn="l" indent="0" marL="0">
              <a:buNone/>
            </a:pPr>
            <a:r>
              <a:rPr lang="en-US" sz="1050" dirty="0">
                <a:solidFill>
                  <a:srgbClr val="667085"/>
                </a:solidFill>
                <a:latin typeface="Arial" pitchFamily="34" charset="0"/>
                <a:ea typeface="Arial" pitchFamily="34" charset="-122"/>
                <a:cs typeface="Arial" pitchFamily="34" charset="-120"/>
              </a:rPr>
              <a:t>high-sales / low-stock products</a:t>
            </a:r>
            <a:endParaRPr lang="en-US" sz="1050" dirty="0"/>
          </a:p>
        </p:txBody>
      </p:sp>
      <p:sp>
        <p:nvSpPr>
          <p:cNvPr id="16" name="Shape 14"/>
          <p:cNvSpPr/>
          <p:nvPr/>
        </p:nvSpPr>
        <p:spPr>
          <a:xfrm>
            <a:off x="731520" y="5440680"/>
            <a:ext cx="868680" cy="310896"/>
          </a:xfrm>
          <a:prstGeom prst="roundRect">
            <a:avLst>
              <a:gd name="adj" fmla="val 50000"/>
            </a:avLst>
          </a:prstGeom>
          <a:solidFill>
            <a:srgbClr val="214E64"/>
          </a:solidFill>
          <a:ln w="12700">
            <a:solidFill>
              <a:srgbClr val="214E64">
                <a:alpha val="0"/>
              </a:srgbClr>
            </a:solidFill>
            <a:prstDash val="solid"/>
          </a:ln>
        </p:spPr>
        <p:txBody>
          <a:bodyPr/>
          <a:p/>
        </p:txBody>
      </p:sp>
      <p:sp>
        <p:nvSpPr>
          <p:cNvPr id="17" name="Text 15">
            <a:hlinkClick r:id="rId3"/>
          </p:cNvPr>
          <p:cNvSpPr txBox="1"/>
          <p:nvPr/>
        </p:nvSpPr>
        <p:spPr>
          <a:xfrm>
            <a:off x="731520" y="5458968"/>
            <a:ext cx="868680" cy="201168"/>
          </a:xfrm>
          <a:prstGeom prst="rect">
            <a:avLst/>
          </a:prstGeom>
          <a:noFill/>
          <a:ln/>
        </p:spPr>
        <p:txBody>
          <a:bodyPr wrap="square" lIns="0" tIns="0" rIns="0" bIns="0" rtlCol="0" anchor="ctr">
            <a:normAutofit/>
          </a:bodyPr>
          <a:lstStyle/>
          <a:p>
            <a:pPr algn="ctr" indent="0" marL="0">
              <a:buNone/>
            </a:pPr>
            <a:r>
              <a:rPr lang="en-US" sz="900" b="1" dirty="0">
                <a:solidFill>
                  <a:srgbClr val="8FE7EF"/>
                </a:solidFill>
                <a:latin typeface="Arial" pitchFamily="34" charset="0"/>
                <a:ea typeface="Arial" pitchFamily="34" charset="-122"/>
                <a:cs typeface="Arial" pitchFamily="34" charset="-120"/>
              </a:rPr>
              <a:t>GITHUB</a:t>
            </a:r>
            <a:endParaRPr lang="en-US" sz="900" dirty="0"/>
          </a:p>
        </p:txBody>
      </p:sp>
      <p:sp>
        <p:nvSpPr>
          <p:cNvPr id="18" name="Text 16">
            <a:hlinkClick r:id="rId3"/>
          </p:cNvPr>
          <p:cNvSpPr txBox="1"/>
          <p:nvPr/>
        </p:nvSpPr>
        <p:spPr>
          <a:xfrm>
            <a:off x="1764792" y="5458968"/>
            <a:ext cx="3246120" cy="201168"/>
          </a:xfrm>
          <a:prstGeom prst="rect">
            <a:avLst/>
          </a:prstGeom>
          <a:noFill/>
          <a:ln/>
        </p:spPr>
        <p:txBody>
          <a:bodyPr wrap="square" lIns="0" tIns="0" rIns="0" bIns="0" rtlCol="0" anchor="ctr">
            <a:normAutofit/>
          </a:bodyPr>
          <a:lstStyle/>
          <a:p>
            <a:pPr algn="l" indent="0" marL="0">
              <a:buNone/>
            </a:pPr>
            <a:r>
              <a:rPr lang="en-US" sz="1100" dirty="0">
                <a:solidFill>
                  <a:srgbClr val="8FE7EF"/>
                </a:solidFill>
                <a:latin typeface="Arial" pitchFamily="34" charset="0"/>
                <a:ea typeface="Arial" pitchFamily="34" charset="-122"/>
                <a:cs typeface="Arial" pitchFamily="34" charset="-120"/>
              </a:rPr>
              <a:t>sql-data-science-mastery</a:t>
            </a:r>
            <a:endParaRPr lang="en-US" sz="1100" dirty="0"/>
          </a:p>
        </p:txBody>
      </p:sp>
      <p:sp>
        <p:nvSpPr>
          <p:cNvPr id="19" name="Shape 17">
            <a:hlinkClick r:id="rId4"/>
          </p:cNvPr>
          <p:cNvSpPr/>
          <p:nvPr/>
        </p:nvSpPr>
        <p:spPr>
          <a:xfrm>
            <a:off x="5266944" y="5440680"/>
            <a:ext cx="987552" cy="310896"/>
          </a:xfrm>
          <a:prstGeom prst="roundRect">
            <a:avLst>
              <a:gd name="adj" fmla="val 50000"/>
            </a:avLst>
          </a:prstGeom>
          <a:solidFill>
            <a:srgbClr val="214E64"/>
          </a:solidFill>
          <a:ln w="12700">
            <a:solidFill>
              <a:srgbClr val="214E64">
                <a:alpha val="0"/>
              </a:srgbClr>
            </a:solidFill>
            <a:prstDash val="solid"/>
          </a:ln>
        </p:spPr>
        <p:txBody>
          <a:bodyPr/>
          <a:p/>
        </p:txBody>
      </p:sp>
      <p:sp>
        <p:nvSpPr>
          <p:cNvPr id="20" name="Text 18">
            <a:hlinkClick r:id="rId4"/>
          </p:cNvPr>
          <p:cNvSpPr txBox="1"/>
          <p:nvPr/>
        </p:nvSpPr>
        <p:spPr>
          <a:xfrm>
            <a:off x="5266944" y="5458968"/>
            <a:ext cx="987552" cy="201168"/>
          </a:xfrm>
          <a:prstGeom prst="rect">
            <a:avLst/>
          </a:prstGeom>
          <a:noFill/>
          <a:ln/>
        </p:spPr>
        <p:txBody>
          <a:bodyPr wrap="square" lIns="0" tIns="0" rIns="0" bIns="0" rtlCol="0" anchor="ctr">
            <a:normAutofit/>
          </a:bodyPr>
          <a:lstStyle/>
          <a:p>
            <a:pPr algn="ctr" indent="0" marL="0">
              <a:buNone/>
            </a:pPr>
            <a:r>
              <a:rPr lang="en-US" sz="900" b="1" dirty="0">
                <a:solidFill>
                  <a:srgbClr val="8FE7EF"/>
                </a:solidFill>
                <a:latin typeface="Arial" pitchFamily="34" charset="0"/>
                <a:ea typeface="Arial" pitchFamily="34" charset="-122"/>
                <a:cs typeface="Arial" pitchFamily="34" charset="-120"/>
              </a:rPr>
              <a:t>LINKEDIN</a:t>
            </a:r>
            <a:endParaRPr lang="en-US" sz="900" dirty="0"/>
          </a:p>
        </p:txBody>
      </p:sp>
      <p:sp>
        <p:nvSpPr>
          <p:cNvPr id="21" name="Text 19">
            <a:hlinkClick r:id="rId4"/>
          </p:cNvPr>
          <p:cNvSpPr txBox="1"/>
          <p:nvPr/>
        </p:nvSpPr>
        <p:spPr>
          <a:xfrm>
            <a:off x="6419088" y="5458968"/>
            <a:ext cx="2560320" cy="201168"/>
          </a:xfrm>
          <a:prstGeom prst="rect">
            <a:avLst/>
          </a:prstGeom>
          <a:noFill/>
          <a:ln/>
        </p:spPr>
        <p:txBody>
          <a:bodyPr wrap="square" lIns="0" tIns="0" rIns="0" bIns="0" rtlCol="0" anchor="ctr">
            <a:normAutofit/>
          </a:bodyPr>
          <a:lstStyle/>
          <a:p>
            <a:pPr algn="l" indent="0" marL="0">
              <a:buNone/>
            </a:pPr>
            <a:r>
              <a:rPr lang="en-US" sz="1100" dirty="0">
                <a:solidFill>
                  <a:srgbClr val="8FE7EF"/>
                </a:solidFill>
                <a:latin typeface="Arial" pitchFamily="34" charset="0"/>
                <a:ea typeface="Arial" pitchFamily="34" charset="-122"/>
                <a:cs typeface="Arial" pitchFamily="34" charset="-120"/>
              </a:rPr>
              <a:t>Prasanth Sai Kalipindi</a:t>
            </a:r>
            <a:endParaRPr lang="en-US" sz="1100" dirty="0"/>
          </a:p>
        </p:txBody>
      </p:sp>
      <p:sp>
        <p:nvSpPr>
          <p:cNvPr id="22" name="Shape 20"/>
          <p:cNvSpPr/>
          <p:nvPr/>
        </p:nvSpPr>
        <p:spPr>
          <a:xfrm>
            <a:off x="9875520" y="1463040"/>
            <a:ext cx="1097280" cy="1097280"/>
          </a:xfrm>
          <a:prstGeom prst="ellipse">
            <a:avLst/>
          </a:prstGeom>
          <a:solidFill>
            <a:srgbClr val="008C95"/>
          </a:solidFill>
          <a:ln w="12700">
            <a:solidFill>
              <a:srgbClr val="008C95">
                <a:alpha val="0"/>
              </a:srgbClr>
            </a:solidFill>
            <a:prstDash val="solid"/>
          </a:ln>
        </p:spPr>
        <p:txBody>
          <a:bodyPr/>
          <a:p/>
        </p:txBody>
      </p:sp>
      <p:sp>
        <p:nvSpPr>
          <p:cNvPr id="23" name="Text 21"/>
          <p:cNvSpPr txBox="1"/>
          <p:nvPr/>
        </p:nvSpPr>
        <p:spPr>
          <a:xfrm>
            <a:off x="9875520" y="1810512"/>
            <a:ext cx="1097280" cy="274320"/>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Cambria" pitchFamily="34" charset="0"/>
                <a:ea typeface="Cambria" pitchFamily="34" charset="-122"/>
                <a:cs typeface="Cambria" pitchFamily="34" charset="-120"/>
              </a:rPr>
              <a:t>SQL</a:t>
            </a:r>
            <a:endParaRPr lang="en-US" sz="2000" dirty="0"/>
          </a:p>
        </p:txBody>
      </p:sp>
      <p:sp>
        <p:nvSpPr>
          <p:cNvPr id="24" name="Shape 22"/>
          <p:cNvSpPr/>
          <p:nvPr/>
        </p:nvSpPr>
        <p:spPr>
          <a:xfrm>
            <a:off x="9464040" y="2880360"/>
            <a:ext cx="1234440" cy="0"/>
          </a:xfrm>
          <a:prstGeom prst="line">
            <a:avLst/>
          </a:prstGeom>
          <a:noFill/>
          <a:ln w="25400">
            <a:solidFill>
              <a:srgbClr val="36C5D8"/>
            </a:solidFill>
            <a:prstDash val="solid"/>
          </a:ln>
        </p:spPr>
        <p:txBody>
          <a:bodyPr/>
          <a:p/>
        </p:txBody>
      </p:sp>
      <p:sp>
        <p:nvSpPr>
          <p:cNvPr id="25" name="Shape 23"/>
          <p:cNvSpPr/>
          <p:nvPr/>
        </p:nvSpPr>
        <p:spPr>
          <a:xfrm>
            <a:off x="10058400" y="3657600"/>
            <a:ext cx="502920" cy="502920"/>
          </a:xfrm>
          <a:prstGeom prst="ellipse">
            <a:avLst/>
          </a:prstGeom>
          <a:solidFill>
            <a:srgbClr val="F4A261"/>
          </a:solidFill>
          <a:ln w="12700">
            <a:solidFill>
              <a:srgbClr val="F4A261">
                <a:alpha val="0"/>
              </a:srgbClr>
            </a:solidFill>
            <a:prstDash val="solid"/>
          </a:ln>
        </p:spPr>
        <p:txBody>
          <a:bodyPr/>
          <a:p/>
        </p:txBody>
      </p:sp>
      <p:sp>
        <p:nvSpPr>
          <p:cNvPr id="26" name="Shape 24"/>
          <p:cNvSpPr/>
          <p:nvPr/>
        </p:nvSpPr>
        <p:spPr>
          <a:xfrm>
            <a:off x="9372600" y="4343400"/>
            <a:ext cx="320040" cy="320040"/>
          </a:xfrm>
          <a:prstGeom prst="ellipse">
            <a:avLst/>
          </a:prstGeom>
          <a:solidFill>
            <a:srgbClr val="36C5D8"/>
          </a:solidFill>
          <a:ln w="12700">
            <a:solidFill>
              <a:srgbClr val="36C5D8">
                <a:alpha val="0"/>
              </a:srgbClr>
            </a:solidFill>
            <a:prstDash val="solid"/>
          </a:ln>
        </p:spPr>
        <p:txBody>
          <a:bodyPr/>
          <a:p/>
        </p:txBody>
      </p:sp>
      <p:sp>
        <p:nvSpPr>
          <p:cNvPr id="27" name="Shape 25"/>
          <p:cNvSpPr/>
          <p:nvPr/>
        </p:nvSpPr>
        <p:spPr>
          <a:xfrm>
            <a:off x="10652760" y="4297680"/>
            <a:ext cx="292608" cy="292608"/>
          </a:xfrm>
          <a:prstGeom prst="ellipse">
            <a:avLst/>
          </a:prstGeom>
          <a:solidFill>
            <a:srgbClr val="F6BD60"/>
          </a:solidFill>
          <a:ln w="12700">
            <a:solidFill>
              <a:srgbClr val="F6BD60">
                <a:alpha val="0"/>
              </a:srgbClr>
            </a:solidFill>
            <a:prstDash val="solid"/>
          </a:ln>
        </p:spPr>
        <p:txBody>
          <a:bodyPr/>
          <a:p/>
        </p:txBody>
      </p:sp>
      <p:sp>
        <p:nvSpPr>
          <p:cNvPr id="28" name="Text 26"/>
          <p:cNvSpPr txBox="1"/>
          <p:nvPr/>
        </p:nvSpPr>
        <p:spPr>
          <a:xfrm>
            <a:off x="9006840" y="5212080"/>
            <a:ext cx="1965960" cy="31089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rial" pitchFamily="34" charset="0"/>
                <a:ea typeface="Arial" pitchFamily="34" charset="-122"/>
                <a:cs typeface="Arial" pitchFamily="34" charset="-120"/>
              </a:rPr>
              <a:t>Thank you</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Personal Portfolio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SQL Data Science Mastery</dc:title>
  <dc:subject>SQL Data Science Mastery — Portfolio Project</dc:subject>
  <dc:creator>Prasanth Sai Kalipindi</dc:creator>
  <cp:lastModifiedBy>Prasanth Sai Kalipindi</cp:lastModifiedBy>
  <cp:revision>1</cp:revision>
  <dcterms:created xsi:type="dcterms:W3CDTF">2026-09-10T15:22:55Z</dcterms:created>
  <dcterms:modified xsi:type="dcterms:W3CDTF">2026-09-10T15:22:55Z</dcterms:modified>
</cp:coreProperties>
</file>