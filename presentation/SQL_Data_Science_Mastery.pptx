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Longest gap (days)</c:v>
                </c:pt>
              </c:strCache>
            </c:strRef>
          </c:tx>
          <c:spPr>
            <a:solidFill>
              <a:srgbClr val="008c95"/>
            </a:solidFill>
            <a:ln w="0">
              <a:noFill/>
            </a:ln>
          </c:spPr>
          <c:invertIfNegative val="0"/>
          <c:dLbls>
            <c:numFmt formatCode="#,##0" sourceLinked="0"/>
            <c:txPr>
              <a:bodyPr wrap="square"/>
              <a:lstStyle/>
              <a:p>
                <a:pPr>
                  <a:defRPr b="0" sz="1200" strike="noStrike" u="none">
                    <a:solidFill>
                      <a:srgbClr val="000000"/>
                    </a:solidFill>
                    <a:uFillTx/>
                    <a:latin typeface="Arial"/>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0"/>
                <c:pt idx="0">
                  <c:v>45</c:v>
                </c:pt>
                <c:pt idx="1">
                  <c:v>9</c:v>
                </c:pt>
                <c:pt idx="2">
                  <c:v>184</c:v>
                </c:pt>
                <c:pt idx="3">
                  <c:v>109</c:v>
                </c:pt>
                <c:pt idx="4">
                  <c:v>99</c:v>
                </c:pt>
                <c:pt idx="5">
                  <c:v>244</c:v>
                </c:pt>
                <c:pt idx="6">
                  <c:v>119</c:v>
                </c:pt>
                <c:pt idx="7">
                  <c:v>116</c:v>
                </c:pt>
                <c:pt idx="8">
                  <c:v>122</c:v>
                </c:pt>
                <c:pt idx="9">
                  <c:v>3</c:v>
                </c:pt>
              </c:strCache>
            </c:strRef>
          </c:cat>
          <c:val>
            <c:numRef>
              <c:f>0</c:f>
              <c:numCache>
                <c:formatCode>General</c:formatCode>
                <c:ptCount val="10"/>
                <c:pt idx="0">
                  <c:v>241</c:v>
                </c:pt>
                <c:pt idx="1">
                  <c:v>231</c:v>
                </c:pt>
                <c:pt idx="2">
                  <c:v>224</c:v>
                </c:pt>
                <c:pt idx="3">
                  <c:v>218</c:v>
                </c:pt>
                <c:pt idx="4">
                  <c:v>217</c:v>
                </c:pt>
                <c:pt idx="5">
                  <c:v>213</c:v>
                </c:pt>
                <c:pt idx="6">
                  <c:v>212</c:v>
                </c:pt>
                <c:pt idx="7">
                  <c:v>209</c:v>
                </c:pt>
                <c:pt idx="8">
                  <c:v>208</c:v>
                </c:pt>
                <c:pt idx="9">
                  <c:v>205</c:v>
                </c:pt>
              </c:numCache>
            </c:numRef>
          </c:val>
        </c:ser>
        <c:gapWidth val="150"/>
        <c:overlap val="0"/>
        <c:axId val="56169708"/>
        <c:axId val="81015523"/>
      </c:barChart>
      <c:catAx>
        <c:axId val="56169708"/>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100" strike="noStrike" u="none">
                <a:solidFill>
                  <a:srgbClr val="667085"/>
                </a:solidFill>
                <a:uFillTx/>
                <a:latin typeface="Arial"/>
              </a:defRPr>
            </a:pPr>
          </a:p>
        </c:txPr>
        <c:crossAx val="81015523"/>
        <c:crosses val="autoZero"/>
        <c:auto val="1"/>
        <c:lblAlgn val="ctr"/>
        <c:lblOffset val="100"/>
        <c:noMultiLvlLbl val="0"/>
      </c:catAx>
      <c:valAx>
        <c:axId val="81015523"/>
        <c:scaling>
          <c:orientation val="minMax"/>
        </c:scaling>
        <c:delete val="0"/>
        <c:axPos val="l"/>
        <c:majorGridlines>
          <c:spPr>
            <a:ln w="12600">
              <a:solidFill>
                <a:srgbClr val="d8dee8"/>
              </a:solidFill>
              <a:round/>
            </a:ln>
          </c:spPr>
        </c:majorGridlines>
        <c:numFmt formatCode="General" sourceLinked="0"/>
        <c:majorTickMark val="out"/>
        <c:minorTickMark val="none"/>
        <c:tickLblPos val="nextTo"/>
        <c:spPr>
          <a:ln w="12600">
            <a:solidFill>
              <a:srgbClr val="888888"/>
            </a:solidFill>
            <a:round/>
          </a:ln>
        </c:spPr>
        <c:txPr>
          <a:bodyPr/>
          <a:lstStyle/>
          <a:p>
            <a:pPr>
              <a:defRPr b="0" sz="950" strike="noStrike" u="none">
                <a:solidFill>
                  <a:srgbClr val="667085"/>
                </a:solidFill>
                <a:uFillTx/>
                <a:latin typeface="Arial"/>
              </a:defRPr>
            </a:pPr>
          </a:p>
        </c:txPr>
        <c:crossAx val="56169708"/>
        <c:crosses val="autoZero"/>
        <c:crossBetween val="between"/>
      </c:valAx>
      <c:spPr>
        <a:noFill/>
        <a:ln w="0">
          <a:noFill/>
        </a:ln>
      </c:spPr>
    </c:plotArea>
    <c:plotVisOnly val="1"/>
    <c:dispBlanksAs val="span"/>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doughnutChart>
        <c:varyColors val="1"/>
        <c:ser>
          <c:idx val="0"/>
          <c:order val="0"/>
          <c:tx>
            <c:strRef>
              <c:f>label 0</c:f>
              <c:strCache>
                <c:ptCount val="1"/>
                <c:pt idx="0">
                  <c:v>Customers</c:v>
                </c:pt>
              </c:strCache>
            </c:strRef>
          </c:tx>
          <c:spPr>
            <a:solidFill>
              <a:srgbClr val="4472c4"/>
            </a:solidFill>
            <a:ln w="9360">
              <a:solidFill>
                <a:srgbClr val="f9f9f9"/>
              </a:solidFill>
              <a:round/>
            </a:ln>
          </c:spPr>
          <c:explosion val="0"/>
          <c:dPt>
            <c:idx val="0"/>
            <c:spPr>
              <a:solidFill>
                <a:srgbClr val="008c95"/>
              </a:solidFill>
              <a:ln w="0">
                <a:noFill/>
              </a:ln>
            </c:spPr>
          </c:dPt>
          <c:dPt>
            <c:idx val="1"/>
            <c:spPr>
              <a:solidFill>
                <a:srgbClr val="eef2f6"/>
              </a:solidFill>
              <a:ln w="0">
                <a:noFill/>
              </a:ln>
            </c:spPr>
          </c:dPt>
          <c:dLbls>
            <c:numFmt formatCode="0%" sourceLinked="0"/>
            <c:dLbl>
              <c:idx val="0"/>
              <c:numFmt formatCode="General" sourceLinked="0"/>
              <c:txPr>
                <a:bodyPr wrap="square"/>
                <a:lstStyle/>
                <a:p>
                  <a:pPr>
                    <a:defRPr b="0" sz="1200" strike="noStrike" u="none">
                      <a:solidFill>
                        <a:srgbClr val="14213d"/>
                      </a:solidFill>
                      <a:uFillTx/>
                      <a:latin typeface="Arial"/>
                    </a:defRPr>
                  </a:pPr>
                </a:p>
              </c:txPr>
              <c:showLegendKey val="0"/>
              <c:showVal val="1"/>
              <c:showCatName val="0"/>
              <c:showSerName val="0"/>
              <c:showPercent val="0"/>
              <c:separator>
</c:separator>
            </c:dLbl>
            <c:dLbl>
              <c:idx val="1"/>
              <c:numFmt formatCode="General" sourceLinked="0"/>
              <c:txPr>
                <a:bodyPr wrap="square"/>
                <a:lstStyle/>
                <a:p>
                  <a:pPr>
                    <a:defRPr b="0" sz="1200" strike="noStrike" u="none">
                      <a:solidFill>
                        <a:srgbClr val="14213d"/>
                      </a:solidFill>
                      <a:uFillTx/>
                      <a:latin typeface="Arial"/>
                    </a:defRPr>
                  </a:pPr>
                </a:p>
              </c:txPr>
              <c:showLegendKey val="0"/>
              <c:showVal val="1"/>
              <c:showCatName val="0"/>
              <c:showSerName val="0"/>
              <c:showPercent val="0"/>
              <c:separator>
</c:separator>
            </c:dLbl>
            <c:txPr>
              <a:bodyPr wrap="square"/>
              <a:lstStyle/>
              <a:p>
                <a:pPr>
                  <a:defRPr b="0" sz="1800" strike="noStrike" u="none">
                    <a:solidFill>
                      <a:srgbClr val="000000"/>
                    </a:solidFill>
                    <a:uFillTx/>
                    <a:latin typeface="Arial"/>
                  </a:defRPr>
                </a:pPr>
              </a:p>
            </c:txPr>
            <c:showLegendKey val="0"/>
            <c:showVal val="0"/>
            <c:showCatName val="1"/>
            <c:showSerName val="0"/>
            <c:showPercent val="1"/>
            <c:separator>
</c:separator>
            <c:showLeaderLines val="0"/>
            <c:leaderLines>
              <c:spPr>
                <a:ln>
                  <a:solidFill>
                    <a:srgbClr val="f9f9f9"/>
                  </a:solidFill>
                </a:ln>
              </c:spPr>
            </c:leaderLines>
          </c:dLbls>
          <c:cat>
            <c:strRef>
              <c:f>categories</c:f>
              <c:strCache>
                <c:ptCount val="2"/>
                <c:pt idx="0">
                  <c:v>Repeat</c:v>
                </c:pt>
                <c:pt idx="1">
                  <c:v>One-time</c:v>
                </c:pt>
              </c:strCache>
            </c:strRef>
          </c:cat>
          <c:val>
            <c:numRef>
              <c:f>0</c:f>
              <c:numCache>
                <c:formatCode>General</c:formatCode>
                <c:ptCount val="2"/>
                <c:pt idx="0">
                  <c:v>43</c:v>
                </c:pt>
                <c:pt idx="1">
                  <c:v>93</c:v>
                </c:pt>
              </c:numCache>
            </c:numRef>
          </c:val>
        </c:ser>
        <c:firstSliceAng val="0"/>
        <c:holeSize val="50"/>
      </c:doughnutChart>
      <c:spPr>
        <a:noFill/>
        <a:ln w="0">
          <a:noFill/>
        </a:ln>
      </c:spPr>
    </c:plotArea>
    <c:legend>
      <c:legendPos val="b"/>
      <c:overlay val="0"/>
      <c:spPr>
        <a:noFill/>
        <a:ln w="0">
          <a:noFill/>
        </a:ln>
      </c:spPr>
      <c:txPr>
        <a:bodyPr/>
        <a:lstStyle/>
        <a:p>
          <a:pPr>
            <a:defRPr b="0" sz="1000" strike="noStrike" u="none">
              <a:solidFill>
                <a:srgbClr val="000000"/>
              </a:solidFill>
              <a:uFillTx/>
              <a:latin typeface="Arial"/>
            </a:defRPr>
          </a:pPr>
        </a:p>
      </c:txPr>
    </c:legend>
    <c:plotVisOnly val="1"/>
    <c:dispBlanksAs val="span"/>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trike="noStrike" u="none">
                <a:solidFill>
                  <a:schemeClr val="dk1"/>
                </a:solidFill>
                <a:effectLst/>
                <a:uFillTx/>
                <a:latin typeface="Arial"/>
              </a:rPr>
              <a:t>Click to move the slide</a:t>
            </a:r>
            <a:endParaRPr b="0" lang="en-US" sz="1800" strike="noStrike" u="none">
              <a:solidFill>
                <a:schemeClr val="dk1"/>
              </a:solidFill>
              <a:effectLst/>
              <a:uFillTx/>
              <a:latin typeface="Arial"/>
            </a:endParaRPr>
          </a:p>
        </p:txBody>
      </p:sp>
      <p:sp>
        <p:nvSpPr>
          <p:cNvPr id="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1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11" name="PlaceHolder 4"/>
          <p:cNvSpPr>
            <a:spLocks noGrp="1"/>
          </p:cNvSpPr>
          <p:nvPr>
            <p:ph type="dt" idx="2"/>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2" name="PlaceHolder 5"/>
          <p:cNvSpPr>
            <a:spLocks noGrp="1"/>
          </p:cNvSpPr>
          <p:nvPr>
            <p:ph type="ftr" idx="3"/>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3" name="PlaceHolder 6"/>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4FF69E70-2578-47DD-B1CC-C7B7A79EF7B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sldImg"/>
          </p:nvPr>
        </p:nvSpPr>
        <p:spPr>
          <a:xfrm>
            <a:off x="685800" y="1143000"/>
            <a:ext cx="5486040" cy="3085920"/>
          </a:xfrm>
          <a:prstGeom prst="rect">
            <a:avLst/>
          </a:prstGeom>
          <a:ln w="0">
            <a:noFill/>
          </a:ln>
        </p:spPr>
      </p:sp>
      <p:sp>
        <p:nvSpPr>
          <p:cNvPr id="45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Opening: This deck presents a portfolio-style SQL analytics case study using a relational retail database. The emphasis is on analytical SQL patterns and the business meaning of the results.</a:t>
            </a:r>
            <a:endParaRPr b="0" lang="en-US" sz="2000" strike="noStrike" u="none">
              <a:solidFill>
                <a:srgbClr val="000000"/>
              </a:solidFill>
              <a:effectLst/>
              <a:uFillTx/>
              <a:latin typeface="Arial"/>
            </a:endParaRPr>
          </a:p>
        </p:txBody>
      </p:sp>
      <p:sp>
        <p:nvSpPr>
          <p:cNvPr id="453"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447EEE2-9DC0-4739-9941-40F6F8937E2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sldImg"/>
          </p:nvPr>
        </p:nvSpPr>
        <p:spPr>
          <a:xfrm>
            <a:off x="685800" y="1143000"/>
            <a:ext cx="5486040" cy="3085920"/>
          </a:xfrm>
          <a:prstGeom prst="rect">
            <a:avLst/>
          </a:prstGeom>
          <a:ln w="0">
            <a:noFill/>
          </a:ln>
        </p:spPr>
      </p:sp>
      <p:sp>
        <p:nvSpPr>
          <p:cNvPr id="45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Executive summary: The analysis surfaces three themes—retention, customer cadence, and inventory pressure. The goal is not only to calculate metrics but to identify decisions the business can make from them.</a:t>
            </a:r>
            <a:endParaRPr b="0" lang="en-US" sz="2000" strike="noStrike" u="none">
              <a:solidFill>
                <a:srgbClr val="000000"/>
              </a:solidFill>
              <a:effectLst/>
              <a:uFillTx/>
              <a:latin typeface="Arial"/>
            </a:endParaRPr>
          </a:p>
        </p:txBody>
      </p:sp>
      <p:sp>
        <p:nvSpPr>
          <p:cNvPr id="456"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367E0A3-4735-4980-BFF6-5D777C71A4DF}"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685800" y="1143000"/>
            <a:ext cx="5486040" cy="3085920"/>
          </a:xfrm>
          <a:prstGeom prst="rect">
            <a:avLst/>
          </a:prstGeom>
          <a:ln w="0">
            <a:noFill/>
          </a:ln>
        </p:spPr>
      </p:sp>
      <p:sp>
        <p:nvSpPr>
          <p:cNvPr id="45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Walk through the schema: customers place orders, orders contain order_items, products are held in inventory, and stores fulfill the retail relationship. The analysis queries operate at different grains, so joins and aggregations must respect the grain.</a:t>
            </a:r>
            <a:endParaRPr b="0" lang="en-US" sz="2000" strike="noStrike" u="none">
              <a:solidFill>
                <a:srgbClr val="000000"/>
              </a:solidFill>
              <a:effectLst/>
              <a:uFillTx/>
              <a:latin typeface="Arial"/>
            </a:endParaRPr>
          </a:p>
        </p:txBody>
      </p:sp>
      <p:sp>
        <p:nvSpPr>
          <p:cNvPr id="459"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863D2E7-4A72-49CF-9EB7-E86F6887B6C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685800" y="1143000"/>
            <a:ext cx="5486040" cy="3085920"/>
          </a:xfrm>
          <a:prstGeom prst="rect">
            <a:avLst/>
          </a:prstGeom>
          <a:ln w="0">
            <a:noFill/>
          </a:ln>
        </p:spPr>
      </p:sp>
      <p:sp>
        <p:nvSpPr>
          <p:cNvPr id="46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This slide summarizes the SQL techniques used across the examples: window functions, CTEs, CASE expressions, date functions, aggregation, joins, and null-handling.</a:t>
            </a:r>
            <a:endParaRPr b="0" lang="en-US" sz="2000" strike="noStrike" u="none">
              <a:solidFill>
                <a:srgbClr val="000000"/>
              </a:solidFill>
              <a:effectLst/>
              <a:uFillTx/>
              <a:latin typeface="Arial"/>
            </a:endParaRPr>
          </a:p>
        </p:txBody>
      </p:sp>
      <p:sp>
        <p:nvSpPr>
          <p:cNvPr id="462"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5DE0135-6E87-4CDE-8EEF-7F55EDED9CA0}"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685800" y="1143000"/>
            <a:ext cx="5486040" cy="3085920"/>
          </a:xfrm>
          <a:prstGeom prst="rect">
            <a:avLst/>
          </a:prstGeom>
          <a:ln w="0">
            <a:noFill/>
          </a:ln>
        </p:spPr>
      </p:sp>
      <p:sp>
        <p:nvSpPr>
          <p:cNvPr id="46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Explain LAG: within each customer, each order gets the timestamp from the prior order. DATEDIFF then turns the pair into an interval. The aggregation identifies the largest observed gap and average cadence. Customer 45 has the largest reported gap at 241 days and average gap of 121.5 days.</a:t>
            </a:r>
            <a:endParaRPr b="0" lang="en-US" sz="2000" strike="noStrike" u="none">
              <a:solidFill>
                <a:srgbClr val="000000"/>
              </a:solidFill>
              <a:effectLst/>
              <a:uFillTx/>
              <a:latin typeface="Arial"/>
            </a:endParaRPr>
          </a:p>
        </p:txBody>
      </p:sp>
      <p:sp>
        <p:nvSpPr>
          <p:cNvPr id="465"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3F192CF-91B3-47A1-AE94-9D54488B6354}"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685800" y="1143000"/>
            <a:ext cx="5486040" cy="3085920"/>
          </a:xfrm>
          <a:prstGeom prst="rect">
            <a:avLst/>
          </a:prstGeom>
          <a:ln w="0">
            <a:noFill/>
          </a:ln>
        </p:spPr>
      </p:sp>
      <p:sp>
        <p:nvSpPr>
          <p:cNvPr id="46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The chart shows the top ten customers by maximum purchase gap from the provided output. The key observation is the long tail: the top customer is at 241 days, while many others in the output have far shorter gaps.</a:t>
            </a:r>
            <a:endParaRPr b="0" lang="en-US" sz="2000" strike="noStrike" u="none">
              <a:solidFill>
                <a:srgbClr val="000000"/>
              </a:solidFill>
              <a:effectLst/>
              <a:uFillTx/>
              <a:latin typeface="Arial"/>
            </a:endParaRPr>
          </a:p>
        </p:txBody>
      </p:sp>
      <p:sp>
        <p:nvSpPr>
          <p:cNvPr id="468"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1A6FDB4-ED2D-40E2-B88C-607C9E2A4104}"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685800" y="1143000"/>
            <a:ext cx="5486040" cy="3085920"/>
          </a:xfrm>
          <a:prstGeom prst="rect">
            <a:avLst/>
          </a:prstGeom>
          <a:ln w="0">
            <a:noFill/>
          </a:ln>
        </p:spPr>
      </p:sp>
      <p:sp>
        <p:nvSpPr>
          <p:cNvPr id="47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This query is intentionally staged: sales, inventory, product-level analytics, then global thresholds. The final filter surfaces products that are both high-volume and relatively understocked.</a:t>
            </a:r>
            <a:endParaRPr b="0" lang="en-US" sz="2000" strike="noStrike" u="none">
              <a:solidFill>
                <a:srgbClr val="000000"/>
              </a:solidFill>
              <a:effectLst/>
              <a:uFillTx/>
              <a:latin typeface="Arial"/>
            </a:endParaRPr>
          </a:p>
        </p:txBody>
      </p:sp>
      <p:sp>
        <p:nvSpPr>
          <p:cNvPr id="471"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96E9C96-A0A7-40ED-B2C5-8C76EB82D71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685800" y="1143000"/>
            <a:ext cx="5486040" cy="3085920"/>
          </a:xfrm>
          <a:prstGeom prst="rect">
            <a:avLst/>
          </a:prstGeom>
          <a:ln w="0">
            <a:noFill/>
          </a:ln>
        </p:spPr>
      </p:sp>
      <p:sp>
        <p:nvSpPr>
          <p:cNvPr id="47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This table is a compact watchlist from the provided result set. Products with zero inventory and high unit sales are the clearest urgent cases.</a:t>
            </a:r>
            <a:endParaRPr b="0" lang="en-US" sz="2000" strike="noStrike" u="none">
              <a:solidFill>
                <a:srgbClr val="000000"/>
              </a:solidFill>
              <a:effectLst/>
              <a:uFillTx/>
              <a:latin typeface="Arial"/>
            </a:endParaRPr>
          </a:p>
        </p:txBody>
      </p:sp>
      <p:sp>
        <p:nvSpPr>
          <p:cNvPr id="474"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05D2097-4889-470A-A8EB-855841358AA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685800" y="1143000"/>
            <a:ext cx="5486040" cy="3085920"/>
          </a:xfrm>
          <a:prstGeom prst="rect">
            <a:avLst/>
          </a:prstGeom>
          <a:ln w="0">
            <a:noFill/>
          </a:ln>
        </p:spPr>
      </p:sp>
      <p:sp>
        <p:nvSpPr>
          <p:cNvPr id="47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The repeat rate is calculated across customers who have at least one order. 43 customers have more than one order, 93 have exactly one, giving a reported repeat rate of 31.62%.</a:t>
            </a:r>
            <a:endParaRPr b="0" lang="en-US" sz="2000" strike="noStrike" u="none">
              <a:solidFill>
                <a:srgbClr val="000000"/>
              </a:solidFill>
              <a:effectLst/>
              <a:uFillTx/>
              <a:latin typeface="Arial"/>
            </a:endParaRPr>
          </a:p>
        </p:txBody>
      </p:sp>
      <p:sp>
        <p:nvSpPr>
          <p:cNvPr id="477"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4D1D55B-F89E-4119-B891-E86C26EA3ED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685800" y="1143000"/>
            <a:ext cx="5486040" cy="3085920"/>
          </a:xfrm>
          <a:prstGeom prst="rect">
            <a:avLst/>
          </a:prstGeom>
          <a:ln w="0">
            <a:noFill/>
          </a:ln>
        </p:spPr>
      </p:sp>
      <p:sp>
        <p:nvSpPr>
          <p:cNvPr id="47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Recommendations are derived from the patterns in the supplied outputs. The next step in a production setting would be to validate these hypotheses with additional dimensions such as product category, seasonality, store, margin and customer cohort.</a:t>
            </a:r>
            <a:endParaRPr b="0" lang="en-US" sz="2000" strike="noStrike" u="none">
              <a:solidFill>
                <a:srgbClr val="000000"/>
              </a:solidFill>
              <a:effectLst/>
              <a:uFillTx/>
              <a:latin typeface="Arial"/>
            </a:endParaRPr>
          </a:p>
        </p:txBody>
      </p:sp>
      <p:sp>
        <p:nvSpPr>
          <p:cNvPr id="480"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E5DB8EF-B772-4F9E-BC87-C46C927462B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Img"/>
          </p:nvPr>
        </p:nvSpPr>
        <p:spPr>
          <a:xfrm>
            <a:off x="685800" y="1143000"/>
            <a:ext cx="5486040" cy="3085920"/>
          </a:xfrm>
          <a:prstGeom prst="rect">
            <a:avLst/>
          </a:prstGeom>
          <a:ln w="0">
            <a:noFill/>
          </a:ln>
        </p:spPr>
      </p:sp>
      <p:sp>
        <p:nvSpPr>
          <p:cNvPr id="4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These are logical extensions rather than claims from the current dataset. They show how the same relational model could support deeper analytics.</a:t>
            </a:r>
            <a:endParaRPr b="0" lang="en-US" sz="2000" strike="noStrike" u="none">
              <a:solidFill>
                <a:srgbClr val="000000"/>
              </a:solidFill>
              <a:effectLst/>
              <a:uFillTx/>
              <a:latin typeface="Arial"/>
            </a:endParaRPr>
          </a:p>
        </p:txBody>
      </p:sp>
      <p:sp>
        <p:nvSpPr>
          <p:cNvPr id="483"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0349FF5-EEA2-43EA-8FE5-A371B7102625}"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sldImg"/>
          </p:nvPr>
        </p:nvSpPr>
        <p:spPr>
          <a:xfrm>
            <a:off x="685800" y="1143000"/>
            <a:ext cx="5486040" cy="3085920"/>
          </a:xfrm>
          <a:prstGeom prst="rect">
            <a:avLst/>
          </a:prstGeom>
          <a:ln w="0">
            <a:noFill/>
          </a:ln>
        </p:spPr>
      </p:sp>
      <p:sp>
        <p:nvSpPr>
          <p:cNvPr id="4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Portfolio slide. The provided repository URL is shown exactly as supplied.</a:t>
            </a:r>
            <a:endParaRPr b="0" lang="en-US" sz="2000" strike="noStrike" u="none">
              <a:solidFill>
                <a:srgbClr val="000000"/>
              </a:solidFill>
              <a:effectLst/>
              <a:uFillTx/>
              <a:latin typeface="Arial"/>
            </a:endParaRPr>
          </a:p>
        </p:txBody>
      </p:sp>
      <p:sp>
        <p:nvSpPr>
          <p:cNvPr id="486"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B4978B0-2923-4FBE-A9EF-70252BC9F71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PlaceHolder 1"/>
          <p:cNvSpPr>
            <a:spLocks noGrp="1"/>
          </p:cNvSpPr>
          <p:nvPr>
            <p:ph type="sldImg"/>
          </p:nvPr>
        </p:nvSpPr>
        <p:spPr>
          <a:xfrm>
            <a:off x="685800" y="1143000"/>
            <a:ext cx="5486040" cy="3085920"/>
          </a:xfrm>
          <a:prstGeom prst="rect">
            <a:avLst/>
          </a:prstGeom>
          <a:ln w="0">
            <a:noFill/>
          </a:ln>
        </p:spPr>
      </p:sp>
      <p:sp>
        <p:nvSpPr>
          <p:cNvPr id="4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Use this slide as the bridge from the project artifact to the professional profile.</a:t>
            </a:r>
            <a:endParaRPr b="0" lang="en-US" sz="2000" strike="noStrike" u="none">
              <a:solidFill>
                <a:srgbClr val="000000"/>
              </a:solidFill>
              <a:effectLst/>
              <a:uFillTx/>
              <a:latin typeface="Arial"/>
            </a:endParaRPr>
          </a:p>
        </p:txBody>
      </p:sp>
      <p:sp>
        <p:nvSpPr>
          <p:cNvPr id="489"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480F324-9496-4FD9-AFF4-6731789AAD4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sldImg"/>
          </p:nvPr>
        </p:nvSpPr>
        <p:spPr>
          <a:xfrm>
            <a:off x="685800" y="1143000"/>
            <a:ext cx="5486040" cy="3085920"/>
          </a:xfrm>
          <a:prstGeom prst="rect">
            <a:avLst/>
          </a:prstGeom>
          <a:ln w="0">
            <a:noFill/>
          </a:ln>
        </p:spPr>
      </p:sp>
      <p:sp>
        <p:nvSpPr>
          <p:cNvPr id="4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Close: SQL is valuable when it moves from syntax to decisions. Thank the audience and invite questions.</a:t>
            </a:r>
            <a:endParaRPr b="0" lang="en-US" sz="2000" strike="noStrike" u="none">
              <a:solidFill>
                <a:srgbClr val="000000"/>
              </a:solidFill>
              <a:effectLst/>
              <a:uFillTx/>
              <a:latin typeface="Arial"/>
            </a:endParaRPr>
          </a:p>
        </p:txBody>
      </p:sp>
      <p:sp>
        <p:nvSpPr>
          <p:cNvPr id="492" name="PlaceHolder 3"/>
          <p:cNvSpPr>
            <a:spLocks noGrp="1"/>
          </p:cNvSpPr>
          <p:nvPr>
            <p:ph type="sldNum" idx="3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C7E628C-0956-421D-8F31-E35D49F8AB90}"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Arial"/>
              </a:rPr>
              <a:t>Click to edit the title text format</a:t>
            </a:r>
            <a:endParaRPr b="0" lang="en-US" sz="1800" strike="noStrike" u="none">
              <a:solidFill>
                <a:schemeClr val="dk1"/>
              </a:solidFill>
              <a:effectLst/>
              <a:uFillTx/>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Arial"/>
              </a:rPr>
              <a:t>Click to edit the outline text format</a:t>
            </a:r>
            <a:endParaRPr b="0" lang="en-US" sz="32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Arial"/>
              </a:rPr>
              <a:t>Second Outline Level</a:t>
            </a:r>
            <a:endParaRPr b="0" lang="en-US"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Arial"/>
              </a:rPr>
              <a:t>Third Outline Level</a:t>
            </a:r>
            <a:endParaRPr b="0" lang="en-US"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Arial"/>
              </a:rPr>
              <a:t>Fourth Outline Level</a:t>
            </a:r>
            <a:endParaRPr b="0" lang="en-US"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chemeClr val="dk1"/>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502920" y="6446520"/>
            <a:ext cx="11155680" cy="360"/>
          </a:xfrm>
          <a:prstGeom prst="line">
            <a:avLst/>
          </a:prstGeom>
          <a:ln w="8890">
            <a:solidFill>
              <a:srgbClr val="dde3ec"/>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 name="Text 1"/>
          <p:cNvSpPr/>
          <p:nvPr/>
        </p:nvSpPr>
        <p:spPr>
          <a:xfrm>
            <a:off x="502920" y="6483240"/>
            <a:ext cx="329148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00" strike="noStrike" u="none">
                <a:solidFill>
                  <a:srgbClr val="7a8595"/>
                </a:solidFill>
                <a:effectLst/>
                <a:uFillTx/>
                <a:latin typeface="Arial"/>
                <a:ea typeface="Arial"/>
              </a:rPr>
              <a:t>SQL DATA SCIENCE MASTERY</a:t>
            </a:r>
            <a:endParaRPr b="0" lang="en-US" sz="800" strike="noStrike" u="none">
              <a:solidFill>
                <a:srgbClr val="000000"/>
              </a:solidFill>
              <a:effectLst/>
              <a:uFillTx/>
              <a:latin typeface="Arial"/>
            </a:endParaRPr>
          </a:p>
        </p:txBody>
      </p:sp>
      <p:sp>
        <p:nvSpPr>
          <p:cNvPr id="4" name="Text 2"/>
          <p:cNvSpPr/>
          <p:nvPr/>
        </p:nvSpPr>
        <p:spPr>
          <a:xfrm>
            <a:off x="9509760" y="6483240"/>
            <a:ext cx="2148480" cy="164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1" lang="en-US" sz="800" strike="noStrike" u="none">
                <a:solidFill>
                  <a:srgbClr val="7a8595"/>
                </a:solidFill>
                <a:effectLst/>
                <a:uFillTx/>
                <a:latin typeface="Arial"/>
                <a:ea typeface="Arial"/>
              </a:rPr>
              <a:t>PORTFOLIO PROJECT</a:t>
            </a:r>
            <a:endParaRPr b="0" lang="en-US" sz="800" strike="noStrike" u="none">
              <a:solidFill>
                <a:srgbClr val="000000"/>
              </a:solidFill>
              <a:effectLst/>
              <a:uFillTx/>
              <a:latin typeface="Arial"/>
            </a:endParaRPr>
          </a:p>
        </p:txBody>
      </p:sp>
      <p:sp>
        <p:nvSpPr>
          <p:cNvPr id="5" name="PlaceHolder 1"/>
          <p:cNvSpPr>
            <a:spLocks noGrp="1"/>
          </p:cNvSpPr>
          <p:nvPr>
            <p:ph type="sldNum" idx="1"/>
          </p:nvPr>
        </p:nvSpPr>
        <p:spPr>
          <a:xfrm>
            <a:off x="11685960" y="6464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trike="noStrike" u="none">
                <a:solidFill>
                  <a:srgbClr val="7a8595"/>
                </a:solidFill>
                <a:effectLst/>
                <a:uFillTx/>
                <a:latin typeface="Arial"/>
                <a:ea typeface="Arial"/>
              </a:defRPr>
            </a:lvl1pPr>
          </a:lstStyle>
          <a:p>
            <a:pPr indent="0" defTabSz="914400">
              <a:lnSpc>
                <a:spcPct val="100000"/>
              </a:lnSpc>
              <a:buNone/>
            </a:pPr>
            <a:fld id="{0F95A014-32B3-4332-88B9-37271A3C8413}" type="slidenum">
              <a:rPr b="0" lang="en-US" sz="800" strike="noStrike" u="none">
                <a:solidFill>
                  <a:srgbClr val="7a8595"/>
                </a:solidFill>
                <a:effectLst/>
                <a:uFillTx/>
                <a:latin typeface="Arial"/>
                <a:ea typeface="Arial"/>
              </a:rPr>
              <a:t>&lt;number&gt;</a:t>
            </a:fld>
            <a:endParaRPr b="0" lang="en-US" sz="800" strike="noStrike" u="none">
              <a:solidFill>
                <a:srgbClr val="000000"/>
              </a:solidFill>
              <a:effectLst/>
              <a:uFillTx/>
              <a:latin typeface="Times New Roman"/>
            </a:endParaRPr>
          </a:p>
        </p:txBody>
      </p:sp>
      <p:sp>
        <p:nvSpPr>
          <p:cNvPr id="6"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Arial"/>
              </a:rPr>
              <a:t>Click to edit the title text format</a:t>
            </a:r>
            <a:endParaRPr b="0" lang="en-US" sz="1800" strike="noStrike" u="none">
              <a:solidFill>
                <a:schemeClr val="dk1"/>
              </a:solidFill>
              <a:effectLst/>
              <a:uFillTx/>
              <a:latin typeface="Arial"/>
            </a:endParaRPr>
          </a:p>
        </p:txBody>
      </p:sp>
      <p:sp>
        <p:nvSpPr>
          <p:cNvPr id="7"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Arial"/>
              </a:rPr>
              <a:t>Click to edit the outline text format</a:t>
            </a:r>
            <a:endParaRPr b="0" lang="en-US" sz="32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Arial"/>
              </a:rPr>
              <a:t>Second Outline Level</a:t>
            </a:r>
            <a:endParaRPr b="0" lang="en-US"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Arial"/>
              </a:rPr>
              <a:t>Third Outline Level</a:t>
            </a:r>
            <a:endParaRPr b="0" lang="en-US"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Arial"/>
              </a:rPr>
              <a:t>Fourth Outline Level</a:t>
            </a:r>
            <a:endParaRPr b="0" lang="en-US"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2.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hyperlink" Target="https://github.com/kalipindiprasanthsai1267-hub/sql-data-science-mastery" TargetMode="External"/><Relationship Id="rId2" Type="http://schemas.openxmlformats.org/officeDocument/2006/relationships/hyperlink" Target="https://github.com/kalipindiprasanthsai1267-hub/sql-data-science-mastery" TargetMode="External"/><Relationship Id="rId3" Type="http://schemas.openxmlformats.org/officeDocument/2006/relationships/hyperlink" Target="https://github.com/kalipindiprasanthsai1267-hub/sql-data-science-mastery" TargetMode="External"/><Relationship Id="rId4" Type="http://schemas.openxmlformats.org/officeDocument/2006/relationships/hyperlink" Target="https://www.linkedin.com/in/prasanth-sai-kalipindi-8b8951321/" TargetMode="External"/><Relationship Id="rId5" Type="http://schemas.openxmlformats.org/officeDocument/2006/relationships/hyperlink" Target="https://www.linkedin.com/in/prasanth-sai-kalipindi-8b8951321/" TargetMode="External"/><Relationship Id="rId6" Type="http://schemas.openxmlformats.org/officeDocument/2006/relationships/hyperlink" Target="https://www.linkedin.com/in/prasanth-sai-kalipindi-8b8951321/" TargetMode="External"/><Relationship Id="rId7" Type="http://schemas.openxmlformats.org/officeDocument/2006/relationships/slideLayout" Target="../slideLayouts/slideLayout1.xml"/><Relationship Id="rId8"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13d"/>
        </a:solidFill>
      </p:bgPr>
    </p:bg>
    <p:spTree>
      <p:nvGrpSpPr>
        <p:cNvPr id="1" name=""/>
        <p:cNvGrpSpPr/>
        <p:nvPr/>
      </p:nvGrpSpPr>
      <p:grpSpPr>
        <a:xfrm>
          <a:off x="0" y="0"/>
          <a:ext cx="0" cy="0"/>
          <a:chOff x="0" y="0"/>
          <a:chExt cx="0" cy="0"/>
        </a:xfrm>
      </p:grpSpPr>
      <p:sp>
        <p:nvSpPr>
          <p:cNvPr id="14" name="Shape 0"/>
          <p:cNvSpPr/>
          <p:nvPr/>
        </p:nvSpPr>
        <p:spPr>
          <a:xfrm>
            <a:off x="9646920" y="914400"/>
            <a:ext cx="502560" cy="502560"/>
          </a:xfrm>
          <a:prstGeom prst="ellipse">
            <a:avLst/>
          </a:prstGeom>
          <a:solidFill>
            <a:srgbClr val="36c5d8"/>
          </a:solidFill>
          <a:ln w="12700">
            <a:solidFill>
              <a:srgbClr val="36c5d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5" name="Shape 1"/>
          <p:cNvSpPr/>
          <p:nvPr/>
        </p:nvSpPr>
        <p:spPr>
          <a:xfrm>
            <a:off x="10442520" y="1627560"/>
            <a:ext cx="319680" cy="319680"/>
          </a:xfrm>
          <a:prstGeom prst="ellipse">
            <a:avLst/>
          </a:prstGeom>
          <a:solidFill>
            <a:srgbClr val="f4a261"/>
          </a:solidFill>
          <a:ln w="12700">
            <a:solidFill>
              <a:srgbClr val="f4a261">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6" name="Shape 2"/>
          <p:cNvSpPr/>
          <p:nvPr/>
        </p:nvSpPr>
        <p:spPr>
          <a:xfrm>
            <a:off x="9857160" y="2304360"/>
            <a:ext cx="255600" cy="25560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7" name="Shape 3"/>
          <p:cNvSpPr/>
          <p:nvPr/>
        </p:nvSpPr>
        <p:spPr>
          <a:xfrm>
            <a:off x="10744200" y="2834640"/>
            <a:ext cx="438480" cy="438480"/>
          </a:xfrm>
          <a:prstGeom prst="ellipse">
            <a:avLst/>
          </a:prstGeom>
          <a:solidFill>
            <a:srgbClr val="f6bd60"/>
          </a:solidFill>
          <a:ln w="12700">
            <a:solidFill>
              <a:srgbClr val="f6bd60">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8" name="Shape 4"/>
          <p:cNvSpPr/>
          <p:nvPr/>
        </p:nvSpPr>
        <p:spPr>
          <a:xfrm>
            <a:off x="9418320" y="3337560"/>
            <a:ext cx="383760" cy="383760"/>
          </a:xfrm>
          <a:prstGeom prst="ellipse">
            <a:avLst/>
          </a:prstGeom>
          <a:solidFill>
            <a:srgbClr val="36c5d8"/>
          </a:solidFill>
          <a:ln w="12700">
            <a:solidFill>
              <a:srgbClr val="36c5d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9" name="Shape 5"/>
          <p:cNvSpPr/>
          <p:nvPr/>
        </p:nvSpPr>
        <p:spPr>
          <a:xfrm>
            <a:off x="10607040" y="4160520"/>
            <a:ext cx="273960" cy="27396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0" name="Shape 6"/>
          <p:cNvSpPr/>
          <p:nvPr/>
        </p:nvSpPr>
        <p:spPr>
          <a:xfrm>
            <a:off x="9893520" y="1298160"/>
            <a:ext cx="594360" cy="484920"/>
          </a:xfrm>
          <a:prstGeom prst="line">
            <a:avLst/>
          </a:prstGeom>
          <a:ln w="17780">
            <a:solidFill>
              <a:srgbClr val="5b6f91">
                <a:alpha val="75000"/>
              </a:srgbClr>
            </a:solidFill>
            <a:roun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Arial"/>
            </a:endParaRPr>
          </a:p>
        </p:txBody>
      </p:sp>
      <p:sp>
        <p:nvSpPr>
          <p:cNvPr id="21" name="Shape 7"/>
          <p:cNvSpPr/>
          <p:nvPr/>
        </p:nvSpPr>
        <p:spPr>
          <a:xfrm flipH="1">
            <a:off x="10332720" y="1938240"/>
            <a:ext cx="228600" cy="896400"/>
          </a:xfrm>
          <a:prstGeom prst="line">
            <a:avLst/>
          </a:prstGeom>
          <a:ln w="17780">
            <a:solidFill>
              <a:srgbClr val="5b6f91">
                <a:alpha val="75000"/>
              </a:srgbClr>
            </a:solidFill>
            <a:roun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Arial"/>
            </a:endParaRPr>
          </a:p>
        </p:txBody>
      </p:sp>
      <p:sp>
        <p:nvSpPr>
          <p:cNvPr id="22" name="Shape 8"/>
          <p:cNvSpPr/>
          <p:nvPr/>
        </p:nvSpPr>
        <p:spPr>
          <a:xfrm>
            <a:off x="10021680" y="2541960"/>
            <a:ext cx="685800" cy="320040"/>
          </a:xfrm>
          <a:prstGeom prst="line">
            <a:avLst/>
          </a:prstGeom>
          <a:ln w="17780">
            <a:solidFill>
              <a:srgbClr val="5b6f91">
                <a:alpha val="75000"/>
              </a:srgbClr>
            </a:solidFill>
            <a:roun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Arial"/>
            </a:endParaRPr>
          </a:p>
        </p:txBody>
      </p:sp>
      <p:sp>
        <p:nvSpPr>
          <p:cNvPr id="23" name="Shape 9"/>
          <p:cNvSpPr/>
          <p:nvPr/>
        </p:nvSpPr>
        <p:spPr>
          <a:xfrm>
            <a:off x="10104120" y="3657600"/>
            <a:ext cx="484560" cy="502920"/>
          </a:xfrm>
          <a:prstGeom prst="line">
            <a:avLst/>
          </a:prstGeom>
          <a:ln w="17780">
            <a:solidFill>
              <a:srgbClr val="5b6f91">
                <a:alpha val="75000"/>
              </a:srgbClr>
            </a:solidFill>
            <a:roun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Arial"/>
            </a:endParaRPr>
          </a:p>
        </p:txBody>
      </p:sp>
      <p:sp>
        <p:nvSpPr>
          <p:cNvPr id="24" name="Shape 10"/>
          <p:cNvSpPr/>
          <p:nvPr/>
        </p:nvSpPr>
        <p:spPr>
          <a:xfrm>
            <a:off x="594360" y="567000"/>
            <a:ext cx="2468520" cy="310680"/>
          </a:xfrm>
          <a:prstGeom prst="roundRect">
            <a:avLst>
              <a:gd name="adj" fmla="val 50000"/>
            </a:avLst>
          </a:prstGeom>
          <a:solidFill>
            <a:srgbClr val="214e64"/>
          </a:solidFill>
          <a:ln w="12700">
            <a:solidFill>
              <a:srgbClr val="214e64">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5" name="Text 11"/>
          <p:cNvSpPr/>
          <p:nvPr/>
        </p:nvSpPr>
        <p:spPr>
          <a:xfrm>
            <a:off x="594360" y="585360"/>
            <a:ext cx="2468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8fe7ef"/>
                </a:solidFill>
                <a:effectLst/>
                <a:uFillTx/>
                <a:latin typeface="Arial"/>
                <a:ea typeface="Arial"/>
              </a:rPr>
              <a:t>SQL • DATA SCIENCE FOUNDATION</a:t>
            </a:r>
            <a:endParaRPr b="0" lang="en-US" sz="900" strike="noStrike" u="none">
              <a:solidFill>
                <a:srgbClr val="ffffff"/>
              </a:solidFill>
              <a:effectLst/>
              <a:uFillTx/>
              <a:latin typeface="Arial"/>
            </a:endParaRPr>
          </a:p>
        </p:txBody>
      </p:sp>
      <p:sp>
        <p:nvSpPr>
          <p:cNvPr id="26" name="Text 12"/>
          <p:cNvSpPr/>
          <p:nvPr/>
        </p:nvSpPr>
        <p:spPr>
          <a:xfrm>
            <a:off x="594360" y="1170360"/>
            <a:ext cx="7634880" cy="1416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000" strike="noStrike" u="none">
                <a:solidFill>
                  <a:srgbClr val="ffffff"/>
                </a:solidFill>
                <a:effectLst/>
                <a:uFillTx/>
                <a:latin typeface="Cambria"/>
                <a:ea typeface="Cambria"/>
              </a:rPr>
              <a:t>SQL Data Science</a:t>
            </a:r>
            <a:endParaRPr b="0" lang="en-US" sz="4000" strike="noStrike" u="none">
              <a:solidFill>
                <a:srgbClr val="ffffff"/>
              </a:solidFill>
              <a:effectLst/>
              <a:uFillTx/>
              <a:latin typeface="Arial"/>
            </a:endParaRPr>
          </a:p>
          <a:p>
            <a:pPr defTabSz="914400">
              <a:lnSpc>
                <a:spcPct val="100000"/>
              </a:lnSpc>
              <a:tabLst>
                <a:tab algn="l" pos="0"/>
              </a:tabLst>
            </a:pPr>
            <a:r>
              <a:rPr b="1" lang="en-US" sz="4000" strike="noStrike" u="none">
                <a:solidFill>
                  <a:srgbClr val="ffffff"/>
                </a:solidFill>
                <a:effectLst/>
                <a:uFillTx/>
                <a:latin typeface="Cambria"/>
                <a:ea typeface="Cambria"/>
              </a:rPr>
              <a:t>Mastery</a:t>
            </a:r>
            <a:endParaRPr b="0" lang="en-US" sz="4000" strike="noStrike" u="none">
              <a:solidFill>
                <a:srgbClr val="ffffff"/>
              </a:solidFill>
              <a:effectLst/>
              <a:uFillTx/>
              <a:latin typeface="Arial"/>
            </a:endParaRPr>
          </a:p>
        </p:txBody>
      </p:sp>
      <p:sp>
        <p:nvSpPr>
          <p:cNvPr id="27" name="Text 13"/>
          <p:cNvSpPr/>
          <p:nvPr/>
        </p:nvSpPr>
        <p:spPr>
          <a:xfrm>
            <a:off x="621720" y="2788920"/>
            <a:ext cx="6263280" cy="502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800" strike="noStrike" u="none">
                <a:solidFill>
                  <a:srgbClr val="d9e4f1"/>
                </a:solidFill>
                <a:effectLst/>
                <a:uFillTx/>
                <a:latin typeface="Arial"/>
                <a:ea typeface="Arial"/>
              </a:rPr>
              <a:t>Retail order analytics using relational data</a:t>
            </a:r>
            <a:endParaRPr b="0" lang="en-US" sz="1800" strike="noStrike" u="none">
              <a:solidFill>
                <a:srgbClr val="ffffff"/>
              </a:solidFill>
              <a:effectLst/>
              <a:uFillTx/>
              <a:latin typeface="Arial"/>
            </a:endParaRPr>
          </a:p>
        </p:txBody>
      </p:sp>
      <p:sp>
        <p:nvSpPr>
          <p:cNvPr id="28" name="Text 14"/>
          <p:cNvSpPr/>
          <p:nvPr/>
        </p:nvSpPr>
        <p:spPr>
          <a:xfrm>
            <a:off x="621720" y="3364920"/>
            <a:ext cx="571464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afc0d6"/>
                </a:solidFill>
                <a:effectLst/>
                <a:uFillTx/>
                <a:latin typeface="Arial"/>
                <a:ea typeface="Arial"/>
              </a:rPr>
              <a:t>SQL analysis • customer behavior • inventory</a:t>
            </a:r>
            <a:endParaRPr b="0" lang="en-US" sz="1250" strike="noStrike" u="none">
              <a:solidFill>
                <a:srgbClr val="ffffff"/>
              </a:solidFill>
              <a:effectLst/>
              <a:uFillTx/>
              <a:latin typeface="Arial"/>
            </a:endParaRPr>
          </a:p>
        </p:txBody>
      </p:sp>
      <p:sp>
        <p:nvSpPr>
          <p:cNvPr id="29" name="Shape 15"/>
          <p:cNvSpPr/>
          <p:nvPr/>
        </p:nvSpPr>
        <p:spPr>
          <a:xfrm>
            <a:off x="621720" y="4160520"/>
            <a:ext cx="223992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0" name="Shape 16"/>
          <p:cNvSpPr/>
          <p:nvPr/>
        </p:nvSpPr>
        <p:spPr>
          <a:xfrm>
            <a:off x="786240" y="4325040"/>
            <a:ext cx="200880" cy="200880"/>
          </a:xfrm>
          <a:prstGeom prst="ellipse">
            <a:avLst/>
          </a:prstGeom>
          <a:solidFill>
            <a:srgbClr val="36c5d8"/>
          </a:solidFill>
          <a:ln w="12700">
            <a:solidFill>
              <a:srgbClr val="36c5d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1" name="Text 17"/>
          <p:cNvSpPr/>
          <p:nvPr/>
        </p:nvSpPr>
        <p:spPr>
          <a:xfrm>
            <a:off x="1078920" y="4297680"/>
            <a:ext cx="164556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31.62%</a:t>
            </a:r>
            <a:endParaRPr b="0" lang="en-US" sz="2700" strike="noStrike" u="none">
              <a:solidFill>
                <a:srgbClr val="ffffff"/>
              </a:solidFill>
              <a:effectLst/>
              <a:uFillTx/>
              <a:latin typeface="Arial"/>
            </a:endParaRPr>
          </a:p>
        </p:txBody>
      </p:sp>
      <p:sp>
        <p:nvSpPr>
          <p:cNvPr id="32" name="Text 18"/>
          <p:cNvSpPr/>
          <p:nvPr/>
        </p:nvSpPr>
        <p:spPr>
          <a:xfrm>
            <a:off x="1078920" y="4763880"/>
            <a:ext cx="15998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Repeat customer rate</a:t>
            </a:r>
            <a:endParaRPr b="0" lang="en-US" sz="1050" strike="noStrike" u="none">
              <a:solidFill>
                <a:srgbClr val="ffffff"/>
              </a:solidFill>
              <a:effectLst/>
              <a:uFillTx/>
              <a:latin typeface="Arial"/>
            </a:endParaRPr>
          </a:p>
        </p:txBody>
      </p:sp>
      <p:sp>
        <p:nvSpPr>
          <p:cNvPr id="33" name="Shape 19"/>
          <p:cNvSpPr/>
          <p:nvPr/>
        </p:nvSpPr>
        <p:spPr>
          <a:xfrm>
            <a:off x="3017520" y="4160520"/>
            <a:ext cx="223992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4" name="Shape 20"/>
          <p:cNvSpPr/>
          <p:nvPr/>
        </p:nvSpPr>
        <p:spPr>
          <a:xfrm>
            <a:off x="3182040" y="4325040"/>
            <a:ext cx="200880" cy="200880"/>
          </a:xfrm>
          <a:prstGeom prst="ellipse">
            <a:avLst/>
          </a:prstGeom>
          <a:solidFill>
            <a:srgbClr val="f4a261"/>
          </a:solidFill>
          <a:ln w="12700">
            <a:solidFill>
              <a:srgbClr val="f4a261">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5" name="Text 21"/>
          <p:cNvSpPr/>
          <p:nvPr/>
        </p:nvSpPr>
        <p:spPr>
          <a:xfrm>
            <a:off x="3474720" y="4297680"/>
            <a:ext cx="164556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241 days</a:t>
            </a:r>
            <a:endParaRPr b="0" lang="en-US" sz="2700" strike="noStrike" u="none">
              <a:solidFill>
                <a:srgbClr val="ffffff"/>
              </a:solidFill>
              <a:effectLst/>
              <a:uFillTx/>
              <a:latin typeface="Arial"/>
            </a:endParaRPr>
          </a:p>
        </p:txBody>
      </p:sp>
      <p:sp>
        <p:nvSpPr>
          <p:cNvPr id="36" name="Text 22"/>
          <p:cNvSpPr/>
          <p:nvPr/>
        </p:nvSpPr>
        <p:spPr>
          <a:xfrm>
            <a:off x="3474720" y="4763880"/>
            <a:ext cx="15998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Longest purchase gap</a:t>
            </a:r>
            <a:endParaRPr b="0" lang="en-US" sz="1050" strike="noStrike" u="none">
              <a:solidFill>
                <a:srgbClr val="ffffff"/>
              </a:solidFill>
              <a:effectLst/>
              <a:uFillTx/>
              <a:latin typeface="Arial"/>
            </a:endParaRPr>
          </a:p>
        </p:txBody>
      </p:sp>
      <p:sp>
        <p:nvSpPr>
          <p:cNvPr id="37" name="Shape 23"/>
          <p:cNvSpPr/>
          <p:nvPr/>
        </p:nvSpPr>
        <p:spPr>
          <a:xfrm>
            <a:off x="5413320" y="4160520"/>
            <a:ext cx="223992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8" name="Shape 24"/>
          <p:cNvSpPr/>
          <p:nvPr/>
        </p:nvSpPr>
        <p:spPr>
          <a:xfrm>
            <a:off x="5577840" y="4325040"/>
            <a:ext cx="200880" cy="20088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9" name="Text 25"/>
          <p:cNvSpPr/>
          <p:nvPr/>
        </p:nvSpPr>
        <p:spPr>
          <a:xfrm>
            <a:off x="5870520" y="4297680"/>
            <a:ext cx="164556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39 units</a:t>
            </a:r>
            <a:endParaRPr b="0" lang="en-US" sz="2700" strike="noStrike" u="none">
              <a:solidFill>
                <a:srgbClr val="ffffff"/>
              </a:solidFill>
              <a:effectLst/>
              <a:uFillTx/>
              <a:latin typeface="Arial"/>
            </a:endParaRPr>
          </a:p>
        </p:txBody>
      </p:sp>
      <p:sp>
        <p:nvSpPr>
          <p:cNvPr id="40" name="Text 26"/>
          <p:cNvSpPr/>
          <p:nvPr/>
        </p:nvSpPr>
        <p:spPr>
          <a:xfrm>
            <a:off x="5870520" y="4763880"/>
            <a:ext cx="15998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Highest flagged sales</a:t>
            </a:r>
            <a:endParaRPr b="0" lang="en-US" sz="1050" strike="noStrike" u="none">
              <a:solidFill>
                <a:srgbClr val="ffffff"/>
              </a:solidFill>
              <a:effectLst/>
              <a:uFillTx/>
              <a:latin typeface="Arial"/>
            </a:endParaRPr>
          </a:p>
        </p:txBody>
      </p:sp>
      <p:sp>
        <p:nvSpPr>
          <p:cNvPr id="41" name="Text 27"/>
          <p:cNvSpPr/>
          <p:nvPr/>
        </p:nvSpPr>
        <p:spPr>
          <a:xfrm>
            <a:off x="621720" y="5742360"/>
            <a:ext cx="384012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afc0d6"/>
                </a:solidFill>
                <a:effectLst/>
                <a:uFillTx/>
                <a:latin typeface="Arial"/>
                <a:ea typeface="Arial"/>
              </a:rPr>
              <a:t>Prepared by Prasanth Sai Kalipindi</a:t>
            </a:r>
            <a:endParaRPr b="0" lang="en-US" sz="1050" strike="noStrike" u="none">
              <a:solidFill>
                <a:srgbClr val="ffffff"/>
              </a:solidFill>
              <a:effectLst/>
              <a:uFillTx/>
              <a:latin typeface="Arial"/>
            </a:endParaRPr>
          </a:p>
        </p:txBody>
      </p:sp>
      <p:sp>
        <p:nvSpPr>
          <p:cNvPr id="42" name="Text 28"/>
          <p:cNvSpPr/>
          <p:nvPr/>
        </p:nvSpPr>
        <p:spPr>
          <a:xfrm>
            <a:off x="621720" y="6035040"/>
            <a:ext cx="84121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50" strike="noStrike" u="none">
                <a:solidFill>
                  <a:srgbClr val="8fe7ef"/>
                </a:solidFill>
                <a:effectLst/>
                <a:uFillTx/>
                <a:latin typeface="Arial"/>
                <a:ea typeface="Arial"/>
              </a:rPr>
              <a:t>github.com/kalipindiprasanthsai1267-hub/sql-data-science-mastery</a:t>
            </a:r>
            <a:endParaRPr b="0" lang="en-US" sz="9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Text 0"/>
          <p:cNvSpPr/>
          <p:nvPr/>
        </p:nvSpPr>
        <p:spPr>
          <a:xfrm>
            <a:off x="548640" y="347400"/>
            <a:ext cx="2559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1" strike="noStrike" u="none">
                <a:solidFill>
                  <a:srgbClr val="008c95"/>
                </a:solidFill>
                <a:effectLst/>
                <a:uFillTx/>
                <a:latin typeface="Arial"/>
                <a:ea typeface="Arial"/>
              </a:rPr>
              <a:t>01 • PROJECT OVERVIEW</a:t>
            </a:r>
            <a:endParaRPr b="0" lang="en-US" sz="900" strike="noStrike" u="none">
              <a:solidFill>
                <a:srgbClr val="000000"/>
              </a:solidFill>
              <a:effectLst/>
              <a:uFillTx/>
              <a:latin typeface="Arial"/>
            </a:endParaRPr>
          </a:p>
        </p:txBody>
      </p:sp>
      <p:sp>
        <p:nvSpPr>
          <p:cNvPr id="44" name="Text 1"/>
          <p:cNvSpPr/>
          <p:nvPr/>
        </p:nvSpPr>
        <p:spPr>
          <a:xfrm>
            <a:off x="548640" y="640080"/>
            <a:ext cx="10606680" cy="566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14213d"/>
                </a:solidFill>
                <a:effectLst/>
                <a:uFillTx/>
                <a:latin typeface="Cambria"/>
                <a:ea typeface="Cambria"/>
              </a:rPr>
              <a:t>Project overview</a:t>
            </a:r>
            <a:endParaRPr b="0" lang="en-US" sz="2900" strike="noStrike" u="none">
              <a:solidFill>
                <a:srgbClr val="000000"/>
              </a:solidFill>
              <a:effectLst/>
              <a:uFillTx/>
              <a:latin typeface="Arial"/>
            </a:endParaRPr>
          </a:p>
        </p:txBody>
      </p:sp>
      <p:sp>
        <p:nvSpPr>
          <p:cNvPr id="45" name="Text 2"/>
          <p:cNvSpPr/>
          <p:nvPr/>
        </p:nvSpPr>
        <p:spPr>
          <a:xfrm>
            <a:off x="548640" y="1243440"/>
            <a:ext cx="106066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667085"/>
                </a:solidFill>
                <a:effectLst/>
                <a:uFillTx/>
                <a:latin typeface="Arial"/>
                <a:ea typeface="Arial"/>
              </a:rPr>
              <a:t>Retail order analytics across customers, orders, products, inventory, and stores.</a:t>
            </a:r>
            <a:endParaRPr b="0" lang="en-US" sz="1250" strike="noStrike" u="none">
              <a:solidFill>
                <a:srgbClr val="000000"/>
              </a:solidFill>
              <a:effectLst/>
              <a:uFillTx/>
              <a:latin typeface="Arial"/>
            </a:endParaRPr>
          </a:p>
        </p:txBody>
      </p:sp>
      <p:sp>
        <p:nvSpPr>
          <p:cNvPr id="46" name="Shape 3"/>
          <p:cNvSpPr/>
          <p:nvPr/>
        </p:nvSpPr>
        <p:spPr>
          <a:xfrm>
            <a:off x="594360" y="1783080"/>
            <a:ext cx="233136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47" name="Shape 4"/>
          <p:cNvSpPr/>
          <p:nvPr/>
        </p:nvSpPr>
        <p:spPr>
          <a:xfrm>
            <a:off x="758880" y="1947600"/>
            <a:ext cx="200880" cy="20088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48" name="Text 5"/>
          <p:cNvSpPr/>
          <p:nvPr/>
        </p:nvSpPr>
        <p:spPr>
          <a:xfrm>
            <a:off x="1051560" y="1920240"/>
            <a:ext cx="173700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136</a:t>
            </a:r>
            <a:endParaRPr b="0" lang="en-US" sz="2700" strike="noStrike" u="none">
              <a:solidFill>
                <a:srgbClr val="000000"/>
              </a:solidFill>
              <a:effectLst/>
              <a:uFillTx/>
              <a:latin typeface="Arial"/>
            </a:endParaRPr>
          </a:p>
        </p:txBody>
      </p:sp>
      <p:sp>
        <p:nvSpPr>
          <p:cNvPr id="49" name="Text 6"/>
          <p:cNvSpPr/>
          <p:nvPr/>
        </p:nvSpPr>
        <p:spPr>
          <a:xfrm>
            <a:off x="1051560" y="2386440"/>
            <a:ext cx="16912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customers with orders</a:t>
            </a:r>
            <a:endParaRPr b="0" lang="en-US" sz="1050" strike="noStrike" u="none">
              <a:solidFill>
                <a:srgbClr val="000000"/>
              </a:solidFill>
              <a:effectLst/>
              <a:uFillTx/>
              <a:latin typeface="Arial"/>
            </a:endParaRPr>
          </a:p>
        </p:txBody>
      </p:sp>
      <p:sp>
        <p:nvSpPr>
          <p:cNvPr id="50" name="Shape 7"/>
          <p:cNvSpPr/>
          <p:nvPr/>
        </p:nvSpPr>
        <p:spPr>
          <a:xfrm>
            <a:off x="3154680" y="1783080"/>
            <a:ext cx="233136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51" name="Shape 8"/>
          <p:cNvSpPr/>
          <p:nvPr/>
        </p:nvSpPr>
        <p:spPr>
          <a:xfrm>
            <a:off x="3319200" y="1947600"/>
            <a:ext cx="200880" cy="200880"/>
          </a:xfrm>
          <a:prstGeom prst="ellipse">
            <a:avLst/>
          </a:prstGeom>
          <a:solidFill>
            <a:srgbClr val="36c5d8"/>
          </a:solidFill>
          <a:ln w="12700">
            <a:solidFill>
              <a:srgbClr val="36c5d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52" name="Text 9"/>
          <p:cNvSpPr/>
          <p:nvPr/>
        </p:nvSpPr>
        <p:spPr>
          <a:xfrm>
            <a:off x="3611880" y="1920240"/>
            <a:ext cx="173700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43</a:t>
            </a:r>
            <a:endParaRPr b="0" lang="en-US" sz="2700" strike="noStrike" u="none">
              <a:solidFill>
                <a:srgbClr val="000000"/>
              </a:solidFill>
              <a:effectLst/>
              <a:uFillTx/>
              <a:latin typeface="Arial"/>
            </a:endParaRPr>
          </a:p>
        </p:txBody>
      </p:sp>
      <p:sp>
        <p:nvSpPr>
          <p:cNvPr id="53" name="Text 10"/>
          <p:cNvSpPr/>
          <p:nvPr/>
        </p:nvSpPr>
        <p:spPr>
          <a:xfrm>
            <a:off x="3611880" y="2386440"/>
            <a:ext cx="16912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repeat customers</a:t>
            </a:r>
            <a:endParaRPr b="0" lang="en-US" sz="1050" strike="noStrike" u="none">
              <a:solidFill>
                <a:srgbClr val="000000"/>
              </a:solidFill>
              <a:effectLst/>
              <a:uFillTx/>
              <a:latin typeface="Arial"/>
            </a:endParaRPr>
          </a:p>
        </p:txBody>
      </p:sp>
      <p:sp>
        <p:nvSpPr>
          <p:cNvPr id="54" name="Shape 11"/>
          <p:cNvSpPr/>
          <p:nvPr/>
        </p:nvSpPr>
        <p:spPr>
          <a:xfrm>
            <a:off x="5715000" y="1783080"/>
            <a:ext cx="233136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55" name="Shape 12"/>
          <p:cNvSpPr/>
          <p:nvPr/>
        </p:nvSpPr>
        <p:spPr>
          <a:xfrm>
            <a:off x="5879520" y="1947600"/>
            <a:ext cx="200880" cy="200880"/>
          </a:xfrm>
          <a:prstGeom prst="ellipse">
            <a:avLst/>
          </a:prstGeom>
          <a:solidFill>
            <a:srgbClr val="f4a261"/>
          </a:solidFill>
          <a:ln w="12700">
            <a:solidFill>
              <a:srgbClr val="f4a261">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56" name="Text 13"/>
          <p:cNvSpPr/>
          <p:nvPr/>
        </p:nvSpPr>
        <p:spPr>
          <a:xfrm>
            <a:off x="6172200" y="1920240"/>
            <a:ext cx="173700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93</a:t>
            </a:r>
            <a:endParaRPr b="0" lang="en-US" sz="2700" strike="noStrike" u="none">
              <a:solidFill>
                <a:srgbClr val="000000"/>
              </a:solidFill>
              <a:effectLst/>
              <a:uFillTx/>
              <a:latin typeface="Arial"/>
            </a:endParaRPr>
          </a:p>
        </p:txBody>
      </p:sp>
      <p:sp>
        <p:nvSpPr>
          <p:cNvPr id="57" name="Text 14"/>
          <p:cNvSpPr/>
          <p:nvPr/>
        </p:nvSpPr>
        <p:spPr>
          <a:xfrm>
            <a:off x="6172200" y="2386440"/>
            <a:ext cx="16912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one-time customers</a:t>
            </a:r>
            <a:endParaRPr b="0" lang="en-US" sz="1050" strike="noStrike" u="none">
              <a:solidFill>
                <a:srgbClr val="000000"/>
              </a:solidFill>
              <a:effectLst/>
              <a:uFillTx/>
              <a:latin typeface="Arial"/>
            </a:endParaRPr>
          </a:p>
        </p:txBody>
      </p:sp>
      <p:sp>
        <p:nvSpPr>
          <p:cNvPr id="58" name="Shape 15"/>
          <p:cNvSpPr/>
          <p:nvPr/>
        </p:nvSpPr>
        <p:spPr>
          <a:xfrm>
            <a:off x="8275320" y="1783080"/>
            <a:ext cx="233136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59" name="Shape 16"/>
          <p:cNvSpPr/>
          <p:nvPr/>
        </p:nvSpPr>
        <p:spPr>
          <a:xfrm>
            <a:off x="8439840" y="1947600"/>
            <a:ext cx="200880" cy="200880"/>
          </a:xfrm>
          <a:prstGeom prst="ellipse">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60" name="Text 17"/>
          <p:cNvSpPr/>
          <p:nvPr/>
        </p:nvSpPr>
        <p:spPr>
          <a:xfrm>
            <a:off x="8732520" y="1920240"/>
            <a:ext cx="173700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31.62%</a:t>
            </a:r>
            <a:endParaRPr b="0" lang="en-US" sz="2700" strike="noStrike" u="none">
              <a:solidFill>
                <a:srgbClr val="000000"/>
              </a:solidFill>
              <a:effectLst/>
              <a:uFillTx/>
              <a:latin typeface="Arial"/>
            </a:endParaRPr>
          </a:p>
        </p:txBody>
      </p:sp>
      <p:sp>
        <p:nvSpPr>
          <p:cNvPr id="61" name="Text 18"/>
          <p:cNvSpPr/>
          <p:nvPr/>
        </p:nvSpPr>
        <p:spPr>
          <a:xfrm>
            <a:off x="8732520" y="2386440"/>
            <a:ext cx="16912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repeat rate</a:t>
            </a:r>
            <a:endParaRPr b="0" lang="en-US" sz="1050" strike="noStrike" u="none">
              <a:solidFill>
                <a:srgbClr val="000000"/>
              </a:solidFill>
              <a:effectLst/>
              <a:uFillTx/>
              <a:latin typeface="Arial"/>
            </a:endParaRPr>
          </a:p>
        </p:txBody>
      </p:sp>
      <p:sp>
        <p:nvSpPr>
          <p:cNvPr id="62" name="Shape 19"/>
          <p:cNvSpPr/>
          <p:nvPr/>
        </p:nvSpPr>
        <p:spPr>
          <a:xfrm>
            <a:off x="594360" y="3154680"/>
            <a:ext cx="3428640" cy="1234080"/>
          </a:xfrm>
          <a:prstGeom prst="roundRect">
            <a:avLst>
              <a:gd name="adj" fmla="val 11852"/>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63" name="Shape 20"/>
          <p:cNvSpPr/>
          <p:nvPr/>
        </p:nvSpPr>
        <p:spPr>
          <a:xfrm>
            <a:off x="777240" y="3337560"/>
            <a:ext cx="347040" cy="34704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64" name="Text 21"/>
          <p:cNvSpPr/>
          <p:nvPr/>
        </p:nvSpPr>
        <p:spPr>
          <a:xfrm>
            <a:off x="777240" y="335592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1</a:t>
            </a:r>
            <a:endParaRPr b="0" lang="en-US" sz="1000" strike="noStrike" u="none">
              <a:solidFill>
                <a:srgbClr val="000000"/>
              </a:solidFill>
              <a:effectLst/>
              <a:uFillTx/>
              <a:latin typeface="Arial"/>
            </a:endParaRPr>
          </a:p>
        </p:txBody>
      </p:sp>
      <p:sp>
        <p:nvSpPr>
          <p:cNvPr id="65" name="Text 22"/>
          <p:cNvSpPr/>
          <p:nvPr/>
        </p:nvSpPr>
        <p:spPr>
          <a:xfrm>
            <a:off x="1234440" y="3310200"/>
            <a:ext cx="2605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Customer retention</a:t>
            </a:r>
            <a:endParaRPr b="0" lang="en-US" sz="1600" strike="noStrike" u="none">
              <a:solidFill>
                <a:srgbClr val="000000"/>
              </a:solidFill>
              <a:effectLst/>
              <a:uFillTx/>
              <a:latin typeface="Arial"/>
            </a:endParaRPr>
          </a:p>
        </p:txBody>
      </p:sp>
      <p:sp>
        <p:nvSpPr>
          <p:cNvPr id="66" name="Text 23"/>
          <p:cNvSpPr/>
          <p:nvPr/>
        </p:nvSpPr>
        <p:spPr>
          <a:xfrm>
            <a:off x="1234440" y="3657600"/>
            <a:ext cx="2605680" cy="6213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43 repeat customers vs. 93 one-time customers in the ordered-customer base.</a:t>
            </a:r>
            <a:endParaRPr b="0" lang="en-US" sz="1150" strike="noStrike" u="none">
              <a:solidFill>
                <a:srgbClr val="000000"/>
              </a:solidFill>
              <a:effectLst/>
              <a:uFillTx/>
              <a:latin typeface="Arial"/>
            </a:endParaRPr>
          </a:p>
        </p:txBody>
      </p:sp>
      <p:sp>
        <p:nvSpPr>
          <p:cNvPr id="67" name="Shape 24"/>
          <p:cNvSpPr/>
          <p:nvPr/>
        </p:nvSpPr>
        <p:spPr>
          <a:xfrm>
            <a:off x="4251960" y="3154680"/>
            <a:ext cx="3428640" cy="1234080"/>
          </a:xfrm>
          <a:prstGeom prst="roundRect">
            <a:avLst>
              <a:gd name="adj" fmla="val 11852"/>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68" name="Shape 25"/>
          <p:cNvSpPr/>
          <p:nvPr/>
        </p:nvSpPr>
        <p:spPr>
          <a:xfrm>
            <a:off x="4434840" y="3337560"/>
            <a:ext cx="347040" cy="347040"/>
          </a:xfrm>
          <a:prstGeom prst="ellipse">
            <a:avLst/>
          </a:prstGeom>
          <a:solidFill>
            <a:srgbClr val="f4a261"/>
          </a:solidFill>
          <a:ln w="12700">
            <a:solidFill>
              <a:srgbClr val="f4a261">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69" name="Text 26"/>
          <p:cNvSpPr/>
          <p:nvPr/>
        </p:nvSpPr>
        <p:spPr>
          <a:xfrm>
            <a:off x="4434840" y="335592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2</a:t>
            </a:r>
            <a:endParaRPr b="0" lang="en-US" sz="1000" strike="noStrike" u="none">
              <a:solidFill>
                <a:srgbClr val="000000"/>
              </a:solidFill>
              <a:effectLst/>
              <a:uFillTx/>
              <a:latin typeface="Arial"/>
            </a:endParaRPr>
          </a:p>
        </p:txBody>
      </p:sp>
      <p:sp>
        <p:nvSpPr>
          <p:cNvPr id="70" name="Text 27"/>
          <p:cNvSpPr/>
          <p:nvPr/>
        </p:nvSpPr>
        <p:spPr>
          <a:xfrm>
            <a:off x="4892040" y="3310200"/>
            <a:ext cx="2605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Purchase cadence</a:t>
            </a:r>
            <a:endParaRPr b="0" lang="en-US" sz="1600" strike="noStrike" u="none">
              <a:solidFill>
                <a:srgbClr val="000000"/>
              </a:solidFill>
              <a:effectLst/>
              <a:uFillTx/>
              <a:latin typeface="Arial"/>
            </a:endParaRPr>
          </a:p>
        </p:txBody>
      </p:sp>
      <p:sp>
        <p:nvSpPr>
          <p:cNvPr id="71" name="Text 28"/>
          <p:cNvSpPr/>
          <p:nvPr/>
        </p:nvSpPr>
        <p:spPr>
          <a:xfrm>
            <a:off x="4892040" y="3657600"/>
            <a:ext cx="2605680" cy="6213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The longest observed purchase gap is 241 days.</a:t>
            </a:r>
            <a:endParaRPr b="0" lang="en-US" sz="1150" strike="noStrike" u="none">
              <a:solidFill>
                <a:srgbClr val="000000"/>
              </a:solidFill>
              <a:effectLst/>
              <a:uFillTx/>
              <a:latin typeface="Arial"/>
            </a:endParaRPr>
          </a:p>
        </p:txBody>
      </p:sp>
      <p:sp>
        <p:nvSpPr>
          <p:cNvPr id="72" name="Shape 29"/>
          <p:cNvSpPr/>
          <p:nvPr/>
        </p:nvSpPr>
        <p:spPr>
          <a:xfrm>
            <a:off x="7909560" y="3154680"/>
            <a:ext cx="3428640" cy="1234080"/>
          </a:xfrm>
          <a:prstGeom prst="roundRect">
            <a:avLst>
              <a:gd name="adj" fmla="val 11852"/>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73" name="Shape 30"/>
          <p:cNvSpPr/>
          <p:nvPr/>
        </p:nvSpPr>
        <p:spPr>
          <a:xfrm>
            <a:off x="8092440" y="3337560"/>
            <a:ext cx="347040" cy="347040"/>
          </a:xfrm>
          <a:prstGeom prst="ellipse">
            <a:avLst/>
          </a:prstGeom>
          <a:solidFill>
            <a:srgbClr val="36c5d8"/>
          </a:solidFill>
          <a:ln w="12700">
            <a:solidFill>
              <a:srgbClr val="36c5d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74" name="Text 31"/>
          <p:cNvSpPr/>
          <p:nvPr/>
        </p:nvSpPr>
        <p:spPr>
          <a:xfrm>
            <a:off x="8092440" y="335592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3</a:t>
            </a:r>
            <a:endParaRPr b="0" lang="en-US" sz="1000" strike="noStrike" u="none">
              <a:solidFill>
                <a:srgbClr val="000000"/>
              </a:solidFill>
              <a:effectLst/>
              <a:uFillTx/>
              <a:latin typeface="Arial"/>
            </a:endParaRPr>
          </a:p>
        </p:txBody>
      </p:sp>
      <p:sp>
        <p:nvSpPr>
          <p:cNvPr id="75" name="Text 32"/>
          <p:cNvSpPr/>
          <p:nvPr/>
        </p:nvSpPr>
        <p:spPr>
          <a:xfrm>
            <a:off x="8549640" y="3310200"/>
            <a:ext cx="2605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Inventory pressure</a:t>
            </a:r>
            <a:endParaRPr b="0" lang="en-US" sz="1600" strike="noStrike" u="none">
              <a:solidFill>
                <a:srgbClr val="000000"/>
              </a:solidFill>
              <a:effectLst/>
              <a:uFillTx/>
              <a:latin typeface="Arial"/>
            </a:endParaRPr>
          </a:p>
        </p:txBody>
      </p:sp>
      <p:sp>
        <p:nvSpPr>
          <p:cNvPr id="76" name="Text 33"/>
          <p:cNvSpPr/>
          <p:nvPr/>
        </p:nvSpPr>
        <p:spPr>
          <a:xfrm>
            <a:off x="8549640" y="3657600"/>
            <a:ext cx="2605680" cy="6213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12 products exceed average sales while remaining below average inventory.</a:t>
            </a:r>
            <a:endParaRPr b="0" lang="en-US" sz="1150" strike="noStrike" u="none">
              <a:solidFill>
                <a:srgbClr val="000000"/>
              </a:solidFill>
              <a:effectLst/>
              <a:uFillTx/>
              <a:latin typeface="Arial"/>
            </a:endParaRPr>
          </a:p>
        </p:txBody>
      </p:sp>
      <p:sp>
        <p:nvSpPr>
          <p:cNvPr id="77" name="Text 34"/>
          <p:cNvSpPr/>
          <p:nvPr/>
        </p:nvSpPr>
        <p:spPr>
          <a:xfrm>
            <a:off x="594360" y="4864680"/>
            <a:ext cx="18284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008c95"/>
                </a:solidFill>
                <a:effectLst/>
                <a:uFillTx/>
                <a:latin typeface="Arial"/>
                <a:ea typeface="Arial"/>
              </a:rPr>
              <a:t>Project focus</a:t>
            </a:r>
            <a:endParaRPr b="0" lang="en-US" sz="1000" strike="noStrike" u="none">
              <a:solidFill>
                <a:srgbClr val="000000"/>
              </a:solidFill>
              <a:effectLst/>
              <a:uFillTx/>
              <a:latin typeface="Arial"/>
            </a:endParaRPr>
          </a:p>
        </p:txBody>
      </p:sp>
      <p:sp>
        <p:nvSpPr>
          <p:cNvPr id="78" name="Text 35"/>
          <p:cNvSpPr/>
          <p:nvPr/>
        </p:nvSpPr>
        <p:spPr>
          <a:xfrm>
            <a:off x="594360" y="5175360"/>
            <a:ext cx="6583320" cy="456840"/>
          </a:xfrm>
          <a:prstGeom prst="rect">
            <a:avLst/>
          </a:prstGeom>
          <a:noFill/>
          <a:ln w="0">
            <a:noFill/>
          </a:ln>
        </p:spPr>
        <p:style>
          <a:lnRef idx="0"/>
          <a:fillRef idx="0"/>
          <a:effectRef idx="0"/>
          <a:fontRef idx="minor"/>
        </p:style>
        <p:txBody>
          <a:bodyPr lIns="0" rIns="0" tIns="0" bIns="0" anchor="ctr">
            <a:normAutofit fontScale="77500" lnSpcReduction="19999"/>
          </a:bodyPr>
          <a:p>
            <a:pPr defTabSz="914400">
              <a:lnSpc>
                <a:spcPct val="100000"/>
              </a:lnSpc>
              <a:tabLst>
                <a:tab algn="l" pos="0"/>
              </a:tabLst>
            </a:pPr>
            <a:r>
              <a:rPr b="1" lang="en-US" sz="2400" strike="noStrike" u="none">
                <a:solidFill>
                  <a:srgbClr val="14213d"/>
                </a:solidFill>
                <a:effectLst/>
                <a:uFillTx/>
                <a:latin typeface="Cambria"/>
                <a:ea typeface="Cambria"/>
              </a:rPr>
              <a:t>Customer retention • purchase cadence • inventory pressure</a:t>
            </a:r>
            <a:endParaRPr b="0" lang="en-US" sz="2400" strike="noStrike" u="none">
              <a:solidFill>
                <a:srgbClr val="000000"/>
              </a:solidFill>
              <a:effectLst/>
              <a:uFillTx/>
              <a:latin typeface="Arial"/>
            </a:endParaRPr>
          </a:p>
        </p:txBody>
      </p:sp>
      <p:sp>
        <p:nvSpPr>
          <p:cNvPr id="79" name="PlaceHolder 1"/>
          <p:cNvSpPr>
            <a:spLocks noGrp="1"/>
          </p:cNvSpPr>
          <p:nvPr>
            <p:ph type="sldNum" idx="5"/>
          </p:nvPr>
        </p:nvSpPr>
        <p:spPr>
          <a:xfrm>
            <a:off x="11685960" y="6464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trike="noStrike" u="none">
                <a:solidFill>
                  <a:srgbClr val="7a8595"/>
                </a:solidFill>
                <a:effectLst/>
                <a:uFillTx/>
                <a:latin typeface="Arial"/>
                <a:ea typeface="Arial"/>
              </a:defRPr>
            </a:lvl1pPr>
          </a:lstStyle>
          <a:p>
            <a:pPr indent="0" defTabSz="914400">
              <a:lnSpc>
                <a:spcPct val="100000"/>
              </a:lnSpc>
              <a:buNone/>
            </a:pPr>
            <a:fld id="{21755703-5F57-4FD9-9889-7CD47FB4D225}" type="slidenum">
              <a:rPr b="0" lang="en-US" sz="800" strike="noStrike" u="none">
                <a:solidFill>
                  <a:srgbClr val="7a8595"/>
                </a:solidFill>
                <a:effectLst/>
                <a:uFillTx/>
                <a:latin typeface="Arial"/>
                <a:ea typeface="Arial"/>
              </a:rPr>
              <a:t>2</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Text 0"/>
          <p:cNvSpPr/>
          <p:nvPr/>
        </p:nvSpPr>
        <p:spPr>
          <a:xfrm>
            <a:off x="548640" y="347400"/>
            <a:ext cx="2559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1" strike="noStrike" u="none">
                <a:solidFill>
                  <a:srgbClr val="008c95"/>
                </a:solidFill>
                <a:effectLst/>
                <a:uFillTx/>
                <a:latin typeface="Arial"/>
                <a:ea typeface="Arial"/>
              </a:rPr>
              <a:t>02 • DATA MODEL</a:t>
            </a:r>
            <a:endParaRPr b="0" lang="en-US" sz="900" strike="noStrike" u="none">
              <a:solidFill>
                <a:srgbClr val="000000"/>
              </a:solidFill>
              <a:effectLst/>
              <a:uFillTx/>
              <a:latin typeface="Arial"/>
            </a:endParaRPr>
          </a:p>
        </p:txBody>
      </p:sp>
      <p:sp>
        <p:nvSpPr>
          <p:cNvPr id="81" name="Text 1"/>
          <p:cNvSpPr/>
          <p:nvPr/>
        </p:nvSpPr>
        <p:spPr>
          <a:xfrm>
            <a:off x="548640" y="640080"/>
            <a:ext cx="10606680" cy="566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14213d"/>
                </a:solidFill>
                <a:effectLst/>
                <a:uFillTx/>
                <a:latin typeface="Cambria"/>
                <a:ea typeface="Cambria"/>
              </a:rPr>
              <a:t>Relational data model</a:t>
            </a:r>
            <a:endParaRPr b="0" lang="en-US" sz="2900" strike="noStrike" u="none">
              <a:solidFill>
                <a:srgbClr val="000000"/>
              </a:solidFill>
              <a:effectLst/>
              <a:uFillTx/>
              <a:latin typeface="Arial"/>
            </a:endParaRPr>
          </a:p>
        </p:txBody>
      </p:sp>
      <p:sp>
        <p:nvSpPr>
          <p:cNvPr id="82" name="Text 2"/>
          <p:cNvSpPr/>
          <p:nvPr/>
        </p:nvSpPr>
        <p:spPr>
          <a:xfrm>
            <a:off x="548640" y="1243440"/>
            <a:ext cx="106066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667085"/>
                </a:solidFill>
                <a:effectLst/>
                <a:uFillTx/>
                <a:latin typeface="Arial"/>
                <a:ea typeface="Arial"/>
              </a:rPr>
              <a:t>Orders connect customers, stores, products, inventory, and line-level order items.</a:t>
            </a:r>
            <a:endParaRPr b="0" lang="en-US" sz="1250" strike="noStrike" u="none">
              <a:solidFill>
                <a:srgbClr val="000000"/>
              </a:solidFill>
              <a:effectLst/>
              <a:uFillTx/>
              <a:latin typeface="Arial"/>
            </a:endParaRPr>
          </a:p>
        </p:txBody>
      </p:sp>
      <p:pic>
        <p:nvPicPr>
          <p:cNvPr id="83" name="Image 0" descr="/mnt/data/sql_deck_assets/er.png"/>
          <p:cNvPicPr/>
          <p:nvPr/>
        </p:nvPicPr>
        <p:blipFill>
          <a:blip r:embed="rId1"/>
          <a:stretch/>
        </p:blipFill>
        <p:spPr>
          <a:xfrm>
            <a:off x="658440" y="1645920"/>
            <a:ext cx="6949080" cy="4525920"/>
          </a:xfrm>
          <a:prstGeom prst="rect">
            <a:avLst/>
          </a:prstGeom>
          <a:noFill/>
          <a:ln w="0">
            <a:noFill/>
          </a:ln>
        </p:spPr>
      </p:pic>
      <p:sp>
        <p:nvSpPr>
          <p:cNvPr id="84" name="Shape 3"/>
          <p:cNvSpPr/>
          <p:nvPr/>
        </p:nvSpPr>
        <p:spPr>
          <a:xfrm>
            <a:off x="7909560" y="1645920"/>
            <a:ext cx="3520080" cy="1005480"/>
          </a:xfrm>
          <a:prstGeom prst="roundRect">
            <a:avLst>
              <a:gd name="adj" fmla="val 13636"/>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85" name="Text 4"/>
          <p:cNvSpPr/>
          <p:nvPr/>
        </p:nvSpPr>
        <p:spPr>
          <a:xfrm>
            <a:off x="8156520" y="1828800"/>
            <a:ext cx="297144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008c95"/>
                </a:solidFill>
                <a:effectLst/>
                <a:uFillTx/>
                <a:latin typeface="Arial"/>
                <a:ea typeface="Arial"/>
              </a:rPr>
              <a:t>CORE ENTITIES</a:t>
            </a:r>
            <a:endParaRPr b="0" lang="en-US" sz="1000" strike="noStrike" u="none">
              <a:solidFill>
                <a:srgbClr val="000000"/>
              </a:solidFill>
              <a:effectLst/>
              <a:uFillTx/>
              <a:latin typeface="Arial"/>
            </a:endParaRPr>
          </a:p>
        </p:txBody>
      </p:sp>
      <p:sp>
        <p:nvSpPr>
          <p:cNvPr id="86" name="Text 5"/>
          <p:cNvSpPr/>
          <p:nvPr/>
        </p:nvSpPr>
        <p:spPr>
          <a:xfrm>
            <a:off x="8156520" y="2084760"/>
            <a:ext cx="2925720" cy="3837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300" strike="noStrike" u="none">
                <a:solidFill>
                  <a:srgbClr val="14213d"/>
                </a:solidFill>
                <a:effectLst/>
                <a:uFillTx/>
                <a:latin typeface="Arial"/>
                <a:ea typeface="Arial"/>
              </a:rPr>
              <a:t>Customers • Orders • Order Items</a:t>
            </a:r>
            <a:endParaRPr b="0" lang="en-US" sz="1300" strike="noStrike" u="none">
              <a:solidFill>
                <a:srgbClr val="000000"/>
              </a:solidFill>
              <a:effectLst/>
              <a:uFillTx/>
              <a:latin typeface="Arial"/>
            </a:endParaRPr>
          </a:p>
          <a:p>
            <a:pPr defTabSz="914400">
              <a:lnSpc>
                <a:spcPct val="100000"/>
              </a:lnSpc>
              <a:tabLst>
                <a:tab algn="l" pos="0"/>
              </a:tabLst>
            </a:pPr>
            <a:r>
              <a:rPr b="1" lang="en-US" sz="1300" strike="noStrike" u="none">
                <a:solidFill>
                  <a:srgbClr val="14213d"/>
                </a:solidFill>
                <a:effectLst/>
                <a:uFillTx/>
                <a:latin typeface="Arial"/>
                <a:ea typeface="Arial"/>
              </a:rPr>
              <a:t>Products • Inventory • Stores</a:t>
            </a:r>
            <a:endParaRPr b="0" lang="en-US" sz="1300" strike="noStrike" u="none">
              <a:solidFill>
                <a:srgbClr val="000000"/>
              </a:solidFill>
              <a:effectLst/>
              <a:uFillTx/>
              <a:latin typeface="Arial"/>
            </a:endParaRPr>
          </a:p>
        </p:txBody>
      </p:sp>
      <p:sp>
        <p:nvSpPr>
          <p:cNvPr id="87" name="Shape 6"/>
          <p:cNvSpPr/>
          <p:nvPr/>
        </p:nvSpPr>
        <p:spPr>
          <a:xfrm>
            <a:off x="7909560" y="2853000"/>
            <a:ext cx="3520080" cy="1005480"/>
          </a:xfrm>
          <a:prstGeom prst="roundRect">
            <a:avLst>
              <a:gd name="adj" fmla="val 13636"/>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88" name="Text 7"/>
          <p:cNvSpPr/>
          <p:nvPr/>
        </p:nvSpPr>
        <p:spPr>
          <a:xfrm>
            <a:off x="8156520" y="3035880"/>
            <a:ext cx="292572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f4a261"/>
                </a:solidFill>
                <a:effectLst/>
                <a:uFillTx/>
                <a:latin typeface="Arial"/>
                <a:ea typeface="Arial"/>
              </a:rPr>
              <a:t>ANALYTICAL GRAIN</a:t>
            </a:r>
            <a:endParaRPr b="0" lang="en-US" sz="1000" strike="noStrike" u="none">
              <a:solidFill>
                <a:srgbClr val="000000"/>
              </a:solidFill>
              <a:effectLst/>
              <a:uFillTx/>
              <a:latin typeface="Arial"/>
            </a:endParaRPr>
          </a:p>
        </p:txBody>
      </p:sp>
      <p:sp>
        <p:nvSpPr>
          <p:cNvPr id="89" name="Text 8"/>
          <p:cNvSpPr/>
          <p:nvPr/>
        </p:nvSpPr>
        <p:spPr>
          <a:xfrm>
            <a:off x="8156520" y="3291840"/>
            <a:ext cx="2925720" cy="3837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300" strike="noStrike" u="none">
                <a:solidFill>
                  <a:srgbClr val="14213d"/>
                </a:solidFill>
                <a:effectLst/>
                <a:uFillTx/>
                <a:latin typeface="Arial"/>
                <a:ea typeface="Arial"/>
              </a:rPr>
              <a:t>Order-level → line-item → product</a:t>
            </a:r>
            <a:endParaRPr b="0" lang="en-US" sz="1300" strike="noStrike" u="none">
              <a:solidFill>
                <a:srgbClr val="000000"/>
              </a:solidFill>
              <a:effectLst/>
              <a:uFillTx/>
              <a:latin typeface="Arial"/>
            </a:endParaRPr>
          </a:p>
          <a:p>
            <a:pPr defTabSz="914400">
              <a:lnSpc>
                <a:spcPct val="100000"/>
              </a:lnSpc>
              <a:tabLst>
                <a:tab algn="l" pos="0"/>
              </a:tabLst>
            </a:pPr>
            <a:r>
              <a:rPr b="1" lang="en-US" sz="1300" strike="noStrike" u="none">
                <a:solidFill>
                  <a:srgbClr val="14213d"/>
                </a:solidFill>
                <a:effectLst/>
                <a:uFillTx/>
                <a:latin typeface="Arial"/>
                <a:ea typeface="Arial"/>
              </a:rPr>
              <a:t>Customer-level → time-gap metrics</a:t>
            </a:r>
            <a:endParaRPr b="0" lang="en-US" sz="1300" strike="noStrike" u="none">
              <a:solidFill>
                <a:srgbClr val="000000"/>
              </a:solidFill>
              <a:effectLst/>
              <a:uFillTx/>
              <a:latin typeface="Arial"/>
            </a:endParaRPr>
          </a:p>
        </p:txBody>
      </p:sp>
      <p:sp>
        <p:nvSpPr>
          <p:cNvPr id="90" name="Shape 9"/>
          <p:cNvSpPr/>
          <p:nvPr/>
        </p:nvSpPr>
        <p:spPr>
          <a:xfrm>
            <a:off x="7909560" y="4069080"/>
            <a:ext cx="3520080" cy="1325520"/>
          </a:xfrm>
          <a:prstGeom prst="roundRect">
            <a:avLst>
              <a:gd name="adj" fmla="val 10345"/>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91" name="Text 10"/>
          <p:cNvSpPr/>
          <p:nvPr/>
        </p:nvSpPr>
        <p:spPr>
          <a:xfrm>
            <a:off x="8156520" y="4270320"/>
            <a:ext cx="297144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008c95"/>
                </a:solidFill>
                <a:effectLst/>
                <a:uFillTx/>
                <a:latin typeface="Arial"/>
                <a:ea typeface="Arial"/>
              </a:rPr>
              <a:t>ANALYTICAL VALUE</a:t>
            </a:r>
            <a:endParaRPr b="0" lang="en-US" sz="1000" strike="noStrike" u="none">
              <a:solidFill>
                <a:srgbClr val="000000"/>
              </a:solidFill>
              <a:effectLst/>
              <a:uFillTx/>
              <a:latin typeface="Arial"/>
            </a:endParaRPr>
          </a:p>
        </p:txBody>
      </p:sp>
      <p:sp>
        <p:nvSpPr>
          <p:cNvPr id="92" name="Text 11"/>
          <p:cNvSpPr/>
          <p:nvPr/>
        </p:nvSpPr>
        <p:spPr>
          <a:xfrm>
            <a:off x="8156520" y="4526280"/>
            <a:ext cx="2907360" cy="6030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Separating orders from order_items supports accurate product-level sales analysis.</a:t>
            </a:r>
            <a:endParaRPr b="0" lang="en-US" sz="1150" strike="noStrike" u="none">
              <a:solidFill>
                <a:srgbClr val="000000"/>
              </a:solidFill>
              <a:effectLst/>
              <a:uFillTx/>
              <a:latin typeface="Arial"/>
            </a:endParaRPr>
          </a:p>
        </p:txBody>
      </p:sp>
      <p:sp>
        <p:nvSpPr>
          <p:cNvPr id="93" name="Text 12"/>
          <p:cNvSpPr/>
          <p:nvPr/>
        </p:nvSpPr>
        <p:spPr>
          <a:xfrm>
            <a:off x="7909560" y="5715000"/>
            <a:ext cx="35200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950" strike="noStrike" u="none">
                <a:solidFill>
                  <a:srgbClr val="667085"/>
                </a:solidFill>
                <a:effectLst/>
                <a:uFillTx/>
                <a:latin typeface="Arial"/>
                <a:ea typeface="Arial"/>
              </a:rPr>
              <a:t>Entity relationships used for analysis</a:t>
            </a:r>
            <a:endParaRPr b="0" lang="en-US" sz="950" strike="noStrike" u="none">
              <a:solidFill>
                <a:srgbClr val="000000"/>
              </a:solidFill>
              <a:effectLst/>
              <a:uFillTx/>
              <a:latin typeface="Arial"/>
            </a:endParaRPr>
          </a:p>
        </p:txBody>
      </p:sp>
      <p:sp>
        <p:nvSpPr>
          <p:cNvPr id="94" name="PlaceHolder 1"/>
          <p:cNvSpPr>
            <a:spLocks noGrp="1"/>
          </p:cNvSpPr>
          <p:nvPr>
            <p:ph type="sldNum" idx="6"/>
          </p:nvPr>
        </p:nvSpPr>
        <p:spPr>
          <a:xfrm>
            <a:off x="11685960" y="6464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trike="noStrike" u="none">
                <a:solidFill>
                  <a:srgbClr val="7a8595"/>
                </a:solidFill>
                <a:effectLst/>
                <a:uFillTx/>
                <a:latin typeface="Arial"/>
                <a:ea typeface="Arial"/>
              </a:defRPr>
            </a:lvl1pPr>
          </a:lstStyle>
          <a:p>
            <a:pPr indent="0" defTabSz="914400">
              <a:lnSpc>
                <a:spcPct val="100000"/>
              </a:lnSpc>
              <a:buNone/>
            </a:pPr>
            <a:fld id="{D516FE1D-285F-4937-9AE9-D947043656EB}" type="slidenum">
              <a:rPr b="0" lang="en-US" sz="800" strike="noStrike" u="none">
                <a:solidFill>
                  <a:srgbClr val="7a8595"/>
                </a:solidFill>
                <a:effectLst/>
                <a:uFillTx/>
                <a:latin typeface="Arial"/>
                <a:ea typeface="Arial"/>
              </a:rPr>
              <a:t>3</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Text 0"/>
          <p:cNvSpPr/>
          <p:nvPr/>
        </p:nvSpPr>
        <p:spPr>
          <a:xfrm>
            <a:off x="548640" y="347400"/>
            <a:ext cx="2559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1" strike="noStrike" u="none">
                <a:solidFill>
                  <a:srgbClr val="008c95"/>
                </a:solidFill>
                <a:effectLst/>
                <a:uFillTx/>
                <a:latin typeface="Arial"/>
                <a:ea typeface="Arial"/>
              </a:rPr>
              <a:t>03 • SQL TECHNIQUES</a:t>
            </a:r>
            <a:endParaRPr b="0" lang="en-US" sz="900" strike="noStrike" u="none">
              <a:solidFill>
                <a:srgbClr val="000000"/>
              </a:solidFill>
              <a:effectLst/>
              <a:uFillTx/>
              <a:latin typeface="Arial"/>
            </a:endParaRPr>
          </a:p>
        </p:txBody>
      </p:sp>
      <p:sp>
        <p:nvSpPr>
          <p:cNvPr id="96" name="Text 1"/>
          <p:cNvSpPr/>
          <p:nvPr/>
        </p:nvSpPr>
        <p:spPr>
          <a:xfrm>
            <a:off x="548640" y="640080"/>
            <a:ext cx="10606680" cy="566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14213d"/>
                </a:solidFill>
                <a:effectLst/>
                <a:uFillTx/>
                <a:latin typeface="Cambria"/>
                <a:ea typeface="Cambria"/>
              </a:rPr>
              <a:t>SQL techniques used</a:t>
            </a:r>
            <a:endParaRPr b="0" lang="en-US" sz="2900" strike="noStrike" u="none">
              <a:solidFill>
                <a:srgbClr val="000000"/>
              </a:solidFill>
              <a:effectLst/>
              <a:uFillTx/>
              <a:latin typeface="Arial"/>
            </a:endParaRPr>
          </a:p>
        </p:txBody>
      </p:sp>
      <p:sp>
        <p:nvSpPr>
          <p:cNvPr id="97" name="Text 2"/>
          <p:cNvSpPr/>
          <p:nvPr/>
        </p:nvSpPr>
        <p:spPr>
          <a:xfrm>
            <a:off x="548640" y="1243440"/>
            <a:ext cx="106066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667085"/>
                </a:solidFill>
                <a:effectLst/>
                <a:uFillTx/>
                <a:latin typeface="Arial"/>
                <a:ea typeface="Arial"/>
              </a:rPr>
              <a:t>Window functions, CTEs, conditional logic, date functions, aggregation, and joins.</a:t>
            </a:r>
            <a:endParaRPr b="0" lang="en-US" sz="1250" strike="noStrike" u="none">
              <a:solidFill>
                <a:srgbClr val="000000"/>
              </a:solidFill>
              <a:effectLst/>
              <a:uFillTx/>
              <a:latin typeface="Arial"/>
            </a:endParaRPr>
          </a:p>
        </p:txBody>
      </p:sp>
      <p:sp>
        <p:nvSpPr>
          <p:cNvPr id="98" name="Shape 3"/>
          <p:cNvSpPr/>
          <p:nvPr/>
        </p:nvSpPr>
        <p:spPr>
          <a:xfrm>
            <a:off x="594360" y="1783080"/>
            <a:ext cx="5257440" cy="1078560"/>
          </a:xfrm>
          <a:prstGeom prst="roundRect">
            <a:avLst>
              <a:gd name="adj" fmla="val 13559"/>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99" name="Shape 4"/>
          <p:cNvSpPr/>
          <p:nvPr/>
        </p:nvSpPr>
        <p:spPr>
          <a:xfrm>
            <a:off x="777240" y="1965960"/>
            <a:ext cx="347040" cy="34704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00" name="Text 5"/>
          <p:cNvSpPr/>
          <p:nvPr/>
        </p:nvSpPr>
        <p:spPr>
          <a:xfrm>
            <a:off x="777240" y="198432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1</a:t>
            </a:r>
            <a:endParaRPr b="0" lang="en-US" sz="1000" strike="noStrike" u="none">
              <a:solidFill>
                <a:srgbClr val="000000"/>
              </a:solidFill>
              <a:effectLst/>
              <a:uFillTx/>
              <a:latin typeface="Arial"/>
            </a:endParaRPr>
          </a:p>
        </p:txBody>
      </p:sp>
      <p:sp>
        <p:nvSpPr>
          <p:cNvPr id="101" name="Text 6"/>
          <p:cNvSpPr/>
          <p:nvPr/>
        </p:nvSpPr>
        <p:spPr>
          <a:xfrm>
            <a:off x="1234440" y="1938600"/>
            <a:ext cx="44344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Window functions</a:t>
            </a:r>
            <a:endParaRPr b="0" lang="en-US" sz="1600" strike="noStrike" u="none">
              <a:solidFill>
                <a:srgbClr val="000000"/>
              </a:solidFill>
              <a:effectLst/>
              <a:uFillTx/>
              <a:latin typeface="Arial"/>
            </a:endParaRPr>
          </a:p>
        </p:txBody>
      </p:sp>
      <p:sp>
        <p:nvSpPr>
          <p:cNvPr id="102" name="Text 7"/>
          <p:cNvSpPr/>
          <p:nvPr/>
        </p:nvSpPr>
        <p:spPr>
          <a:xfrm>
            <a:off x="1234440" y="2286000"/>
            <a:ext cx="44344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LAG() compares each order to the previous order within a customer.</a:t>
            </a:r>
            <a:endParaRPr b="0" lang="en-US" sz="1150" strike="noStrike" u="none">
              <a:solidFill>
                <a:srgbClr val="000000"/>
              </a:solidFill>
              <a:effectLst/>
              <a:uFillTx/>
              <a:latin typeface="Arial"/>
            </a:endParaRPr>
          </a:p>
        </p:txBody>
      </p:sp>
      <p:sp>
        <p:nvSpPr>
          <p:cNvPr id="103" name="Shape 8"/>
          <p:cNvSpPr/>
          <p:nvPr/>
        </p:nvSpPr>
        <p:spPr>
          <a:xfrm>
            <a:off x="6172200" y="1783080"/>
            <a:ext cx="5257440" cy="1078560"/>
          </a:xfrm>
          <a:prstGeom prst="roundRect">
            <a:avLst>
              <a:gd name="adj" fmla="val 13559"/>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04" name="Shape 9"/>
          <p:cNvSpPr/>
          <p:nvPr/>
        </p:nvSpPr>
        <p:spPr>
          <a:xfrm>
            <a:off x="6355080" y="1965960"/>
            <a:ext cx="347040" cy="347040"/>
          </a:xfrm>
          <a:prstGeom prst="ellipse">
            <a:avLst/>
          </a:prstGeom>
          <a:solidFill>
            <a:srgbClr val="36c5d8"/>
          </a:solidFill>
          <a:ln w="12700">
            <a:solidFill>
              <a:srgbClr val="36c5d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05" name="Text 10"/>
          <p:cNvSpPr/>
          <p:nvPr/>
        </p:nvSpPr>
        <p:spPr>
          <a:xfrm>
            <a:off x="6355080" y="198432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2</a:t>
            </a:r>
            <a:endParaRPr b="0" lang="en-US" sz="1000" strike="noStrike" u="none">
              <a:solidFill>
                <a:srgbClr val="000000"/>
              </a:solidFill>
              <a:effectLst/>
              <a:uFillTx/>
              <a:latin typeface="Arial"/>
            </a:endParaRPr>
          </a:p>
        </p:txBody>
      </p:sp>
      <p:sp>
        <p:nvSpPr>
          <p:cNvPr id="106" name="Text 11"/>
          <p:cNvSpPr/>
          <p:nvPr/>
        </p:nvSpPr>
        <p:spPr>
          <a:xfrm>
            <a:off x="6812280" y="1938600"/>
            <a:ext cx="44344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CTEs</a:t>
            </a:r>
            <a:endParaRPr b="0" lang="en-US" sz="1600" strike="noStrike" u="none">
              <a:solidFill>
                <a:srgbClr val="000000"/>
              </a:solidFill>
              <a:effectLst/>
              <a:uFillTx/>
              <a:latin typeface="Arial"/>
            </a:endParaRPr>
          </a:p>
        </p:txBody>
      </p:sp>
      <p:sp>
        <p:nvSpPr>
          <p:cNvPr id="107" name="Text 12"/>
          <p:cNvSpPr/>
          <p:nvPr/>
        </p:nvSpPr>
        <p:spPr>
          <a:xfrm>
            <a:off x="6812280" y="2286000"/>
            <a:ext cx="44344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Breaks a complex question into named, testable analytical stages.</a:t>
            </a:r>
            <a:endParaRPr b="0" lang="en-US" sz="1150" strike="noStrike" u="none">
              <a:solidFill>
                <a:srgbClr val="000000"/>
              </a:solidFill>
              <a:effectLst/>
              <a:uFillTx/>
              <a:latin typeface="Arial"/>
            </a:endParaRPr>
          </a:p>
        </p:txBody>
      </p:sp>
      <p:sp>
        <p:nvSpPr>
          <p:cNvPr id="108" name="Shape 13"/>
          <p:cNvSpPr/>
          <p:nvPr/>
        </p:nvSpPr>
        <p:spPr>
          <a:xfrm>
            <a:off x="594360" y="3108960"/>
            <a:ext cx="5257440" cy="1078560"/>
          </a:xfrm>
          <a:prstGeom prst="roundRect">
            <a:avLst>
              <a:gd name="adj" fmla="val 13559"/>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09" name="Shape 14"/>
          <p:cNvSpPr/>
          <p:nvPr/>
        </p:nvSpPr>
        <p:spPr>
          <a:xfrm>
            <a:off x="777240" y="3291840"/>
            <a:ext cx="347040" cy="347040"/>
          </a:xfrm>
          <a:prstGeom prst="ellipse">
            <a:avLst/>
          </a:prstGeom>
          <a:solidFill>
            <a:srgbClr val="f4a261"/>
          </a:solidFill>
          <a:ln w="12700">
            <a:solidFill>
              <a:srgbClr val="f4a261">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10" name="Text 15"/>
          <p:cNvSpPr/>
          <p:nvPr/>
        </p:nvSpPr>
        <p:spPr>
          <a:xfrm>
            <a:off x="777240" y="331020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3</a:t>
            </a:r>
            <a:endParaRPr b="0" lang="en-US" sz="1000" strike="noStrike" u="none">
              <a:solidFill>
                <a:srgbClr val="000000"/>
              </a:solidFill>
              <a:effectLst/>
              <a:uFillTx/>
              <a:latin typeface="Arial"/>
            </a:endParaRPr>
          </a:p>
        </p:txBody>
      </p:sp>
      <p:sp>
        <p:nvSpPr>
          <p:cNvPr id="111" name="Text 16"/>
          <p:cNvSpPr/>
          <p:nvPr/>
        </p:nvSpPr>
        <p:spPr>
          <a:xfrm>
            <a:off x="1234440" y="3264480"/>
            <a:ext cx="44344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Conditional logic</a:t>
            </a:r>
            <a:endParaRPr b="0" lang="en-US" sz="1600" strike="noStrike" u="none">
              <a:solidFill>
                <a:srgbClr val="000000"/>
              </a:solidFill>
              <a:effectLst/>
              <a:uFillTx/>
              <a:latin typeface="Arial"/>
            </a:endParaRPr>
          </a:p>
        </p:txBody>
      </p:sp>
      <p:sp>
        <p:nvSpPr>
          <p:cNvPr id="112" name="Text 17"/>
          <p:cNvSpPr/>
          <p:nvPr/>
        </p:nvSpPr>
        <p:spPr>
          <a:xfrm>
            <a:off x="1234440" y="3611880"/>
            <a:ext cx="44344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CASE WHEN turns row-level conditions into repeat / one-time segments.</a:t>
            </a:r>
            <a:endParaRPr b="0" lang="en-US" sz="1150" strike="noStrike" u="none">
              <a:solidFill>
                <a:srgbClr val="000000"/>
              </a:solidFill>
              <a:effectLst/>
              <a:uFillTx/>
              <a:latin typeface="Arial"/>
            </a:endParaRPr>
          </a:p>
        </p:txBody>
      </p:sp>
      <p:sp>
        <p:nvSpPr>
          <p:cNvPr id="113" name="Shape 18"/>
          <p:cNvSpPr/>
          <p:nvPr/>
        </p:nvSpPr>
        <p:spPr>
          <a:xfrm>
            <a:off x="6172200" y="3108960"/>
            <a:ext cx="5257440" cy="1078560"/>
          </a:xfrm>
          <a:prstGeom prst="roundRect">
            <a:avLst>
              <a:gd name="adj" fmla="val 13559"/>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14" name="Shape 19"/>
          <p:cNvSpPr/>
          <p:nvPr/>
        </p:nvSpPr>
        <p:spPr>
          <a:xfrm>
            <a:off x="6355080" y="3291840"/>
            <a:ext cx="347040" cy="347040"/>
          </a:xfrm>
          <a:prstGeom prst="ellipse">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15" name="Text 20"/>
          <p:cNvSpPr/>
          <p:nvPr/>
        </p:nvSpPr>
        <p:spPr>
          <a:xfrm>
            <a:off x="6355080" y="331020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4</a:t>
            </a:r>
            <a:endParaRPr b="0" lang="en-US" sz="1000" strike="noStrike" u="none">
              <a:solidFill>
                <a:srgbClr val="000000"/>
              </a:solidFill>
              <a:effectLst/>
              <a:uFillTx/>
              <a:latin typeface="Arial"/>
            </a:endParaRPr>
          </a:p>
        </p:txBody>
      </p:sp>
      <p:sp>
        <p:nvSpPr>
          <p:cNvPr id="116" name="Text 21"/>
          <p:cNvSpPr/>
          <p:nvPr/>
        </p:nvSpPr>
        <p:spPr>
          <a:xfrm>
            <a:off x="6812280" y="3264480"/>
            <a:ext cx="44344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Date analytics</a:t>
            </a:r>
            <a:endParaRPr b="0" lang="en-US" sz="1600" strike="noStrike" u="none">
              <a:solidFill>
                <a:srgbClr val="000000"/>
              </a:solidFill>
              <a:effectLst/>
              <a:uFillTx/>
              <a:latin typeface="Arial"/>
            </a:endParaRPr>
          </a:p>
        </p:txBody>
      </p:sp>
      <p:sp>
        <p:nvSpPr>
          <p:cNvPr id="117" name="Text 22"/>
          <p:cNvSpPr/>
          <p:nvPr/>
        </p:nvSpPr>
        <p:spPr>
          <a:xfrm>
            <a:off x="6812280" y="3611880"/>
            <a:ext cx="44344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DATEDIFF measures time between purchase events.</a:t>
            </a:r>
            <a:endParaRPr b="0" lang="en-US" sz="1150" strike="noStrike" u="none">
              <a:solidFill>
                <a:srgbClr val="000000"/>
              </a:solidFill>
              <a:effectLst/>
              <a:uFillTx/>
              <a:latin typeface="Arial"/>
            </a:endParaRPr>
          </a:p>
        </p:txBody>
      </p:sp>
      <p:sp>
        <p:nvSpPr>
          <p:cNvPr id="118" name="Shape 23"/>
          <p:cNvSpPr/>
          <p:nvPr/>
        </p:nvSpPr>
        <p:spPr>
          <a:xfrm>
            <a:off x="594360" y="4434840"/>
            <a:ext cx="5257440" cy="1078560"/>
          </a:xfrm>
          <a:prstGeom prst="roundRect">
            <a:avLst>
              <a:gd name="adj" fmla="val 13559"/>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19" name="Shape 24"/>
          <p:cNvSpPr/>
          <p:nvPr/>
        </p:nvSpPr>
        <p:spPr>
          <a:xfrm>
            <a:off x="777240" y="4617720"/>
            <a:ext cx="347040" cy="347040"/>
          </a:xfrm>
          <a:prstGeom prst="ellipse">
            <a:avLst/>
          </a:prstGeom>
          <a:solidFill>
            <a:srgbClr val="2a9d8f"/>
          </a:solidFill>
          <a:ln w="12700">
            <a:solidFill>
              <a:srgbClr val="2a9d8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20" name="Text 25"/>
          <p:cNvSpPr/>
          <p:nvPr/>
        </p:nvSpPr>
        <p:spPr>
          <a:xfrm>
            <a:off x="777240" y="463608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5</a:t>
            </a:r>
            <a:endParaRPr b="0" lang="en-US" sz="1000" strike="noStrike" u="none">
              <a:solidFill>
                <a:srgbClr val="000000"/>
              </a:solidFill>
              <a:effectLst/>
              <a:uFillTx/>
              <a:latin typeface="Arial"/>
            </a:endParaRPr>
          </a:p>
        </p:txBody>
      </p:sp>
      <p:sp>
        <p:nvSpPr>
          <p:cNvPr id="121" name="Text 26"/>
          <p:cNvSpPr/>
          <p:nvPr/>
        </p:nvSpPr>
        <p:spPr>
          <a:xfrm>
            <a:off x="1234440" y="4590360"/>
            <a:ext cx="44344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Aggregation</a:t>
            </a:r>
            <a:endParaRPr b="0" lang="en-US" sz="1600" strike="noStrike" u="none">
              <a:solidFill>
                <a:srgbClr val="000000"/>
              </a:solidFill>
              <a:effectLst/>
              <a:uFillTx/>
              <a:latin typeface="Arial"/>
            </a:endParaRPr>
          </a:p>
        </p:txBody>
      </p:sp>
      <p:sp>
        <p:nvSpPr>
          <p:cNvPr id="122" name="Text 27"/>
          <p:cNvSpPr/>
          <p:nvPr/>
        </p:nvSpPr>
        <p:spPr>
          <a:xfrm>
            <a:off x="1234440" y="4937760"/>
            <a:ext cx="44344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SUM / AVG / MAX / COUNT translate transactions into KPIs.</a:t>
            </a:r>
            <a:endParaRPr b="0" lang="en-US" sz="1150" strike="noStrike" u="none">
              <a:solidFill>
                <a:srgbClr val="000000"/>
              </a:solidFill>
              <a:effectLst/>
              <a:uFillTx/>
              <a:latin typeface="Arial"/>
            </a:endParaRPr>
          </a:p>
        </p:txBody>
      </p:sp>
      <p:sp>
        <p:nvSpPr>
          <p:cNvPr id="123" name="Shape 28"/>
          <p:cNvSpPr/>
          <p:nvPr/>
        </p:nvSpPr>
        <p:spPr>
          <a:xfrm>
            <a:off x="6172200" y="4434840"/>
            <a:ext cx="5257440" cy="1078560"/>
          </a:xfrm>
          <a:prstGeom prst="roundRect">
            <a:avLst>
              <a:gd name="adj" fmla="val 13559"/>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24" name="Shape 29"/>
          <p:cNvSpPr/>
          <p:nvPr/>
        </p:nvSpPr>
        <p:spPr>
          <a:xfrm>
            <a:off x="6355080" y="4617720"/>
            <a:ext cx="347040" cy="347040"/>
          </a:xfrm>
          <a:prstGeom prst="ellipse">
            <a:avLst/>
          </a:prstGeom>
          <a:solidFill>
            <a:srgbClr val="f6bd60"/>
          </a:solidFill>
          <a:ln w="12700">
            <a:solidFill>
              <a:srgbClr val="f6bd60">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25" name="Text 30"/>
          <p:cNvSpPr/>
          <p:nvPr/>
        </p:nvSpPr>
        <p:spPr>
          <a:xfrm>
            <a:off x="6355080" y="463608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6</a:t>
            </a:r>
            <a:endParaRPr b="0" lang="en-US" sz="1000" strike="noStrike" u="none">
              <a:solidFill>
                <a:srgbClr val="000000"/>
              </a:solidFill>
              <a:effectLst/>
              <a:uFillTx/>
              <a:latin typeface="Arial"/>
            </a:endParaRPr>
          </a:p>
        </p:txBody>
      </p:sp>
      <p:sp>
        <p:nvSpPr>
          <p:cNvPr id="126" name="Text 31"/>
          <p:cNvSpPr/>
          <p:nvPr/>
        </p:nvSpPr>
        <p:spPr>
          <a:xfrm>
            <a:off x="6812280" y="4590360"/>
            <a:ext cx="44344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Joins + COALESCE</a:t>
            </a:r>
            <a:endParaRPr b="0" lang="en-US" sz="1600" strike="noStrike" u="none">
              <a:solidFill>
                <a:srgbClr val="000000"/>
              </a:solidFill>
              <a:effectLst/>
              <a:uFillTx/>
              <a:latin typeface="Arial"/>
            </a:endParaRPr>
          </a:p>
        </p:txBody>
      </p:sp>
      <p:sp>
        <p:nvSpPr>
          <p:cNvPr id="127" name="Text 32"/>
          <p:cNvSpPr/>
          <p:nvPr/>
        </p:nvSpPr>
        <p:spPr>
          <a:xfrm>
            <a:off x="6812280" y="4937760"/>
            <a:ext cx="44344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Combines sales with inventory while preserving products with zero stock.</a:t>
            </a:r>
            <a:endParaRPr b="0" lang="en-US" sz="1150" strike="noStrike" u="none">
              <a:solidFill>
                <a:srgbClr val="000000"/>
              </a:solidFill>
              <a:effectLst/>
              <a:uFillTx/>
              <a:latin typeface="Arial"/>
            </a:endParaRPr>
          </a:p>
        </p:txBody>
      </p:sp>
      <p:sp>
        <p:nvSpPr>
          <p:cNvPr id="128" name="Text 33"/>
          <p:cNvSpPr/>
          <p:nvPr/>
        </p:nvSpPr>
        <p:spPr>
          <a:xfrm>
            <a:off x="594360" y="5934600"/>
            <a:ext cx="11883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008c95"/>
                </a:solidFill>
                <a:effectLst/>
                <a:uFillTx/>
                <a:latin typeface="Arial"/>
                <a:ea typeface="Arial"/>
              </a:rPr>
              <a:t>Query structure</a:t>
            </a:r>
            <a:endParaRPr b="0" lang="en-US" sz="1000" strike="noStrike" u="none">
              <a:solidFill>
                <a:srgbClr val="000000"/>
              </a:solidFill>
              <a:effectLst/>
              <a:uFillTx/>
              <a:latin typeface="Arial"/>
            </a:endParaRPr>
          </a:p>
        </p:txBody>
      </p:sp>
      <p:sp>
        <p:nvSpPr>
          <p:cNvPr id="129" name="Text 34"/>
          <p:cNvSpPr/>
          <p:nvPr/>
        </p:nvSpPr>
        <p:spPr>
          <a:xfrm>
            <a:off x="1691640" y="5870520"/>
            <a:ext cx="886932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14213d"/>
                </a:solidFill>
                <a:effectLst/>
                <a:uFillTx/>
                <a:latin typeface="Cambria"/>
                <a:ea typeface="Cambria"/>
              </a:rPr>
              <a:t>Each CTE isolates a reusable analytical step.</a:t>
            </a:r>
            <a:endParaRPr b="0" lang="en-US" sz="1700" strike="noStrike" u="none">
              <a:solidFill>
                <a:srgbClr val="000000"/>
              </a:solidFill>
              <a:effectLst/>
              <a:uFillTx/>
              <a:latin typeface="Arial"/>
            </a:endParaRPr>
          </a:p>
        </p:txBody>
      </p:sp>
      <p:sp>
        <p:nvSpPr>
          <p:cNvPr id="130" name="PlaceHolder 1"/>
          <p:cNvSpPr>
            <a:spLocks noGrp="1"/>
          </p:cNvSpPr>
          <p:nvPr>
            <p:ph type="sldNum" idx="7"/>
          </p:nvPr>
        </p:nvSpPr>
        <p:spPr>
          <a:xfrm>
            <a:off x="11685960" y="6464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trike="noStrike" u="none">
                <a:solidFill>
                  <a:srgbClr val="7a8595"/>
                </a:solidFill>
                <a:effectLst/>
                <a:uFillTx/>
                <a:latin typeface="Arial"/>
                <a:ea typeface="Arial"/>
              </a:defRPr>
            </a:lvl1pPr>
          </a:lstStyle>
          <a:p>
            <a:pPr indent="0" defTabSz="914400">
              <a:lnSpc>
                <a:spcPct val="100000"/>
              </a:lnSpc>
              <a:buNone/>
            </a:pPr>
            <a:fld id="{ADF58247-F2AB-4D7F-A2A2-1A270BB72DCD}" type="slidenum">
              <a:rPr b="0" lang="en-US" sz="800" strike="noStrike" u="none">
                <a:solidFill>
                  <a:srgbClr val="7a8595"/>
                </a:solidFill>
                <a:effectLst/>
                <a:uFillTx/>
                <a:latin typeface="Arial"/>
                <a:ea typeface="Arial"/>
              </a:rPr>
              <a:t>4</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Text 0"/>
          <p:cNvSpPr/>
          <p:nvPr/>
        </p:nvSpPr>
        <p:spPr>
          <a:xfrm>
            <a:off x="548640" y="347400"/>
            <a:ext cx="2559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1" strike="noStrike" u="none">
                <a:solidFill>
                  <a:srgbClr val="008c95"/>
                </a:solidFill>
                <a:effectLst/>
                <a:uFillTx/>
                <a:latin typeface="Arial"/>
                <a:ea typeface="Arial"/>
              </a:rPr>
              <a:t>04 • ANALYSIS 1</a:t>
            </a:r>
            <a:endParaRPr b="0" lang="en-US" sz="900" strike="noStrike" u="none">
              <a:solidFill>
                <a:srgbClr val="000000"/>
              </a:solidFill>
              <a:effectLst/>
              <a:uFillTx/>
              <a:latin typeface="Arial"/>
            </a:endParaRPr>
          </a:p>
        </p:txBody>
      </p:sp>
      <p:sp>
        <p:nvSpPr>
          <p:cNvPr id="132" name="Text 1"/>
          <p:cNvSpPr/>
          <p:nvPr/>
        </p:nvSpPr>
        <p:spPr>
          <a:xfrm>
            <a:off x="548640" y="640080"/>
            <a:ext cx="10606680" cy="566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14213d"/>
                </a:solidFill>
                <a:effectLst/>
                <a:uFillTx/>
                <a:latin typeface="Cambria"/>
                <a:ea typeface="Cambria"/>
              </a:rPr>
              <a:t>Longest purchase gap by customer</a:t>
            </a:r>
            <a:endParaRPr b="0" lang="en-US" sz="2900" strike="noStrike" u="none">
              <a:solidFill>
                <a:srgbClr val="000000"/>
              </a:solidFill>
              <a:effectLst/>
              <a:uFillTx/>
              <a:latin typeface="Arial"/>
            </a:endParaRPr>
          </a:p>
        </p:txBody>
      </p:sp>
      <p:sp>
        <p:nvSpPr>
          <p:cNvPr id="133" name="Text 2"/>
          <p:cNvSpPr/>
          <p:nvPr/>
        </p:nvSpPr>
        <p:spPr>
          <a:xfrm>
            <a:off x="548640" y="1243440"/>
            <a:ext cx="106066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667085"/>
                </a:solidFill>
                <a:effectLst/>
                <a:uFillTx/>
                <a:latin typeface="Arial"/>
                <a:ea typeface="Arial"/>
              </a:rPr>
              <a:t>Maximum and average days between consecutive orders for each customer.</a:t>
            </a:r>
            <a:endParaRPr b="0" lang="en-US" sz="1250" strike="noStrike" u="none">
              <a:solidFill>
                <a:srgbClr val="000000"/>
              </a:solidFill>
              <a:effectLst/>
              <a:uFillTx/>
              <a:latin typeface="Arial"/>
            </a:endParaRPr>
          </a:p>
        </p:txBody>
      </p:sp>
      <p:sp>
        <p:nvSpPr>
          <p:cNvPr id="134" name="Shape 3"/>
          <p:cNvSpPr/>
          <p:nvPr/>
        </p:nvSpPr>
        <p:spPr>
          <a:xfrm>
            <a:off x="594360" y="1755720"/>
            <a:ext cx="6903360" cy="3456000"/>
          </a:xfrm>
          <a:prstGeom prst="roundRect">
            <a:avLst>
              <a:gd name="adj" fmla="val 3968"/>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35" name="Text 4"/>
          <p:cNvSpPr/>
          <p:nvPr/>
        </p:nvSpPr>
        <p:spPr>
          <a:xfrm>
            <a:off x="758880" y="1901880"/>
            <a:ext cx="6574320" cy="32000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60" strike="noStrike" u="none">
                <a:solidFill>
                  <a:srgbClr val="eaf0f7"/>
                </a:solidFill>
                <a:effectLst/>
                <a:uFillTx/>
                <a:latin typeface="Courier New"/>
                <a:ea typeface="Courier New"/>
              </a:rPr>
              <a:t>WITH Order_Gaps AS (</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  SELECT Customer_ID, Order_Id, Order_Tms,</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    LAG(Order_Tms) OVER (</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      PARTITION BY Customer_ID</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      ORDER BY Order_Tms</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    ) AS Previous_Order</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  FROM Orders</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 Customer_Gaps AS (</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  SELECT *, DATEDIFF(Order_Tms, Previous_Order)</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         AS Days_Between_Orders</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  FROM Order_Gaps</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  WHERE Previous_Order IS NOT NULL</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SELECT Customer_ID, MAX(Days_Between_Orders) AS Longest_Purchase_Gap,</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       ROUND(AVG(Days_Between_Orders), 1) AS Average_Purchase_Gap</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FROM Customer_Gaps</a:t>
            </a:r>
            <a:endParaRPr b="0" lang="en-US" sz="1060" strike="noStrike" u="none">
              <a:solidFill>
                <a:srgbClr val="000000"/>
              </a:solidFill>
              <a:effectLst/>
              <a:uFillTx/>
              <a:latin typeface="Arial"/>
            </a:endParaRPr>
          </a:p>
          <a:p>
            <a:pPr defTabSz="914400">
              <a:lnSpc>
                <a:spcPct val="100000"/>
              </a:lnSpc>
              <a:tabLst>
                <a:tab algn="l" pos="0"/>
              </a:tabLst>
            </a:pPr>
            <a:r>
              <a:rPr b="0" lang="en-US" sz="1060" strike="noStrike" u="none">
                <a:solidFill>
                  <a:srgbClr val="eaf0f7"/>
                </a:solidFill>
                <a:effectLst/>
                <a:uFillTx/>
                <a:latin typeface="Courier New"/>
                <a:ea typeface="Courier New"/>
              </a:rPr>
              <a:t>GROUP BY Customer_ID;</a:t>
            </a:r>
            <a:endParaRPr b="0" lang="en-US" sz="1060" strike="noStrike" u="none">
              <a:solidFill>
                <a:srgbClr val="000000"/>
              </a:solidFill>
              <a:effectLst/>
              <a:uFillTx/>
              <a:latin typeface="Arial"/>
            </a:endParaRPr>
          </a:p>
        </p:txBody>
      </p:sp>
      <p:sp>
        <p:nvSpPr>
          <p:cNvPr id="136" name="Shape 5"/>
          <p:cNvSpPr/>
          <p:nvPr/>
        </p:nvSpPr>
        <p:spPr>
          <a:xfrm>
            <a:off x="7818120" y="1755720"/>
            <a:ext cx="3565800" cy="3456000"/>
          </a:xfrm>
          <a:prstGeom prst="roundRect">
            <a:avLst>
              <a:gd name="adj" fmla="val 423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37" name="Text 6"/>
          <p:cNvSpPr/>
          <p:nvPr/>
        </p:nvSpPr>
        <p:spPr>
          <a:xfrm>
            <a:off x="8092440" y="1993320"/>
            <a:ext cx="292572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008c95"/>
                </a:solidFill>
                <a:effectLst/>
                <a:uFillTx/>
                <a:latin typeface="Arial"/>
                <a:ea typeface="Arial"/>
              </a:rPr>
              <a:t>METHOD</a:t>
            </a:r>
            <a:endParaRPr b="0" lang="en-US" sz="1000" strike="noStrike" u="none">
              <a:solidFill>
                <a:srgbClr val="000000"/>
              </a:solidFill>
              <a:effectLst/>
              <a:uFillTx/>
              <a:latin typeface="Arial"/>
            </a:endParaRPr>
          </a:p>
        </p:txBody>
      </p:sp>
      <p:sp>
        <p:nvSpPr>
          <p:cNvPr id="138" name="Shape 7"/>
          <p:cNvSpPr/>
          <p:nvPr/>
        </p:nvSpPr>
        <p:spPr>
          <a:xfrm>
            <a:off x="8101440" y="2395800"/>
            <a:ext cx="273960" cy="27396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39" name="Text 8"/>
          <p:cNvSpPr/>
          <p:nvPr/>
        </p:nvSpPr>
        <p:spPr>
          <a:xfrm>
            <a:off x="8101440" y="2432160"/>
            <a:ext cx="2739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ffffff"/>
                </a:solidFill>
                <a:effectLst/>
                <a:uFillTx/>
                <a:latin typeface="Arial"/>
                <a:ea typeface="Arial"/>
              </a:rPr>
              <a:t>1</a:t>
            </a:r>
            <a:endParaRPr b="0" lang="en-US" sz="900" strike="noStrike" u="none">
              <a:solidFill>
                <a:srgbClr val="000000"/>
              </a:solidFill>
              <a:effectLst/>
              <a:uFillTx/>
              <a:latin typeface="Arial"/>
            </a:endParaRPr>
          </a:p>
        </p:txBody>
      </p:sp>
      <p:sp>
        <p:nvSpPr>
          <p:cNvPr id="140" name="Text 9"/>
          <p:cNvSpPr/>
          <p:nvPr/>
        </p:nvSpPr>
        <p:spPr>
          <a:xfrm>
            <a:off x="8503920" y="2386440"/>
            <a:ext cx="2468520" cy="3470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152238"/>
                </a:solidFill>
                <a:effectLst/>
                <a:uFillTx/>
                <a:latin typeface="Arial"/>
                <a:ea typeface="Arial"/>
              </a:rPr>
              <a:t>Order customer history</a:t>
            </a:r>
            <a:endParaRPr b="0" lang="en-US" sz="1150" strike="noStrike" u="none">
              <a:solidFill>
                <a:srgbClr val="000000"/>
              </a:solidFill>
              <a:effectLst/>
              <a:uFillTx/>
              <a:latin typeface="Arial"/>
            </a:endParaRPr>
          </a:p>
        </p:txBody>
      </p:sp>
      <p:sp>
        <p:nvSpPr>
          <p:cNvPr id="141" name="Shape 10"/>
          <p:cNvSpPr/>
          <p:nvPr/>
        </p:nvSpPr>
        <p:spPr>
          <a:xfrm>
            <a:off x="8101440" y="3017520"/>
            <a:ext cx="273960" cy="273960"/>
          </a:xfrm>
          <a:prstGeom prst="ellipse">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42" name="Text 11"/>
          <p:cNvSpPr/>
          <p:nvPr/>
        </p:nvSpPr>
        <p:spPr>
          <a:xfrm>
            <a:off x="8101440" y="3054240"/>
            <a:ext cx="2739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ffffff"/>
                </a:solidFill>
                <a:effectLst/>
                <a:uFillTx/>
                <a:latin typeface="Arial"/>
                <a:ea typeface="Arial"/>
              </a:rPr>
              <a:t>2</a:t>
            </a:r>
            <a:endParaRPr b="0" lang="en-US" sz="900" strike="noStrike" u="none">
              <a:solidFill>
                <a:srgbClr val="000000"/>
              </a:solidFill>
              <a:effectLst/>
              <a:uFillTx/>
              <a:latin typeface="Arial"/>
            </a:endParaRPr>
          </a:p>
        </p:txBody>
      </p:sp>
      <p:sp>
        <p:nvSpPr>
          <p:cNvPr id="143" name="Text 12"/>
          <p:cNvSpPr/>
          <p:nvPr/>
        </p:nvSpPr>
        <p:spPr>
          <a:xfrm>
            <a:off x="8503920" y="3008520"/>
            <a:ext cx="2468520" cy="3470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152238"/>
                </a:solidFill>
                <a:effectLst/>
                <a:uFillTx/>
                <a:latin typeface="Arial"/>
                <a:ea typeface="Arial"/>
              </a:rPr>
              <a:t>Use LAG() for the previous order</a:t>
            </a:r>
            <a:endParaRPr b="0" lang="en-US" sz="1150" strike="noStrike" u="none">
              <a:solidFill>
                <a:srgbClr val="000000"/>
              </a:solidFill>
              <a:effectLst/>
              <a:uFillTx/>
              <a:latin typeface="Arial"/>
            </a:endParaRPr>
          </a:p>
        </p:txBody>
      </p:sp>
      <p:sp>
        <p:nvSpPr>
          <p:cNvPr id="144" name="Shape 13"/>
          <p:cNvSpPr/>
          <p:nvPr/>
        </p:nvSpPr>
        <p:spPr>
          <a:xfrm>
            <a:off x="8101440" y="3639240"/>
            <a:ext cx="273960" cy="273960"/>
          </a:xfrm>
          <a:prstGeom prst="ellipse">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45" name="Text 14"/>
          <p:cNvSpPr/>
          <p:nvPr/>
        </p:nvSpPr>
        <p:spPr>
          <a:xfrm>
            <a:off x="8101440" y="3675960"/>
            <a:ext cx="2739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ffffff"/>
                </a:solidFill>
                <a:effectLst/>
                <a:uFillTx/>
                <a:latin typeface="Arial"/>
                <a:ea typeface="Arial"/>
              </a:rPr>
              <a:t>3</a:t>
            </a:r>
            <a:endParaRPr b="0" lang="en-US" sz="900" strike="noStrike" u="none">
              <a:solidFill>
                <a:srgbClr val="000000"/>
              </a:solidFill>
              <a:effectLst/>
              <a:uFillTx/>
              <a:latin typeface="Arial"/>
            </a:endParaRPr>
          </a:p>
        </p:txBody>
      </p:sp>
      <p:sp>
        <p:nvSpPr>
          <p:cNvPr id="146" name="Text 15"/>
          <p:cNvSpPr/>
          <p:nvPr/>
        </p:nvSpPr>
        <p:spPr>
          <a:xfrm>
            <a:off x="8503920" y="3630240"/>
            <a:ext cx="2468520" cy="3470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152238"/>
                </a:solidFill>
                <a:effectLst/>
                <a:uFillTx/>
                <a:latin typeface="Arial"/>
                <a:ea typeface="Arial"/>
              </a:rPr>
              <a:t>DATEDIFF() calculates day gaps</a:t>
            </a:r>
            <a:endParaRPr b="0" lang="en-US" sz="1150" strike="noStrike" u="none">
              <a:solidFill>
                <a:srgbClr val="000000"/>
              </a:solidFill>
              <a:effectLst/>
              <a:uFillTx/>
              <a:latin typeface="Arial"/>
            </a:endParaRPr>
          </a:p>
        </p:txBody>
      </p:sp>
      <p:sp>
        <p:nvSpPr>
          <p:cNvPr id="147" name="Shape 16"/>
          <p:cNvSpPr/>
          <p:nvPr/>
        </p:nvSpPr>
        <p:spPr>
          <a:xfrm>
            <a:off x="8101440" y="4260960"/>
            <a:ext cx="273960" cy="273960"/>
          </a:xfrm>
          <a:prstGeom prst="ellipse">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48" name="Text 17"/>
          <p:cNvSpPr/>
          <p:nvPr/>
        </p:nvSpPr>
        <p:spPr>
          <a:xfrm>
            <a:off x="8101440" y="4297680"/>
            <a:ext cx="27396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ffffff"/>
                </a:solidFill>
                <a:effectLst/>
                <a:uFillTx/>
                <a:latin typeface="Arial"/>
                <a:ea typeface="Arial"/>
              </a:rPr>
              <a:t>4</a:t>
            </a:r>
            <a:endParaRPr b="0" lang="en-US" sz="900" strike="noStrike" u="none">
              <a:solidFill>
                <a:srgbClr val="000000"/>
              </a:solidFill>
              <a:effectLst/>
              <a:uFillTx/>
              <a:latin typeface="Arial"/>
            </a:endParaRPr>
          </a:p>
        </p:txBody>
      </p:sp>
      <p:sp>
        <p:nvSpPr>
          <p:cNvPr id="149" name="Text 18"/>
          <p:cNvSpPr/>
          <p:nvPr/>
        </p:nvSpPr>
        <p:spPr>
          <a:xfrm>
            <a:off x="8503920" y="4251960"/>
            <a:ext cx="2468520" cy="347040"/>
          </a:xfrm>
          <a:prstGeom prst="rect">
            <a:avLst/>
          </a:prstGeom>
          <a:noFill/>
          <a:ln w="0">
            <a:noFill/>
          </a:ln>
        </p:spPr>
        <p:style>
          <a:lnRef idx="0"/>
          <a:fillRef idx="0"/>
          <a:effectRef idx="0"/>
          <a:fontRef idx="minor"/>
        </p:style>
        <p:txBody>
          <a:bodyPr lIns="0" rIns="0" tIns="0" bIns="0" anchor="t">
            <a:normAutofit lnSpcReduction="9999"/>
          </a:bodyPr>
          <a:p>
            <a:pPr defTabSz="914400">
              <a:lnSpc>
                <a:spcPct val="100000"/>
              </a:lnSpc>
              <a:tabLst>
                <a:tab algn="l" pos="0"/>
              </a:tabLst>
            </a:pPr>
            <a:r>
              <a:rPr b="0" lang="en-US" sz="1150" strike="noStrike" u="none">
                <a:solidFill>
                  <a:srgbClr val="152238"/>
                </a:solidFill>
                <a:effectLst/>
                <a:uFillTx/>
                <a:latin typeface="Arial"/>
                <a:ea typeface="Arial"/>
              </a:rPr>
              <a:t>MAX + AVG summarize customer cadence</a:t>
            </a:r>
            <a:endParaRPr b="0" lang="en-US" sz="1150" strike="noStrike" u="none">
              <a:solidFill>
                <a:srgbClr val="000000"/>
              </a:solidFill>
              <a:effectLst/>
              <a:uFillTx/>
              <a:latin typeface="Arial"/>
            </a:endParaRPr>
          </a:p>
        </p:txBody>
      </p:sp>
      <p:sp>
        <p:nvSpPr>
          <p:cNvPr id="150" name="Shape 19"/>
          <p:cNvSpPr/>
          <p:nvPr/>
        </p:nvSpPr>
        <p:spPr>
          <a:xfrm>
            <a:off x="594360" y="5422320"/>
            <a:ext cx="324576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1" name="Shape 20"/>
          <p:cNvSpPr/>
          <p:nvPr/>
        </p:nvSpPr>
        <p:spPr>
          <a:xfrm>
            <a:off x="758880" y="5586840"/>
            <a:ext cx="200880" cy="200880"/>
          </a:xfrm>
          <a:prstGeom prst="ellipse">
            <a:avLst/>
          </a:prstGeom>
          <a:solidFill>
            <a:srgbClr val="f4a261"/>
          </a:solidFill>
          <a:ln w="12700">
            <a:solidFill>
              <a:srgbClr val="f4a261">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2" name="Text 21"/>
          <p:cNvSpPr/>
          <p:nvPr/>
        </p:nvSpPr>
        <p:spPr>
          <a:xfrm>
            <a:off x="1051560" y="5559480"/>
            <a:ext cx="265140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241</a:t>
            </a:r>
            <a:endParaRPr b="0" lang="en-US" sz="2700" strike="noStrike" u="none">
              <a:solidFill>
                <a:srgbClr val="000000"/>
              </a:solidFill>
              <a:effectLst/>
              <a:uFillTx/>
              <a:latin typeface="Arial"/>
            </a:endParaRPr>
          </a:p>
        </p:txBody>
      </p:sp>
      <p:sp>
        <p:nvSpPr>
          <p:cNvPr id="153" name="Text 22"/>
          <p:cNvSpPr/>
          <p:nvPr/>
        </p:nvSpPr>
        <p:spPr>
          <a:xfrm>
            <a:off x="1051560" y="6026040"/>
            <a:ext cx="26056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max days between orders</a:t>
            </a:r>
            <a:endParaRPr b="0" lang="en-US" sz="1050" strike="noStrike" u="none">
              <a:solidFill>
                <a:srgbClr val="000000"/>
              </a:solidFill>
              <a:effectLst/>
              <a:uFillTx/>
              <a:latin typeface="Arial"/>
            </a:endParaRPr>
          </a:p>
        </p:txBody>
      </p:sp>
      <p:sp>
        <p:nvSpPr>
          <p:cNvPr id="154" name="Shape 23"/>
          <p:cNvSpPr/>
          <p:nvPr/>
        </p:nvSpPr>
        <p:spPr>
          <a:xfrm>
            <a:off x="3977640" y="5422320"/>
            <a:ext cx="324576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5" name="Shape 24"/>
          <p:cNvSpPr/>
          <p:nvPr/>
        </p:nvSpPr>
        <p:spPr>
          <a:xfrm>
            <a:off x="4142160" y="5586840"/>
            <a:ext cx="200880" cy="200880"/>
          </a:xfrm>
          <a:prstGeom prst="ellipse">
            <a:avLst/>
          </a:prstGeom>
          <a:solidFill>
            <a:srgbClr val="36c5d8"/>
          </a:solidFill>
          <a:ln w="12700">
            <a:solidFill>
              <a:srgbClr val="36c5d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6" name="Text 25"/>
          <p:cNvSpPr/>
          <p:nvPr/>
        </p:nvSpPr>
        <p:spPr>
          <a:xfrm>
            <a:off x="4434840" y="5559480"/>
            <a:ext cx="265140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121.5</a:t>
            </a:r>
            <a:endParaRPr b="0" lang="en-US" sz="2700" strike="noStrike" u="none">
              <a:solidFill>
                <a:srgbClr val="000000"/>
              </a:solidFill>
              <a:effectLst/>
              <a:uFillTx/>
              <a:latin typeface="Arial"/>
            </a:endParaRPr>
          </a:p>
        </p:txBody>
      </p:sp>
      <p:sp>
        <p:nvSpPr>
          <p:cNvPr id="157" name="Text 26"/>
          <p:cNvSpPr/>
          <p:nvPr/>
        </p:nvSpPr>
        <p:spPr>
          <a:xfrm>
            <a:off x="4434840" y="6026040"/>
            <a:ext cx="26056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average gap for that customer</a:t>
            </a:r>
            <a:endParaRPr b="0" lang="en-US" sz="1050" strike="noStrike" u="none">
              <a:solidFill>
                <a:srgbClr val="000000"/>
              </a:solidFill>
              <a:effectLst/>
              <a:uFillTx/>
              <a:latin typeface="Arial"/>
            </a:endParaRPr>
          </a:p>
        </p:txBody>
      </p:sp>
      <p:sp>
        <p:nvSpPr>
          <p:cNvPr id="158" name="Shape 27"/>
          <p:cNvSpPr/>
          <p:nvPr/>
        </p:nvSpPr>
        <p:spPr>
          <a:xfrm>
            <a:off x="7360920" y="5422320"/>
            <a:ext cx="402300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9" name="Shape 28"/>
          <p:cNvSpPr/>
          <p:nvPr/>
        </p:nvSpPr>
        <p:spPr>
          <a:xfrm>
            <a:off x="7525440" y="5586840"/>
            <a:ext cx="200880" cy="20088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0" name="Text 29"/>
          <p:cNvSpPr/>
          <p:nvPr/>
        </p:nvSpPr>
        <p:spPr>
          <a:xfrm>
            <a:off x="7818120" y="5559480"/>
            <a:ext cx="342864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45</a:t>
            </a:r>
            <a:endParaRPr b="0" lang="en-US" sz="2700" strike="noStrike" u="none">
              <a:solidFill>
                <a:srgbClr val="000000"/>
              </a:solidFill>
              <a:effectLst/>
              <a:uFillTx/>
              <a:latin typeface="Arial"/>
            </a:endParaRPr>
          </a:p>
        </p:txBody>
      </p:sp>
      <p:sp>
        <p:nvSpPr>
          <p:cNvPr id="161" name="Text 30"/>
          <p:cNvSpPr/>
          <p:nvPr/>
        </p:nvSpPr>
        <p:spPr>
          <a:xfrm>
            <a:off x="7818120" y="6026040"/>
            <a:ext cx="33829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customer ID with the largest gap</a:t>
            </a:r>
            <a:endParaRPr b="0" lang="en-US" sz="1050" strike="noStrike" u="none">
              <a:solidFill>
                <a:srgbClr val="000000"/>
              </a:solidFill>
              <a:effectLst/>
              <a:uFillTx/>
              <a:latin typeface="Arial"/>
            </a:endParaRPr>
          </a:p>
        </p:txBody>
      </p:sp>
      <p:sp>
        <p:nvSpPr>
          <p:cNvPr id="162" name="PlaceHolder 1"/>
          <p:cNvSpPr>
            <a:spLocks noGrp="1"/>
          </p:cNvSpPr>
          <p:nvPr>
            <p:ph type="sldNum" idx="8"/>
          </p:nvPr>
        </p:nvSpPr>
        <p:spPr>
          <a:xfrm>
            <a:off x="11685960" y="6464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trike="noStrike" u="none">
                <a:solidFill>
                  <a:srgbClr val="7a8595"/>
                </a:solidFill>
                <a:effectLst/>
                <a:uFillTx/>
                <a:latin typeface="Arial"/>
                <a:ea typeface="Arial"/>
              </a:defRPr>
            </a:lvl1pPr>
          </a:lstStyle>
          <a:p>
            <a:pPr indent="0" defTabSz="914400">
              <a:lnSpc>
                <a:spcPct val="100000"/>
              </a:lnSpc>
              <a:buNone/>
            </a:pPr>
            <a:fld id="{B6264600-2523-45B3-A343-FA2C90658FE6}" type="slidenum">
              <a:rPr b="0" lang="en-US" sz="800" strike="noStrike" u="none">
                <a:solidFill>
                  <a:srgbClr val="7a8595"/>
                </a:solidFill>
                <a:effectLst/>
                <a:uFillTx/>
                <a:latin typeface="Arial"/>
                <a:ea typeface="Arial"/>
              </a:rPr>
              <a:t>5</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Text 0"/>
          <p:cNvSpPr/>
          <p:nvPr/>
        </p:nvSpPr>
        <p:spPr>
          <a:xfrm>
            <a:off x="548640" y="347400"/>
            <a:ext cx="2559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1" strike="noStrike" u="none">
                <a:solidFill>
                  <a:srgbClr val="008c95"/>
                </a:solidFill>
                <a:effectLst/>
                <a:uFillTx/>
                <a:latin typeface="Arial"/>
                <a:ea typeface="Arial"/>
              </a:rPr>
              <a:t>05 • ANALYSIS 1</a:t>
            </a:r>
            <a:endParaRPr b="0" lang="en-US" sz="900" strike="noStrike" u="none">
              <a:solidFill>
                <a:srgbClr val="000000"/>
              </a:solidFill>
              <a:effectLst/>
              <a:uFillTx/>
              <a:latin typeface="Arial"/>
            </a:endParaRPr>
          </a:p>
        </p:txBody>
      </p:sp>
      <p:sp>
        <p:nvSpPr>
          <p:cNvPr id="164" name="Text 1"/>
          <p:cNvSpPr/>
          <p:nvPr/>
        </p:nvSpPr>
        <p:spPr>
          <a:xfrm>
            <a:off x="548640" y="640080"/>
            <a:ext cx="10606680" cy="566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14213d"/>
                </a:solidFill>
                <a:effectLst/>
                <a:uFillTx/>
                <a:latin typeface="Cambria"/>
                <a:ea typeface="Cambria"/>
              </a:rPr>
              <a:t>Purchase gaps are highly uneven</a:t>
            </a:r>
            <a:endParaRPr b="0" lang="en-US" sz="2900" strike="noStrike" u="none">
              <a:solidFill>
                <a:srgbClr val="000000"/>
              </a:solidFill>
              <a:effectLst/>
              <a:uFillTx/>
              <a:latin typeface="Arial"/>
            </a:endParaRPr>
          </a:p>
        </p:txBody>
      </p:sp>
      <p:sp>
        <p:nvSpPr>
          <p:cNvPr id="165" name="Text 2"/>
          <p:cNvSpPr/>
          <p:nvPr/>
        </p:nvSpPr>
        <p:spPr>
          <a:xfrm>
            <a:off x="548640" y="1243440"/>
            <a:ext cx="106066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667085"/>
                </a:solidFill>
                <a:effectLst/>
                <a:uFillTx/>
                <a:latin typeface="Arial"/>
                <a:ea typeface="Arial"/>
              </a:rPr>
              <a:t>A small group of customers shows exceptionally long inactive periods.</a:t>
            </a:r>
            <a:endParaRPr b="0" lang="en-US" sz="1250" strike="noStrike" u="none">
              <a:solidFill>
                <a:srgbClr val="000000"/>
              </a:solidFill>
              <a:effectLst/>
              <a:uFillTx/>
              <a:latin typeface="Arial"/>
            </a:endParaRPr>
          </a:p>
        </p:txBody>
      </p:sp>
      <p:graphicFrame>
        <p:nvGraphicFramePr>
          <p:cNvPr id="166" name="Chart 0"/>
          <p:cNvGraphicFramePr/>
          <p:nvPr/>
        </p:nvGraphicFramePr>
        <p:xfrm>
          <a:off x="640080" y="1783080"/>
          <a:ext cx="6857640" cy="4068720"/>
        </p:xfrm>
        <a:graphic>
          <a:graphicData uri="http://schemas.openxmlformats.org/drawingml/2006/chart">
            <c:chart xmlns:c="http://schemas.openxmlformats.org/drawingml/2006/chart" xmlns:r="http://schemas.openxmlformats.org/officeDocument/2006/relationships" r:id="rId1"/>
          </a:graphicData>
        </a:graphic>
      </p:graphicFrame>
      <p:sp>
        <p:nvSpPr>
          <p:cNvPr id="167" name="Shape 3"/>
          <p:cNvSpPr/>
          <p:nvPr/>
        </p:nvSpPr>
        <p:spPr>
          <a:xfrm>
            <a:off x="7818120" y="1783080"/>
            <a:ext cx="3565800" cy="1234080"/>
          </a:xfrm>
          <a:prstGeom prst="roundRect">
            <a:avLst>
              <a:gd name="adj" fmla="val 11852"/>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68" name="Text 4"/>
          <p:cNvSpPr/>
          <p:nvPr/>
        </p:nvSpPr>
        <p:spPr>
          <a:xfrm>
            <a:off x="8101440" y="1965960"/>
            <a:ext cx="2925720" cy="402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800" strike="noStrike" u="none">
                <a:solidFill>
                  <a:srgbClr val="ffffff"/>
                </a:solidFill>
                <a:effectLst/>
                <a:uFillTx/>
                <a:latin typeface="Cambria"/>
                <a:ea typeface="Cambria"/>
              </a:rPr>
              <a:t>241 DAYS</a:t>
            </a:r>
            <a:endParaRPr b="0" lang="en-US" sz="2800" strike="noStrike" u="none">
              <a:solidFill>
                <a:srgbClr val="000000"/>
              </a:solidFill>
              <a:effectLst/>
              <a:uFillTx/>
              <a:latin typeface="Arial"/>
            </a:endParaRPr>
          </a:p>
        </p:txBody>
      </p:sp>
      <p:sp>
        <p:nvSpPr>
          <p:cNvPr id="169" name="Text 5"/>
          <p:cNvSpPr/>
          <p:nvPr/>
        </p:nvSpPr>
        <p:spPr>
          <a:xfrm>
            <a:off x="8101440" y="2423160"/>
            <a:ext cx="2925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c9d8e8"/>
                </a:solidFill>
                <a:effectLst/>
                <a:uFillTx/>
                <a:latin typeface="Arial"/>
                <a:ea typeface="Arial"/>
              </a:rPr>
              <a:t>largest observed purchase gap</a:t>
            </a:r>
            <a:endParaRPr b="0" lang="en-US" sz="1050" strike="noStrike" u="none">
              <a:solidFill>
                <a:srgbClr val="000000"/>
              </a:solidFill>
              <a:effectLst/>
              <a:uFillTx/>
              <a:latin typeface="Arial"/>
            </a:endParaRPr>
          </a:p>
        </p:txBody>
      </p:sp>
      <p:sp>
        <p:nvSpPr>
          <p:cNvPr id="170" name="Shape 6"/>
          <p:cNvSpPr/>
          <p:nvPr/>
        </p:nvSpPr>
        <p:spPr>
          <a:xfrm>
            <a:off x="7818120" y="3246120"/>
            <a:ext cx="3565800" cy="2605680"/>
          </a:xfrm>
          <a:prstGeom prst="roundRect">
            <a:avLst>
              <a:gd name="adj" fmla="val 5614"/>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71" name="Text 7"/>
          <p:cNvSpPr/>
          <p:nvPr/>
        </p:nvSpPr>
        <p:spPr>
          <a:xfrm>
            <a:off x="8101440" y="3493080"/>
            <a:ext cx="28800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008c95"/>
                </a:solidFill>
                <a:effectLst/>
                <a:uFillTx/>
                <a:latin typeface="Arial"/>
                <a:ea typeface="Arial"/>
              </a:rPr>
              <a:t>Interpretation</a:t>
            </a:r>
            <a:endParaRPr b="0" lang="en-US" sz="1000" strike="noStrike" u="none">
              <a:solidFill>
                <a:srgbClr val="000000"/>
              </a:solidFill>
              <a:effectLst/>
              <a:uFillTx/>
              <a:latin typeface="Arial"/>
            </a:endParaRPr>
          </a:p>
        </p:txBody>
      </p:sp>
      <p:sp>
        <p:nvSpPr>
          <p:cNvPr id="172" name="Text 8"/>
          <p:cNvSpPr/>
          <p:nvPr/>
        </p:nvSpPr>
        <p:spPr>
          <a:xfrm>
            <a:off x="8101440" y="3822120"/>
            <a:ext cx="2880000" cy="16639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200" strike="noStrike" u="none">
                <a:solidFill>
                  <a:srgbClr val="152238"/>
                </a:solidFill>
                <a:effectLst/>
                <a:uFillTx/>
                <a:latin typeface="Arial"/>
                <a:ea typeface="Arial"/>
              </a:rPr>
              <a:t>Long gaps may signal:</a:t>
            </a:r>
            <a:endParaRPr b="0" lang="en-US" sz="1200" strike="noStrike" u="none">
              <a:solidFill>
                <a:srgbClr val="000000"/>
              </a:solidFill>
              <a:effectLst/>
              <a:uFillTx/>
              <a:latin typeface="Arial"/>
            </a:endParaRPr>
          </a:p>
          <a:p>
            <a:pPr defTabSz="914400">
              <a:lnSpc>
                <a:spcPct val="100000"/>
              </a:lnSpc>
              <a:tabLst>
                <a:tab algn="l" pos="0"/>
              </a:tabLst>
            </a:pPr>
            <a:r>
              <a:rPr b="0" lang="en-US" sz="1200" strike="noStrike" u="none">
                <a:solidFill>
                  <a:srgbClr val="152238"/>
                </a:solidFill>
                <a:effectLst/>
                <a:uFillTx/>
                <a:latin typeface="Arial"/>
                <a:ea typeface="Arial"/>
              </a:rPr>
              <a:t>• lapsed customers</a:t>
            </a:r>
            <a:endParaRPr b="0" lang="en-US" sz="1200" strike="noStrike" u="none">
              <a:solidFill>
                <a:srgbClr val="000000"/>
              </a:solidFill>
              <a:effectLst/>
              <a:uFillTx/>
              <a:latin typeface="Arial"/>
            </a:endParaRPr>
          </a:p>
          <a:p>
            <a:pPr defTabSz="914400">
              <a:lnSpc>
                <a:spcPct val="100000"/>
              </a:lnSpc>
              <a:tabLst>
                <a:tab algn="l" pos="0"/>
              </a:tabLst>
            </a:pPr>
            <a:r>
              <a:rPr b="0" lang="en-US" sz="1200" strike="noStrike" u="none">
                <a:solidFill>
                  <a:srgbClr val="152238"/>
                </a:solidFill>
                <a:effectLst/>
                <a:uFillTx/>
                <a:latin typeface="Arial"/>
                <a:ea typeface="Arial"/>
              </a:rPr>
              <a:t>• seasonal buying</a:t>
            </a:r>
            <a:endParaRPr b="0" lang="en-US" sz="1200" strike="noStrike" u="none">
              <a:solidFill>
                <a:srgbClr val="000000"/>
              </a:solidFill>
              <a:effectLst/>
              <a:uFillTx/>
              <a:latin typeface="Arial"/>
            </a:endParaRPr>
          </a:p>
          <a:p>
            <a:pPr defTabSz="914400">
              <a:lnSpc>
                <a:spcPct val="100000"/>
              </a:lnSpc>
              <a:tabLst>
                <a:tab algn="l" pos="0"/>
              </a:tabLst>
            </a:pPr>
            <a:r>
              <a:rPr b="0" lang="en-US" sz="1200" strike="noStrike" u="none">
                <a:solidFill>
                  <a:srgbClr val="152238"/>
                </a:solidFill>
                <a:effectLst/>
                <a:uFillTx/>
                <a:latin typeface="Arial"/>
                <a:ea typeface="Arial"/>
              </a:rPr>
              <a:t>• unmet needs or weak re-engagement</a:t>
            </a:r>
            <a:endParaRPr b="0" lang="en-US" sz="1200" strike="noStrike" u="none">
              <a:solidFill>
                <a:srgbClr val="000000"/>
              </a:solidFill>
              <a:effectLst/>
              <a:uFillTx/>
              <a:latin typeface="Arial"/>
            </a:endParaRPr>
          </a:p>
          <a:p>
            <a:pPr defTabSz="914400">
              <a:lnSpc>
                <a:spcPct val="100000"/>
              </a:lnSpc>
              <a:tabLst>
                <a:tab algn="l" pos="0"/>
              </a:tabLst>
            </a:pPr>
            <a:endParaRPr b="0" lang="en-US" sz="1200" strike="noStrike" u="none">
              <a:solidFill>
                <a:srgbClr val="000000"/>
              </a:solidFill>
              <a:effectLst/>
              <a:uFillTx/>
              <a:latin typeface="Arial"/>
            </a:endParaRPr>
          </a:p>
          <a:p>
            <a:pPr defTabSz="914400">
              <a:lnSpc>
                <a:spcPct val="100000"/>
              </a:lnSpc>
              <a:tabLst>
                <a:tab algn="l" pos="0"/>
              </a:tabLst>
            </a:pPr>
            <a:r>
              <a:rPr b="0" lang="en-US" sz="1200" strike="noStrike" u="none">
                <a:solidFill>
                  <a:srgbClr val="152238"/>
                </a:solidFill>
                <a:effectLst/>
                <a:uFillTx/>
                <a:latin typeface="Arial"/>
                <a:ea typeface="Arial"/>
              </a:rPr>
              <a:t>Use the metric to prioritize retention analysis rather than treating every customer the same.</a:t>
            </a:r>
            <a:endParaRPr b="0" lang="en-US" sz="1200" strike="noStrike" u="none">
              <a:solidFill>
                <a:srgbClr val="000000"/>
              </a:solidFill>
              <a:effectLst/>
              <a:uFillTx/>
              <a:latin typeface="Arial"/>
            </a:endParaRPr>
          </a:p>
        </p:txBody>
      </p:sp>
      <p:sp>
        <p:nvSpPr>
          <p:cNvPr id="173" name="Text 9"/>
          <p:cNvSpPr/>
          <p:nvPr/>
        </p:nvSpPr>
        <p:spPr>
          <a:xfrm>
            <a:off x="658440" y="5925240"/>
            <a:ext cx="68576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950" strike="noStrike" u="none">
                <a:solidFill>
                  <a:srgbClr val="667085"/>
                </a:solidFill>
                <a:effectLst/>
                <a:uFillTx/>
                <a:latin typeface="Arial"/>
                <a:ea typeface="Arial"/>
              </a:rPr>
              <a:t>Top 10 customers by maximum gap • days</a:t>
            </a:r>
            <a:endParaRPr b="0" lang="en-US" sz="950" strike="noStrike" u="none">
              <a:solidFill>
                <a:srgbClr val="000000"/>
              </a:solidFill>
              <a:effectLst/>
              <a:uFillTx/>
              <a:latin typeface="Arial"/>
            </a:endParaRPr>
          </a:p>
        </p:txBody>
      </p:sp>
      <p:sp>
        <p:nvSpPr>
          <p:cNvPr id="174" name="PlaceHolder 1"/>
          <p:cNvSpPr>
            <a:spLocks noGrp="1"/>
          </p:cNvSpPr>
          <p:nvPr>
            <p:ph type="sldNum" idx="9"/>
          </p:nvPr>
        </p:nvSpPr>
        <p:spPr>
          <a:xfrm>
            <a:off x="11685960" y="6464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trike="noStrike" u="none">
                <a:solidFill>
                  <a:srgbClr val="7a8595"/>
                </a:solidFill>
                <a:effectLst/>
                <a:uFillTx/>
                <a:latin typeface="Arial"/>
                <a:ea typeface="Arial"/>
              </a:defRPr>
            </a:lvl1pPr>
          </a:lstStyle>
          <a:p>
            <a:pPr indent="0" defTabSz="914400">
              <a:lnSpc>
                <a:spcPct val="100000"/>
              </a:lnSpc>
              <a:buNone/>
            </a:pPr>
            <a:fld id="{2B923640-F8C3-4F8B-9D33-909188302D64}" type="slidenum">
              <a:rPr b="0" lang="en-US" sz="800" strike="noStrike" u="none">
                <a:solidFill>
                  <a:srgbClr val="7a8595"/>
                </a:solidFill>
                <a:effectLst/>
                <a:uFillTx/>
                <a:latin typeface="Arial"/>
                <a:ea typeface="Arial"/>
              </a:rPr>
              <a:t>6</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Text 0"/>
          <p:cNvSpPr/>
          <p:nvPr/>
        </p:nvSpPr>
        <p:spPr>
          <a:xfrm>
            <a:off x="548640" y="347400"/>
            <a:ext cx="2559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1" strike="noStrike" u="none">
                <a:solidFill>
                  <a:srgbClr val="008c95"/>
                </a:solidFill>
                <a:effectLst/>
                <a:uFillTx/>
                <a:latin typeface="Arial"/>
                <a:ea typeface="Arial"/>
              </a:rPr>
              <a:t>06 • ANALYSIS 2</a:t>
            </a:r>
            <a:endParaRPr b="0" lang="en-US" sz="900" strike="noStrike" u="none">
              <a:solidFill>
                <a:srgbClr val="000000"/>
              </a:solidFill>
              <a:effectLst/>
              <a:uFillTx/>
              <a:latin typeface="Arial"/>
            </a:endParaRPr>
          </a:p>
        </p:txBody>
      </p:sp>
      <p:sp>
        <p:nvSpPr>
          <p:cNvPr id="176" name="Text 1"/>
          <p:cNvSpPr/>
          <p:nvPr/>
        </p:nvSpPr>
        <p:spPr>
          <a:xfrm>
            <a:off x="548640" y="640080"/>
            <a:ext cx="10606680" cy="566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14213d"/>
                </a:solidFill>
                <a:effectLst/>
                <a:uFillTx/>
                <a:latin typeface="Cambria"/>
                <a:ea typeface="Cambria"/>
              </a:rPr>
              <a:t>High sales + low inventory</a:t>
            </a:r>
            <a:endParaRPr b="0" lang="en-US" sz="2900" strike="noStrike" u="none">
              <a:solidFill>
                <a:srgbClr val="000000"/>
              </a:solidFill>
              <a:effectLst/>
              <a:uFillTx/>
              <a:latin typeface="Arial"/>
            </a:endParaRPr>
          </a:p>
        </p:txBody>
      </p:sp>
      <p:sp>
        <p:nvSpPr>
          <p:cNvPr id="177" name="Text 2"/>
          <p:cNvSpPr/>
          <p:nvPr/>
        </p:nvSpPr>
        <p:spPr>
          <a:xfrm>
            <a:off x="548640" y="1243440"/>
            <a:ext cx="106066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667085"/>
                </a:solidFill>
                <a:effectLst/>
                <a:uFillTx/>
                <a:latin typeface="Arial"/>
                <a:ea typeface="Arial"/>
              </a:rPr>
              <a:t>Identify products selling above average while carrying below-average inventory.</a:t>
            </a:r>
            <a:endParaRPr b="0" lang="en-US" sz="1250" strike="noStrike" u="none">
              <a:solidFill>
                <a:srgbClr val="000000"/>
              </a:solidFill>
              <a:effectLst/>
              <a:uFillTx/>
              <a:latin typeface="Arial"/>
            </a:endParaRPr>
          </a:p>
        </p:txBody>
      </p:sp>
      <p:sp>
        <p:nvSpPr>
          <p:cNvPr id="178" name="Shape 3"/>
          <p:cNvSpPr/>
          <p:nvPr/>
        </p:nvSpPr>
        <p:spPr>
          <a:xfrm>
            <a:off x="594360" y="1755720"/>
            <a:ext cx="6903360" cy="3657240"/>
          </a:xfrm>
          <a:prstGeom prst="roundRect">
            <a:avLst>
              <a:gd name="adj" fmla="val 3750"/>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79" name="Text 4"/>
          <p:cNvSpPr/>
          <p:nvPr/>
        </p:nvSpPr>
        <p:spPr>
          <a:xfrm>
            <a:off x="758880" y="1901880"/>
            <a:ext cx="6574320" cy="340128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970" strike="noStrike" u="none">
                <a:solidFill>
                  <a:srgbClr val="eaf0f7"/>
                </a:solidFill>
                <a:effectLst/>
                <a:uFillTx/>
                <a:latin typeface="Courier New"/>
                <a:ea typeface="Courier New"/>
              </a:rPr>
              <a:t>WITH Product_Sales AS (</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SELECT Product_Id, SUM(Quantity) AS Units_Sold,</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SUM(Unit_Price * Quantity) AS Revenue</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FROM order_items GROUP BY Product_Id</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Product_Inventory AS (</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SELECT Product_Id, SUM(Product_Inventory) AS Inventory_Units</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FROM inventory GROUP BY Product_Id</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Product_Analytics AS (</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SELECT p.Product_Id, p.Product_Name,</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ps.Units_Sold, ps.Revenue,</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COALESCE(pi.Inventory_Units,0) AS Inventory_Units</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FROM products p</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INNER JOIN Product_Sales ps ON p.Product_Id=ps.Product_Id</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LEFT JOIN Product_Inventory pi ON p.Product_Id=pi.Product_Id</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Thresholds AS (</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SELECT AVG(Units_Sold) AS Avg_Units_Sold,</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AVG(Inventory_Units) AS Avg_Inventory</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FROM Product_Analytics</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SELECT ... FROM Product_Analytics pa CROSS JOIN Thresholds t</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WHERE pa.Units_Sold &gt; t.Avg_Units_Sold</a:t>
            </a:r>
            <a:endParaRPr b="0" lang="en-US" sz="970" strike="noStrike" u="none">
              <a:solidFill>
                <a:srgbClr val="000000"/>
              </a:solidFill>
              <a:effectLst/>
              <a:uFillTx/>
              <a:latin typeface="Arial"/>
            </a:endParaRPr>
          </a:p>
          <a:p>
            <a:pPr defTabSz="914400">
              <a:lnSpc>
                <a:spcPct val="100000"/>
              </a:lnSpc>
              <a:tabLst>
                <a:tab algn="l" pos="0"/>
              </a:tabLst>
            </a:pPr>
            <a:r>
              <a:rPr b="0" lang="en-US" sz="970" strike="noStrike" u="none">
                <a:solidFill>
                  <a:srgbClr val="eaf0f7"/>
                </a:solidFill>
                <a:effectLst/>
                <a:uFillTx/>
                <a:latin typeface="Courier New"/>
                <a:ea typeface="Courier New"/>
              </a:rPr>
              <a:t>  AND pa.Inventory_Units &lt; t.Avg_Inventory;</a:t>
            </a:r>
            <a:endParaRPr b="0" lang="en-US" sz="970" strike="noStrike" u="none">
              <a:solidFill>
                <a:srgbClr val="000000"/>
              </a:solidFill>
              <a:effectLst/>
              <a:uFillTx/>
              <a:latin typeface="Arial"/>
            </a:endParaRPr>
          </a:p>
        </p:txBody>
      </p:sp>
      <p:sp>
        <p:nvSpPr>
          <p:cNvPr id="180" name="Shape 5"/>
          <p:cNvSpPr/>
          <p:nvPr/>
        </p:nvSpPr>
        <p:spPr>
          <a:xfrm>
            <a:off x="7818120" y="1755720"/>
            <a:ext cx="3565800" cy="3657240"/>
          </a:xfrm>
          <a:prstGeom prst="roundRect">
            <a:avLst>
              <a:gd name="adj" fmla="val 410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81" name="Text 6"/>
          <p:cNvSpPr/>
          <p:nvPr/>
        </p:nvSpPr>
        <p:spPr>
          <a:xfrm>
            <a:off x="8092440" y="1993320"/>
            <a:ext cx="292572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008c95"/>
                </a:solidFill>
                <a:effectLst/>
                <a:uFillTx/>
                <a:latin typeface="Arial"/>
                <a:ea typeface="Arial"/>
              </a:rPr>
              <a:t>THRESHOLD LOGIC</a:t>
            </a:r>
            <a:endParaRPr b="0" lang="en-US" sz="1000" strike="noStrike" u="none">
              <a:solidFill>
                <a:srgbClr val="000000"/>
              </a:solidFill>
              <a:effectLst/>
              <a:uFillTx/>
              <a:latin typeface="Arial"/>
            </a:endParaRPr>
          </a:p>
        </p:txBody>
      </p:sp>
      <p:sp>
        <p:nvSpPr>
          <p:cNvPr id="182" name="Shape 7"/>
          <p:cNvSpPr/>
          <p:nvPr/>
        </p:nvSpPr>
        <p:spPr>
          <a:xfrm>
            <a:off x="8028360" y="2432160"/>
            <a:ext cx="3090240" cy="712800"/>
          </a:xfrm>
          <a:prstGeom prst="roundRect">
            <a:avLst>
              <a:gd name="adj" fmla="val 205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83" name="Shape 8"/>
          <p:cNvSpPr/>
          <p:nvPr/>
        </p:nvSpPr>
        <p:spPr>
          <a:xfrm>
            <a:off x="8211240" y="2615040"/>
            <a:ext cx="347040" cy="34704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84" name="Text 9"/>
          <p:cNvSpPr/>
          <p:nvPr/>
        </p:nvSpPr>
        <p:spPr>
          <a:xfrm>
            <a:off x="8211240" y="263340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1</a:t>
            </a:r>
            <a:endParaRPr b="0" lang="en-US" sz="1000" strike="noStrike" u="none">
              <a:solidFill>
                <a:srgbClr val="000000"/>
              </a:solidFill>
              <a:effectLst/>
              <a:uFillTx/>
              <a:latin typeface="Arial"/>
            </a:endParaRPr>
          </a:p>
        </p:txBody>
      </p:sp>
      <p:sp>
        <p:nvSpPr>
          <p:cNvPr id="185" name="Text 10"/>
          <p:cNvSpPr/>
          <p:nvPr/>
        </p:nvSpPr>
        <p:spPr>
          <a:xfrm>
            <a:off x="8668440" y="2587680"/>
            <a:ext cx="22672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Sales threshold</a:t>
            </a:r>
            <a:endParaRPr b="0" lang="en-US" sz="1600" strike="noStrike" u="none">
              <a:solidFill>
                <a:srgbClr val="000000"/>
              </a:solidFill>
              <a:effectLst/>
              <a:uFillTx/>
              <a:latin typeface="Arial"/>
            </a:endParaRPr>
          </a:p>
        </p:txBody>
      </p:sp>
      <p:sp>
        <p:nvSpPr>
          <p:cNvPr id="186" name="Text 11"/>
          <p:cNvSpPr/>
          <p:nvPr/>
        </p:nvSpPr>
        <p:spPr>
          <a:xfrm>
            <a:off x="8668440" y="2935080"/>
            <a:ext cx="2267280" cy="100080"/>
          </a:xfrm>
          <a:prstGeom prst="rect">
            <a:avLst/>
          </a:prstGeom>
          <a:noFill/>
          <a:ln w="0">
            <a:noFill/>
          </a:ln>
        </p:spPr>
        <p:style>
          <a:lnRef idx="0"/>
          <a:fillRef idx="0"/>
          <a:effectRef idx="0"/>
          <a:fontRef idx="minor"/>
        </p:style>
        <p:txBody>
          <a:bodyPr lIns="0" rIns="0" tIns="0" bIns="0" anchor="t">
            <a:normAutofit fontScale="55000" lnSpcReduction="19999"/>
          </a:bodyPr>
          <a:p>
            <a:pPr defTabSz="914400">
              <a:lnSpc>
                <a:spcPct val="100000"/>
              </a:lnSpc>
              <a:tabLst>
                <a:tab algn="l" pos="0"/>
              </a:tabLst>
            </a:pPr>
            <a:r>
              <a:rPr b="0" lang="en-US" sz="1150" strike="noStrike" u="none">
                <a:solidFill>
                  <a:srgbClr val="667085"/>
                </a:solidFill>
                <a:effectLst/>
                <a:uFillTx/>
                <a:latin typeface="Arial"/>
                <a:ea typeface="Arial"/>
              </a:rPr>
              <a:t>AVG(Units_Sold) defines the high-sales threshold.</a:t>
            </a:r>
            <a:endParaRPr b="0" lang="en-US" sz="1150" strike="noStrike" u="none">
              <a:solidFill>
                <a:srgbClr val="000000"/>
              </a:solidFill>
              <a:effectLst/>
              <a:uFillTx/>
              <a:latin typeface="Arial"/>
            </a:endParaRPr>
          </a:p>
        </p:txBody>
      </p:sp>
      <p:sp>
        <p:nvSpPr>
          <p:cNvPr id="187" name="Shape 12"/>
          <p:cNvSpPr/>
          <p:nvPr/>
        </p:nvSpPr>
        <p:spPr>
          <a:xfrm>
            <a:off x="8028360" y="3310200"/>
            <a:ext cx="3090240" cy="712800"/>
          </a:xfrm>
          <a:prstGeom prst="roundRect">
            <a:avLst>
              <a:gd name="adj" fmla="val 205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88" name="Shape 13"/>
          <p:cNvSpPr/>
          <p:nvPr/>
        </p:nvSpPr>
        <p:spPr>
          <a:xfrm>
            <a:off x="8211240" y="3493080"/>
            <a:ext cx="347040" cy="347040"/>
          </a:xfrm>
          <a:prstGeom prst="ellipse">
            <a:avLst/>
          </a:prstGeom>
          <a:solidFill>
            <a:srgbClr val="f4a261"/>
          </a:solidFill>
          <a:ln w="12700">
            <a:solidFill>
              <a:srgbClr val="f4a261">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89" name="Text 14"/>
          <p:cNvSpPr/>
          <p:nvPr/>
        </p:nvSpPr>
        <p:spPr>
          <a:xfrm>
            <a:off x="8211240" y="351144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2</a:t>
            </a:r>
            <a:endParaRPr b="0" lang="en-US" sz="1000" strike="noStrike" u="none">
              <a:solidFill>
                <a:srgbClr val="000000"/>
              </a:solidFill>
              <a:effectLst/>
              <a:uFillTx/>
              <a:latin typeface="Arial"/>
            </a:endParaRPr>
          </a:p>
        </p:txBody>
      </p:sp>
      <p:sp>
        <p:nvSpPr>
          <p:cNvPr id="190" name="Text 15"/>
          <p:cNvSpPr/>
          <p:nvPr/>
        </p:nvSpPr>
        <p:spPr>
          <a:xfrm>
            <a:off x="8668440" y="3465720"/>
            <a:ext cx="22672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Inventory threshold</a:t>
            </a:r>
            <a:endParaRPr b="0" lang="en-US" sz="1600" strike="noStrike" u="none">
              <a:solidFill>
                <a:srgbClr val="000000"/>
              </a:solidFill>
              <a:effectLst/>
              <a:uFillTx/>
              <a:latin typeface="Arial"/>
            </a:endParaRPr>
          </a:p>
        </p:txBody>
      </p:sp>
      <p:sp>
        <p:nvSpPr>
          <p:cNvPr id="191" name="Text 16"/>
          <p:cNvSpPr/>
          <p:nvPr/>
        </p:nvSpPr>
        <p:spPr>
          <a:xfrm>
            <a:off x="8668440" y="3813120"/>
            <a:ext cx="2267280" cy="100080"/>
          </a:xfrm>
          <a:prstGeom prst="rect">
            <a:avLst/>
          </a:prstGeom>
          <a:noFill/>
          <a:ln w="0">
            <a:noFill/>
          </a:ln>
        </p:spPr>
        <p:style>
          <a:lnRef idx="0"/>
          <a:fillRef idx="0"/>
          <a:effectRef idx="0"/>
          <a:fontRef idx="minor"/>
        </p:style>
        <p:txBody>
          <a:bodyPr lIns="0" rIns="0" tIns="0" bIns="0" anchor="t">
            <a:normAutofit fontScale="55000" lnSpcReduction="19999"/>
          </a:bodyPr>
          <a:p>
            <a:pPr defTabSz="914400">
              <a:lnSpc>
                <a:spcPct val="100000"/>
              </a:lnSpc>
              <a:tabLst>
                <a:tab algn="l" pos="0"/>
              </a:tabLst>
            </a:pPr>
            <a:r>
              <a:rPr b="0" lang="en-US" sz="1150" strike="noStrike" u="none">
                <a:solidFill>
                  <a:srgbClr val="667085"/>
                </a:solidFill>
                <a:effectLst/>
                <a:uFillTx/>
                <a:latin typeface="Arial"/>
                <a:ea typeface="Arial"/>
              </a:rPr>
              <a:t>AVG(Inventory_Units) defines the low-stock threshold.</a:t>
            </a:r>
            <a:endParaRPr b="0" lang="en-US" sz="1150" strike="noStrike" u="none">
              <a:solidFill>
                <a:srgbClr val="000000"/>
              </a:solidFill>
              <a:effectLst/>
              <a:uFillTx/>
              <a:latin typeface="Arial"/>
            </a:endParaRPr>
          </a:p>
        </p:txBody>
      </p:sp>
      <p:sp>
        <p:nvSpPr>
          <p:cNvPr id="192" name="Shape 17"/>
          <p:cNvSpPr/>
          <p:nvPr/>
        </p:nvSpPr>
        <p:spPr>
          <a:xfrm>
            <a:off x="8028360" y="4187880"/>
            <a:ext cx="3090240" cy="712800"/>
          </a:xfrm>
          <a:prstGeom prst="roundRect">
            <a:avLst>
              <a:gd name="adj" fmla="val 205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93" name="Shape 18"/>
          <p:cNvSpPr/>
          <p:nvPr/>
        </p:nvSpPr>
        <p:spPr>
          <a:xfrm>
            <a:off x="8211240" y="4370760"/>
            <a:ext cx="347040" cy="347040"/>
          </a:xfrm>
          <a:prstGeom prst="ellipse">
            <a:avLst/>
          </a:prstGeom>
          <a:solidFill>
            <a:srgbClr val="36c5d8"/>
          </a:solidFill>
          <a:ln w="12700">
            <a:solidFill>
              <a:srgbClr val="36c5d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194" name="Text 19"/>
          <p:cNvSpPr/>
          <p:nvPr/>
        </p:nvSpPr>
        <p:spPr>
          <a:xfrm>
            <a:off x="8211240" y="438912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3</a:t>
            </a:r>
            <a:endParaRPr b="0" lang="en-US" sz="1000" strike="noStrike" u="none">
              <a:solidFill>
                <a:srgbClr val="000000"/>
              </a:solidFill>
              <a:effectLst/>
              <a:uFillTx/>
              <a:latin typeface="Arial"/>
            </a:endParaRPr>
          </a:p>
        </p:txBody>
      </p:sp>
      <p:sp>
        <p:nvSpPr>
          <p:cNvPr id="195" name="Text 20"/>
          <p:cNvSpPr/>
          <p:nvPr/>
        </p:nvSpPr>
        <p:spPr>
          <a:xfrm>
            <a:off x="8668440" y="4343400"/>
            <a:ext cx="22672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Missing inventory</a:t>
            </a:r>
            <a:endParaRPr b="0" lang="en-US" sz="1600" strike="noStrike" u="none">
              <a:solidFill>
                <a:srgbClr val="000000"/>
              </a:solidFill>
              <a:effectLst/>
              <a:uFillTx/>
              <a:latin typeface="Arial"/>
            </a:endParaRPr>
          </a:p>
        </p:txBody>
      </p:sp>
      <p:sp>
        <p:nvSpPr>
          <p:cNvPr id="196" name="Text 21"/>
          <p:cNvSpPr/>
          <p:nvPr/>
        </p:nvSpPr>
        <p:spPr>
          <a:xfrm>
            <a:off x="8668440" y="4690800"/>
            <a:ext cx="2267280" cy="100080"/>
          </a:xfrm>
          <a:prstGeom prst="rect">
            <a:avLst/>
          </a:prstGeom>
          <a:noFill/>
          <a:ln w="0">
            <a:noFill/>
          </a:ln>
        </p:spPr>
        <p:style>
          <a:lnRef idx="0"/>
          <a:fillRef idx="0"/>
          <a:effectRef idx="0"/>
          <a:fontRef idx="minor"/>
        </p:style>
        <p:txBody>
          <a:bodyPr lIns="0" rIns="0" tIns="0" bIns="0" anchor="t">
            <a:normAutofit fontScale="70000" lnSpcReduction="19999"/>
          </a:bodyPr>
          <a:p>
            <a:pPr defTabSz="914400">
              <a:lnSpc>
                <a:spcPct val="100000"/>
              </a:lnSpc>
              <a:tabLst>
                <a:tab algn="l" pos="0"/>
              </a:tabLst>
            </a:pPr>
            <a:r>
              <a:rPr b="0" lang="en-US" sz="1150" strike="noStrike" u="none">
                <a:solidFill>
                  <a:srgbClr val="667085"/>
                </a:solidFill>
                <a:effectLst/>
                <a:uFillTx/>
                <a:latin typeface="Arial"/>
                <a:ea typeface="Arial"/>
              </a:rPr>
              <a:t>COALESCE treats missing inventory as zero.</a:t>
            </a:r>
            <a:endParaRPr b="0" lang="en-US" sz="1150" strike="noStrike" u="none">
              <a:solidFill>
                <a:srgbClr val="000000"/>
              </a:solidFill>
              <a:effectLst/>
              <a:uFillTx/>
              <a:latin typeface="Arial"/>
            </a:endParaRPr>
          </a:p>
        </p:txBody>
      </p:sp>
      <p:sp>
        <p:nvSpPr>
          <p:cNvPr id="197" name="Text 22"/>
          <p:cNvSpPr/>
          <p:nvPr/>
        </p:nvSpPr>
        <p:spPr>
          <a:xfrm>
            <a:off x="8028360" y="5230440"/>
            <a:ext cx="2998800" cy="25560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1" lang="en-US" sz="1200" strike="noStrike" u="none">
                <a:solidFill>
                  <a:srgbClr val="14213d"/>
                </a:solidFill>
                <a:effectLst/>
                <a:uFillTx/>
                <a:latin typeface="Arial"/>
                <a:ea typeface="Arial"/>
              </a:rPr>
              <a:t>Result: 12 products meet both conditions.</a:t>
            </a:r>
            <a:endParaRPr b="0" lang="en-US" sz="1200" strike="noStrike" u="none">
              <a:solidFill>
                <a:srgbClr val="000000"/>
              </a:solidFill>
              <a:effectLst/>
              <a:uFillTx/>
              <a:latin typeface="Arial"/>
            </a:endParaRPr>
          </a:p>
        </p:txBody>
      </p:sp>
      <p:sp>
        <p:nvSpPr>
          <p:cNvPr id="198" name="Shape 23"/>
          <p:cNvSpPr/>
          <p:nvPr/>
        </p:nvSpPr>
        <p:spPr>
          <a:xfrm>
            <a:off x="594360" y="5596200"/>
            <a:ext cx="324576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9" name="Shape 24"/>
          <p:cNvSpPr/>
          <p:nvPr/>
        </p:nvSpPr>
        <p:spPr>
          <a:xfrm>
            <a:off x="758880" y="5760720"/>
            <a:ext cx="200880" cy="20088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0" name="Text 25"/>
          <p:cNvSpPr/>
          <p:nvPr/>
        </p:nvSpPr>
        <p:spPr>
          <a:xfrm>
            <a:off x="1051560" y="5733360"/>
            <a:ext cx="265140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39</a:t>
            </a:r>
            <a:endParaRPr b="0" lang="en-US" sz="2700" strike="noStrike" u="none">
              <a:solidFill>
                <a:srgbClr val="000000"/>
              </a:solidFill>
              <a:effectLst/>
              <a:uFillTx/>
              <a:latin typeface="Arial"/>
            </a:endParaRPr>
          </a:p>
        </p:txBody>
      </p:sp>
      <p:sp>
        <p:nvSpPr>
          <p:cNvPr id="201" name="Text 26"/>
          <p:cNvSpPr/>
          <p:nvPr/>
        </p:nvSpPr>
        <p:spPr>
          <a:xfrm>
            <a:off x="1051560" y="6199560"/>
            <a:ext cx="26056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units sold — Boy’s Coat (Brown)</a:t>
            </a:r>
            <a:endParaRPr b="0" lang="en-US" sz="1050" strike="noStrike" u="none">
              <a:solidFill>
                <a:srgbClr val="000000"/>
              </a:solidFill>
              <a:effectLst/>
              <a:uFillTx/>
              <a:latin typeface="Arial"/>
            </a:endParaRPr>
          </a:p>
        </p:txBody>
      </p:sp>
      <p:sp>
        <p:nvSpPr>
          <p:cNvPr id="202" name="Shape 27"/>
          <p:cNvSpPr/>
          <p:nvPr/>
        </p:nvSpPr>
        <p:spPr>
          <a:xfrm>
            <a:off x="3977640" y="5596200"/>
            <a:ext cx="324576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3" name="Shape 28"/>
          <p:cNvSpPr/>
          <p:nvPr/>
        </p:nvSpPr>
        <p:spPr>
          <a:xfrm>
            <a:off x="4142160" y="5760720"/>
            <a:ext cx="200880" cy="200880"/>
          </a:xfrm>
          <a:prstGeom prst="ellipse">
            <a:avLst/>
          </a:prstGeom>
          <a:solidFill>
            <a:srgbClr val="d95d39"/>
          </a:solidFill>
          <a:ln w="12700">
            <a:solidFill>
              <a:srgbClr val="d95d39">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4" name="Text 29"/>
          <p:cNvSpPr/>
          <p:nvPr/>
        </p:nvSpPr>
        <p:spPr>
          <a:xfrm>
            <a:off x="4434840" y="5733360"/>
            <a:ext cx="265140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0</a:t>
            </a:r>
            <a:endParaRPr b="0" lang="en-US" sz="2700" strike="noStrike" u="none">
              <a:solidFill>
                <a:srgbClr val="000000"/>
              </a:solidFill>
              <a:effectLst/>
              <a:uFillTx/>
              <a:latin typeface="Arial"/>
            </a:endParaRPr>
          </a:p>
        </p:txBody>
      </p:sp>
      <p:sp>
        <p:nvSpPr>
          <p:cNvPr id="205" name="Text 30"/>
          <p:cNvSpPr/>
          <p:nvPr/>
        </p:nvSpPr>
        <p:spPr>
          <a:xfrm>
            <a:off x="4434840" y="6199560"/>
            <a:ext cx="26056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inventory — Women’s Skirt (Green)</a:t>
            </a:r>
            <a:endParaRPr b="0" lang="en-US" sz="1050" strike="noStrike" u="none">
              <a:solidFill>
                <a:srgbClr val="000000"/>
              </a:solidFill>
              <a:effectLst/>
              <a:uFillTx/>
              <a:latin typeface="Arial"/>
            </a:endParaRPr>
          </a:p>
        </p:txBody>
      </p:sp>
      <p:sp>
        <p:nvSpPr>
          <p:cNvPr id="206" name="Shape 31"/>
          <p:cNvSpPr/>
          <p:nvPr/>
        </p:nvSpPr>
        <p:spPr>
          <a:xfrm>
            <a:off x="7360920" y="5596200"/>
            <a:ext cx="402300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7" name="Shape 32"/>
          <p:cNvSpPr/>
          <p:nvPr/>
        </p:nvSpPr>
        <p:spPr>
          <a:xfrm>
            <a:off x="7525440" y="5760720"/>
            <a:ext cx="200880" cy="200880"/>
          </a:xfrm>
          <a:prstGeom prst="ellipse">
            <a:avLst/>
          </a:prstGeom>
          <a:solidFill>
            <a:srgbClr val="f4a261"/>
          </a:solidFill>
          <a:ln w="12700">
            <a:solidFill>
              <a:srgbClr val="f4a261">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8" name="Text 33"/>
          <p:cNvSpPr/>
          <p:nvPr/>
        </p:nvSpPr>
        <p:spPr>
          <a:xfrm>
            <a:off x="7818120" y="5733360"/>
            <a:ext cx="342864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1,121.25</a:t>
            </a:r>
            <a:endParaRPr b="0" lang="en-US" sz="2700" strike="noStrike" u="none">
              <a:solidFill>
                <a:srgbClr val="000000"/>
              </a:solidFill>
              <a:effectLst/>
              <a:uFillTx/>
              <a:latin typeface="Arial"/>
            </a:endParaRPr>
          </a:p>
        </p:txBody>
      </p:sp>
      <p:sp>
        <p:nvSpPr>
          <p:cNvPr id="209" name="Text 34"/>
          <p:cNvSpPr/>
          <p:nvPr/>
        </p:nvSpPr>
        <p:spPr>
          <a:xfrm>
            <a:off x="7818120" y="6199560"/>
            <a:ext cx="33829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revenue — Girl’s Hoodie (White)</a:t>
            </a:r>
            <a:endParaRPr b="0" lang="en-US" sz="1050" strike="noStrike" u="none">
              <a:solidFill>
                <a:srgbClr val="000000"/>
              </a:solidFill>
              <a:effectLst/>
              <a:uFillTx/>
              <a:latin typeface="Arial"/>
            </a:endParaRPr>
          </a:p>
        </p:txBody>
      </p:sp>
      <p:sp>
        <p:nvSpPr>
          <p:cNvPr id="210" name="PlaceHolder 1"/>
          <p:cNvSpPr>
            <a:spLocks noGrp="1"/>
          </p:cNvSpPr>
          <p:nvPr>
            <p:ph type="sldNum" idx="10"/>
          </p:nvPr>
        </p:nvSpPr>
        <p:spPr>
          <a:xfrm>
            <a:off x="11685960" y="6464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trike="noStrike" u="none">
                <a:solidFill>
                  <a:srgbClr val="7a8595"/>
                </a:solidFill>
                <a:effectLst/>
                <a:uFillTx/>
                <a:latin typeface="Arial"/>
                <a:ea typeface="Arial"/>
              </a:defRPr>
            </a:lvl1pPr>
          </a:lstStyle>
          <a:p>
            <a:pPr indent="0" defTabSz="914400">
              <a:lnSpc>
                <a:spcPct val="100000"/>
              </a:lnSpc>
              <a:buNone/>
            </a:pPr>
            <a:fld id="{DAE21297-2BAB-44D9-94F3-2D610E7D297C}" type="slidenum">
              <a:rPr b="0" lang="en-US" sz="800" strike="noStrike" u="none">
                <a:solidFill>
                  <a:srgbClr val="7a8595"/>
                </a:solidFill>
                <a:effectLst/>
                <a:uFillTx/>
                <a:latin typeface="Arial"/>
                <a:ea typeface="Arial"/>
              </a:rPr>
              <a:t>7</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Text 0"/>
          <p:cNvSpPr/>
          <p:nvPr/>
        </p:nvSpPr>
        <p:spPr>
          <a:xfrm>
            <a:off x="548640" y="347400"/>
            <a:ext cx="2559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1" strike="noStrike" u="none">
                <a:solidFill>
                  <a:srgbClr val="008c95"/>
                </a:solidFill>
                <a:effectLst/>
                <a:uFillTx/>
                <a:latin typeface="Arial"/>
                <a:ea typeface="Arial"/>
              </a:rPr>
              <a:t>07 • ANALYSIS 2</a:t>
            </a:r>
            <a:endParaRPr b="0" lang="en-US" sz="900" strike="noStrike" u="none">
              <a:solidFill>
                <a:srgbClr val="000000"/>
              </a:solidFill>
              <a:effectLst/>
              <a:uFillTx/>
              <a:latin typeface="Arial"/>
            </a:endParaRPr>
          </a:p>
        </p:txBody>
      </p:sp>
      <p:sp>
        <p:nvSpPr>
          <p:cNvPr id="212" name="Text 1"/>
          <p:cNvSpPr/>
          <p:nvPr/>
        </p:nvSpPr>
        <p:spPr>
          <a:xfrm>
            <a:off x="548640" y="640080"/>
            <a:ext cx="10606680" cy="566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14213d"/>
                </a:solidFill>
                <a:effectLst/>
                <a:uFillTx/>
                <a:latin typeface="Cambria"/>
                <a:ea typeface="Cambria"/>
              </a:rPr>
              <a:t>The inventory watchlist</a:t>
            </a:r>
            <a:endParaRPr b="0" lang="en-US" sz="2900" strike="noStrike" u="none">
              <a:solidFill>
                <a:srgbClr val="000000"/>
              </a:solidFill>
              <a:effectLst/>
              <a:uFillTx/>
              <a:latin typeface="Arial"/>
            </a:endParaRPr>
          </a:p>
        </p:txBody>
      </p:sp>
      <p:sp>
        <p:nvSpPr>
          <p:cNvPr id="213" name="Text 2"/>
          <p:cNvSpPr/>
          <p:nvPr/>
        </p:nvSpPr>
        <p:spPr>
          <a:xfrm>
            <a:off x="548640" y="1243440"/>
            <a:ext cx="106066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667085"/>
                </a:solidFill>
                <a:effectLst/>
                <a:uFillTx/>
                <a:latin typeface="Arial"/>
                <a:ea typeface="Arial"/>
              </a:rPr>
              <a:t>High sales velocity combined with low stock highlights replenishment priorities.</a:t>
            </a:r>
            <a:endParaRPr b="0" lang="en-US" sz="1250" strike="noStrike" u="none">
              <a:solidFill>
                <a:srgbClr val="000000"/>
              </a:solidFill>
              <a:effectLst/>
              <a:uFillTx/>
              <a:latin typeface="Arial"/>
            </a:endParaRPr>
          </a:p>
        </p:txBody>
      </p:sp>
      <p:sp>
        <p:nvSpPr>
          <p:cNvPr id="214" name="Shape 3"/>
          <p:cNvSpPr/>
          <p:nvPr/>
        </p:nvSpPr>
        <p:spPr>
          <a:xfrm>
            <a:off x="594360" y="1764720"/>
            <a:ext cx="1919880" cy="411120"/>
          </a:xfrm>
          <a:prstGeom prst="roundRect">
            <a:avLst>
              <a:gd name="adj" fmla="val 22222"/>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15" name="Text 4"/>
          <p:cNvSpPr/>
          <p:nvPr/>
        </p:nvSpPr>
        <p:spPr>
          <a:xfrm>
            <a:off x="685800" y="1865520"/>
            <a:ext cx="173700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50" strike="noStrike" u="none">
                <a:solidFill>
                  <a:srgbClr val="ffffff"/>
                </a:solidFill>
                <a:effectLst/>
                <a:uFillTx/>
                <a:latin typeface="Arial"/>
                <a:ea typeface="Arial"/>
              </a:rPr>
              <a:t>Product</a:t>
            </a:r>
            <a:endParaRPr b="0" lang="en-US" sz="950" strike="noStrike" u="none">
              <a:solidFill>
                <a:srgbClr val="000000"/>
              </a:solidFill>
              <a:effectLst/>
              <a:uFillTx/>
              <a:latin typeface="Arial"/>
            </a:endParaRPr>
          </a:p>
        </p:txBody>
      </p:sp>
      <p:sp>
        <p:nvSpPr>
          <p:cNvPr id="216" name="Shape 5"/>
          <p:cNvSpPr/>
          <p:nvPr/>
        </p:nvSpPr>
        <p:spPr>
          <a:xfrm>
            <a:off x="2514600" y="1764720"/>
            <a:ext cx="1919880" cy="411120"/>
          </a:xfrm>
          <a:prstGeom prst="roundRect">
            <a:avLst>
              <a:gd name="adj" fmla="val 22222"/>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17" name="Text 6"/>
          <p:cNvSpPr/>
          <p:nvPr/>
        </p:nvSpPr>
        <p:spPr>
          <a:xfrm>
            <a:off x="2606040" y="1865520"/>
            <a:ext cx="173700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ffffff"/>
                </a:solidFill>
                <a:effectLst/>
                <a:uFillTx/>
                <a:latin typeface="Arial"/>
                <a:ea typeface="Arial"/>
              </a:rPr>
              <a:t>Units sold</a:t>
            </a:r>
            <a:endParaRPr b="0" lang="en-US" sz="950" strike="noStrike" u="none">
              <a:solidFill>
                <a:srgbClr val="000000"/>
              </a:solidFill>
              <a:effectLst/>
              <a:uFillTx/>
              <a:latin typeface="Arial"/>
            </a:endParaRPr>
          </a:p>
        </p:txBody>
      </p:sp>
      <p:sp>
        <p:nvSpPr>
          <p:cNvPr id="218" name="Shape 7"/>
          <p:cNvSpPr/>
          <p:nvPr/>
        </p:nvSpPr>
        <p:spPr>
          <a:xfrm>
            <a:off x="4572000" y="1764720"/>
            <a:ext cx="1279800" cy="411120"/>
          </a:xfrm>
          <a:prstGeom prst="roundRect">
            <a:avLst>
              <a:gd name="adj" fmla="val 22222"/>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19" name="Text 8"/>
          <p:cNvSpPr/>
          <p:nvPr/>
        </p:nvSpPr>
        <p:spPr>
          <a:xfrm>
            <a:off x="4663440" y="1865520"/>
            <a:ext cx="109692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ffffff"/>
                </a:solidFill>
                <a:effectLst/>
                <a:uFillTx/>
                <a:latin typeface="Arial"/>
                <a:ea typeface="Arial"/>
              </a:rPr>
              <a:t>Revenue</a:t>
            </a:r>
            <a:endParaRPr b="0" lang="en-US" sz="950" strike="noStrike" u="none">
              <a:solidFill>
                <a:srgbClr val="000000"/>
              </a:solidFill>
              <a:effectLst/>
              <a:uFillTx/>
              <a:latin typeface="Arial"/>
            </a:endParaRPr>
          </a:p>
        </p:txBody>
      </p:sp>
      <p:sp>
        <p:nvSpPr>
          <p:cNvPr id="220" name="Shape 9"/>
          <p:cNvSpPr/>
          <p:nvPr/>
        </p:nvSpPr>
        <p:spPr>
          <a:xfrm>
            <a:off x="5989320" y="1764720"/>
            <a:ext cx="1416960" cy="411120"/>
          </a:xfrm>
          <a:prstGeom prst="roundRect">
            <a:avLst>
              <a:gd name="adj" fmla="val 22222"/>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21" name="Text 10"/>
          <p:cNvSpPr/>
          <p:nvPr/>
        </p:nvSpPr>
        <p:spPr>
          <a:xfrm>
            <a:off x="6080760" y="1865520"/>
            <a:ext cx="123408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ffffff"/>
                </a:solidFill>
                <a:effectLst/>
                <a:uFillTx/>
                <a:latin typeface="Arial"/>
                <a:ea typeface="Arial"/>
              </a:rPr>
              <a:t>Inventory</a:t>
            </a:r>
            <a:endParaRPr b="0" lang="en-US" sz="950" strike="noStrike" u="none">
              <a:solidFill>
                <a:srgbClr val="000000"/>
              </a:solidFill>
              <a:effectLst/>
              <a:uFillTx/>
              <a:latin typeface="Arial"/>
            </a:endParaRPr>
          </a:p>
        </p:txBody>
      </p:sp>
      <p:sp>
        <p:nvSpPr>
          <p:cNvPr id="222" name="Shape 11"/>
          <p:cNvSpPr/>
          <p:nvPr/>
        </p:nvSpPr>
        <p:spPr>
          <a:xfrm>
            <a:off x="7635240" y="1764720"/>
            <a:ext cx="1508400" cy="411120"/>
          </a:xfrm>
          <a:prstGeom prst="roundRect">
            <a:avLst>
              <a:gd name="adj" fmla="val 22222"/>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23" name="Text 12"/>
          <p:cNvSpPr/>
          <p:nvPr/>
        </p:nvSpPr>
        <p:spPr>
          <a:xfrm>
            <a:off x="7726680" y="1865520"/>
            <a:ext cx="132552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ffffff"/>
                </a:solidFill>
                <a:effectLst/>
                <a:uFillTx/>
                <a:latin typeface="Arial"/>
                <a:ea typeface="Arial"/>
              </a:rPr>
              <a:t>Signal</a:t>
            </a:r>
            <a:endParaRPr b="0" lang="en-US" sz="950" strike="noStrike" u="none">
              <a:solidFill>
                <a:srgbClr val="000000"/>
              </a:solidFill>
              <a:effectLst/>
              <a:uFillTx/>
              <a:latin typeface="Arial"/>
            </a:endParaRPr>
          </a:p>
        </p:txBody>
      </p:sp>
      <p:sp>
        <p:nvSpPr>
          <p:cNvPr id="224" name="Shape 13"/>
          <p:cNvSpPr/>
          <p:nvPr/>
        </p:nvSpPr>
        <p:spPr>
          <a:xfrm>
            <a:off x="9372600" y="1764720"/>
            <a:ext cx="2239920" cy="411120"/>
          </a:xfrm>
          <a:prstGeom prst="roundRect">
            <a:avLst>
              <a:gd name="adj" fmla="val 22222"/>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25" name="Text 14"/>
          <p:cNvSpPr/>
          <p:nvPr/>
        </p:nvSpPr>
        <p:spPr>
          <a:xfrm>
            <a:off x="9464040" y="1865520"/>
            <a:ext cx="205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ffffff"/>
                </a:solidFill>
                <a:effectLst/>
                <a:uFillTx/>
                <a:latin typeface="Arial"/>
                <a:ea typeface="Arial"/>
              </a:rPr>
              <a:t>Action</a:t>
            </a:r>
            <a:endParaRPr b="0" lang="en-US" sz="950" strike="noStrike" u="none">
              <a:solidFill>
                <a:srgbClr val="000000"/>
              </a:solidFill>
              <a:effectLst/>
              <a:uFillTx/>
              <a:latin typeface="Arial"/>
            </a:endParaRPr>
          </a:p>
        </p:txBody>
      </p:sp>
      <p:sp>
        <p:nvSpPr>
          <p:cNvPr id="226" name="Shape 15"/>
          <p:cNvSpPr/>
          <p:nvPr/>
        </p:nvSpPr>
        <p:spPr>
          <a:xfrm>
            <a:off x="594360" y="2240280"/>
            <a:ext cx="11018160" cy="411120"/>
          </a:xfrm>
          <a:prstGeom prst="roundRect">
            <a:avLst>
              <a:gd name="adj" fmla="val 1111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27" name="Text 16"/>
          <p:cNvSpPr/>
          <p:nvPr/>
        </p:nvSpPr>
        <p:spPr>
          <a:xfrm>
            <a:off x="685800" y="2313360"/>
            <a:ext cx="17370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50" strike="noStrike" u="none">
                <a:solidFill>
                  <a:srgbClr val="152238"/>
                </a:solidFill>
                <a:effectLst/>
                <a:uFillTx/>
                <a:latin typeface="Arial"/>
                <a:ea typeface="Arial"/>
              </a:rPr>
              <a:t>Boy's Coat (Brown)</a:t>
            </a:r>
            <a:endParaRPr b="0" lang="en-US" sz="950" strike="noStrike" u="none">
              <a:solidFill>
                <a:srgbClr val="000000"/>
              </a:solidFill>
              <a:effectLst/>
              <a:uFillTx/>
              <a:latin typeface="Arial"/>
            </a:endParaRPr>
          </a:p>
        </p:txBody>
      </p:sp>
      <p:sp>
        <p:nvSpPr>
          <p:cNvPr id="228" name="Text 17"/>
          <p:cNvSpPr/>
          <p:nvPr/>
        </p:nvSpPr>
        <p:spPr>
          <a:xfrm>
            <a:off x="2606040" y="2313360"/>
            <a:ext cx="17370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39</a:t>
            </a:r>
            <a:endParaRPr b="0" lang="en-US" sz="950" strike="noStrike" u="none">
              <a:solidFill>
                <a:srgbClr val="000000"/>
              </a:solidFill>
              <a:effectLst/>
              <a:uFillTx/>
              <a:latin typeface="Arial"/>
            </a:endParaRPr>
          </a:p>
        </p:txBody>
      </p:sp>
      <p:sp>
        <p:nvSpPr>
          <p:cNvPr id="229" name="Text 18"/>
          <p:cNvSpPr/>
          <p:nvPr/>
        </p:nvSpPr>
        <p:spPr>
          <a:xfrm>
            <a:off x="4663440" y="2313360"/>
            <a:ext cx="10969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$763.62</a:t>
            </a:r>
            <a:endParaRPr b="0" lang="en-US" sz="950" strike="noStrike" u="none">
              <a:solidFill>
                <a:srgbClr val="000000"/>
              </a:solidFill>
              <a:effectLst/>
              <a:uFillTx/>
              <a:latin typeface="Arial"/>
            </a:endParaRPr>
          </a:p>
        </p:txBody>
      </p:sp>
      <p:sp>
        <p:nvSpPr>
          <p:cNvPr id="230" name="Text 19"/>
          <p:cNvSpPr/>
          <p:nvPr/>
        </p:nvSpPr>
        <p:spPr>
          <a:xfrm>
            <a:off x="6080760" y="2313360"/>
            <a:ext cx="12340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9</a:t>
            </a:r>
            <a:endParaRPr b="0" lang="en-US" sz="950" strike="noStrike" u="none">
              <a:solidFill>
                <a:srgbClr val="000000"/>
              </a:solidFill>
              <a:effectLst/>
              <a:uFillTx/>
              <a:latin typeface="Arial"/>
            </a:endParaRPr>
          </a:p>
        </p:txBody>
      </p:sp>
      <p:sp>
        <p:nvSpPr>
          <p:cNvPr id="231" name="Text 20"/>
          <p:cNvSpPr/>
          <p:nvPr/>
        </p:nvSpPr>
        <p:spPr>
          <a:xfrm>
            <a:off x="7726680" y="231336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008c95"/>
                </a:solidFill>
                <a:effectLst/>
                <a:uFillTx/>
                <a:latin typeface="Arial"/>
                <a:ea typeface="Arial"/>
              </a:rPr>
              <a:t>HOT</a:t>
            </a:r>
            <a:endParaRPr b="0" lang="en-US" sz="950" strike="noStrike" u="none">
              <a:solidFill>
                <a:srgbClr val="000000"/>
              </a:solidFill>
              <a:effectLst/>
              <a:uFillTx/>
              <a:latin typeface="Arial"/>
            </a:endParaRPr>
          </a:p>
        </p:txBody>
      </p:sp>
      <p:sp>
        <p:nvSpPr>
          <p:cNvPr id="232" name="Text 21"/>
          <p:cNvSpPr/>
          <p:nvPr/>
        </p:nvSpPr>
        <p:spPr>
          <a:xfrm>
            <a:off x="9464040" y="2313360"/>
            <a:ext cx="20570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152238"/>
                </a:solidFill>
                <a:effectLst/>
                <a:uFillTx/>
                <a:latin typeface="Arial"/>
                <a:ea typeface="Arial"/>
              </a:rPr>
              <a:t>Replenish</a:t>
            </a:r>
            <a:endParaRPr b="0" lang="en-US" sz="950" strike="noStrike" u="none">
              <a:solidFill>
                <a:srgbClr val="000000"/>
              </a:solidFill>
              <a:effectLst/>
              <a:uFillTx/>
              <a:latin typeface="Arial"/>
            </a:endParaRPr>
          </a:p>
        </p:txBody>
      </p:sp>
      <p:sp>
        <p:nvSpPr>
          <p:cNvPr id="233" name="Shape 22"/>
          <p:cNvSpPr/>
          <p:nvPr/>
        </p:nvSpPr>
        <p:spPr>
          <a:xfrm>
            <a:off x="594360" y="2688480"/>
            <a:ext cx="11018160" cy="411120"/>
          </a:xfrm>
          <a:prstGeom prst="roundRect">
            <a:avLst>
              <a:gd name="adj" fmla="val 11111"/>
            </a:avLst>
          </a:prstGeom>
          <a:solidFill>
            <a:srgbClr val="f0f4f8"/>
          </a:solidFill>
          <a:ln w="12700">
            <a:solidFill>
              <a:srgbClr val="f0f4f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34" name="Text 23"/>
          <p:cNvSpPr/>
          <p:nvPr/>
        </p:nvSpPr>
        <p:spPr>
          <a:xfrm>
            <a:off x="685800" y="2761560"/>
            <a:ext cx="17370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50" strike="noStrike" u="none">
                <a:solidFill>
                  <a:srgbClr val="152238"/>
                </a:solidFill>
                <a:effectLst/>
                <a:uFillTx/>
                <a:latin typeface="Arial"/>
                <a:ea typeface="Arial"/>
              </a:rPr>
              <a:t>Women's Skirt (Green)</a:t>
            </a:r>
            <a:endParaRPr b="0" lang="en-US" sz="950" strike="noStrike" u="none">
              <a:solidFill>
                <a:srgbClr val="000000"/>
              </a:solidFill>
              <a:effectLst/>
              <a:uFillTx/>
              <a:latin typeface="Arial"/>
            </a:endParaRPr>
          </a:p>
        </p:txBody>
      </p:sp>
      <p:sp>
        <p:nvSpPr>
          <p:cNvPr id="235" name="Text 24"/>
          <p:cNvSpPr/>
          <p:nvPr/>
        </p:nvSpPr>
        <p:spPr>
          <a:xfrm>
            <a:off x="2606040" y="2761560"/>
            <a:ext cx="17370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33</a:t>
            </a:r>
            <a:endParaRPr b="0" lang="en-US" sz="950" strike="noStrike" u="none">
              <a:solidFill>
                <a:srgbClr val="000000"/>
              </a:solidFill>
              <a:effectLst/>
              <a:uFillTx/>
              <a:latin typeface="Arial"/>
            </a:endParaRPr>
          </a:p>
        </p:txBody>
      </p:sp>
      <p:sp>
        <p:nvSpPr>
          <p:cNvPr id="236" name="Text 25"/>
          <p:cNvSpPr/>
          <p:nvPr/>
        </p:nvSpPr>
        <p:spPr>
          <a:xfrm>
            <a:off x="4663440" y="2761560"/>
            <a:ext cx="10969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$943.47</a:t>
            </a:r>
            <a:endParaRPr b="0" lang="en-US" sz="950" strike="noStrike" u="none">
              <a:solidFill>
                <a:srgbClr val="000000"/>
              </a:solidFill>
              <a:effectLst/>
              <a:uFillTx/>
              <a:latin typeface="Arial"/>
            </a:endParaRPr>
          </a:p>
        </p:txBody>
      </p:sp>
      <p:sp>
        <p:nvSpPr>
          <p:cNvPr id="237" name="Text 26"/>
          <p:cNvSpPr/>
          <p:nvPr/>
        </p:nvSpPr>
        <p:spPr>
          <a:xfrm>
            <a:off x="6080760" y="2761560"/>
            <a:ext cx="12340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0</a:t>
            </a:r>
            <a:endParaRPr b="0" lang="en-US" sz="950" strike="noStrike" u="none">
              <a:solidFill>
                <a:srgbClr val="000000"/>
              </a:solidFill>
              <a:effectLst/>
              <a:uFillTx/>
              <a:latin typeface="Arial"/>
            </a:endParaRPr>
          </a:p>
        </p:txBody>
      </p:sp>
      <p:sp>
        <p:nvSpPr>
          <p:cNvPr id="238" name="Text 27"/>
          <p:cNvSpPr/>
          <p:nvPr/>
        </p:nvSpPr>
        <p:spPr>
          <a:xfrm>
            <a:off x="7726680" y="276156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d95d39"/>
                </a:solidFill>
                <a:effectLst/>
                <a:uFillTx/>
                <a:latin typeface="Arial"/>
                <a:ea typeface="Arial"/>
              </a:rPr>
              <a:t>CRITICAL</a:t>
            </a:r>
            <a:endParaRPr b="0" lang="en-US" sz="950" strike="noStrike" u="none">
              <a:solidFill>
                <a:srgbClr val="000000"/>
              </a:solidFill>
              <a:effectLst/>
              <a:uFillTx/>
              <a:latin typeface="Arial"/>
            </a:endParaRPr>
          </a:p>
        </p:txBody>
      </p:sp>
      <p:sp>
        <p:nvSpPr>
          <p:cNvPr id="239" name="Text 28"/>
          <p:cNvSpPr/>
          <p:nvPr/>
        </p:nvSpPr>
        <p:spPr>
          <a:xfrm>
            <a:off x="9464040" y="2761560"/>
            <a:ext cx="20570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152238"/>
                </a:solidFill>
                <a:effectLst/>
                <a:uFillTx/>
                <a:latin typeface="Arial"/>
                <a:ea typeface="Arial"/>
              </a:rPr>
              <a:t>Urgent</a:t>
            </a:r>
            <a:endParaRPr b="0" lang="en-US" sz="950" strike="noStrike" u="none">
              <a:solidFill>
                <a:srgbClr val="000000"/>
              </a:solidFill>
              <a:effectLst/>
              <a:uFillTx/>
              <a:latin typeface="Arial"/>
            </a:endParaRPr>
          </a:p>
        </p:txBody>
      </p:sp>
      <p:sp>
        <p:nvSpPr>
          <p:cNvPr id="240" name="Shape 29"/>
          <p:cNvSpPr/>
          <p:nvPr/>
        </p:nvSpPr>
        <p:spPr>
          <a:xfrm>
            <a:off x="594360" y="3136320"/>
            <a:ext cx="11018160" cy="411120"/>
          </a:xfrm>
          <a:prstGeom prst="roundRect">
            <a:avLst>
              <a:gd name="adj" fmla="val 1111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41" name="Text 30"/>
          <p:cNvSpPr/>
          <p:nvPr/>
        </p:nvSpPr>
        <p:spPr>
          <a:xfrm>
            <a:off x="685800" y="3209400"/>
            <a:ext cx="17370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50" strike="noStrike" u="none">
                <a:solidFill>
                  <a:srgbClr val="152238"/>
                </a:solidFill>
                <a:effectLst/>
                <a:uFillTx/>
                <a:latin typeface="Arial"/>
                <a:ea typeface="Arial"/>
              </a:rPr>
              <a:t>Boy's Socks (White)</a:t>
            </a:r>
            <a:endParaRPr b="0" lang="en-US" sz="950" strike="noStrike" u="none">
              <a:solidFill>
                <a:srgbClr val="000000"/>
              </a:solidFill>
              <a:effectLst/>
              <a:uFillTx/>
              <a:latin typeface="Arial"/>
            </a:endParaRPr>
          </a:p>
        </p:txBody>
      </p:sp>
      <p:sp>
        <p:nvSpPr>
          <p:cNvPr id="242" name="Text 31"/>
          <p:cNvSpPr/>
          <p:nvPr/>
        </p:nvSpPr>
        <p:spPr>
          <a:xfrm>
            <a:off x="2606040" y="3209400"/>
            <a:ext cx="17370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30</a:t>
            </a:r>
            <a:endParaRPr b="0" lang="en-US" sz="950" strike="noStrike" u="none">
              <a:solidFill>
                <a:srgbClr val="000000"/>
              </a:solidFill>
              <a:effectLst/>
              <a:uFillTx/>
              <a:latin typeface="Arial"/>
            </a:endParaRPr>
          </a:p>
        </p:txBody>
      </p:sp>
      <p:sp>
        <p:nvSpPr>
          <p:cNvPr id="243" name="Text 32"/>
          <p:cNvSpPr/>
          <p:nvPr/>
        </p:nvSpPr>
        <p:spPr>
          <a:xfrm>
            <a:off x="4663440" y="3209400"/>
            <a:ext cx="10969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$314.40</a:t>
            </a:r>
            <a:endParaRPr b="0" lang="en-US" sz="950" strike="noStrike" u="none">
              <a:solidFill>
                <a:srgbClr val="000000"/>
              </a:solidFill>
              <a:effectLst/>
              <a:uFillTx/>
              <a:latin typeface="Arial"/>
            </a:endParaRPr>
          </a:p>
        </p:txBody>
      </p:sp>
      <p:sp>
        <p:nvSpPr>
          <p:cNvPr id="244" name="Text 33"/>
          <p:cNvSpPr/>
          <p:nvPr/>
        </p:nvSpPr>
        <p:spPr>
          <a:xfrm>
            <a:off x="6080760" y="3209400"/>
            <a:ext cx="12340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10</a:t>
            </a:r>
            <a:endParaRPr b="0" lang="en-US" sz="950" strike="noStrike" u="none">
              <a:solidFill>
                <a:srgbClr val="000000"/>
              </a:solidFill>
              <a:effectLst/>
              <a:uFillTx/>
              <a:latin typeface="Arial"/>
            </a:endParaRPr>
          </a:p>
        </p:txBody>
      </p:sp>
      <p:sp>
        <p:nvSpPr>
          <p:cNvPr id="245" name="Text 34"/>
          <p:cNvSpPr/>
          <p:nvPr/>
        </p:nvSpPr>
        <p:spPr>
          <a:xfrm>
            <a:off x="7726680" y="320940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008c95"/>
                </a:solidFill>
                <a:effectLst/>
                <a:uFillTx/>
                <a:latin typeface="Arial"/>
                <a:ea typeface="Arial"/>
              </a:rPr>
              <a:t>HOT</a:t>
            </a:r>
            <a:endParaRPr b="0" lang="en-US" sz="950" strike="noStrike" u="none">
              <a:solidFill>
                <a:srgbClr val="000000"/>
              </a:solidFill>
              <a:effectLst/>
              <a:uFillTx/>
              <a:latin typeface="Arial"/>
            </a:endParaRPr>
          </a:p>
        </p:txBody>
      </p:sp>
      <p:sp>
        <p:nvSpPr>
          <p:cNvPr id="246" name="Text 35"/>
          <p:cNvSpPr/>
          <p:nvPr/>
        </p:nvSpPr>
        <p:spPr>
          <a:xfrm>
            <a:off x="9464040" y="3209400"/>
            <a:ext cx="20570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152238"/>
                </a:solidFill>
                <a:effectLst/>
                <a:uFillTx/>
                <a:latin typeface="Arial"/>
                <a:ea typeface="Arial"/>
              </a:rPr>
              <a:t>Replenish</a:t>
            </a:r>
            <a:endParaRPr b="0" lang="en-US" sz="950" strike="noStrike" u="none">
              <a:solidFill>
                <a:srgbClr val="000000"/>
              </a:solidFill>
              <a:effectLst/>
              <a:uFillTx/>
              <a:latin typeface="Arial"/>
            </a:endParaRPr>
          </a:p>
        </p:txBody>
      </p:sp>
      <p:sp>
        <p:nvSpPr>
          <p:cNvPr id="247" name="Shape 36"/>
          <p:cNvSpPr/>
          <p:nvPr/>
        </p:nvSpPr>
        <p:spPr>
          <a:xfrm>
            <a:off x="594360" y="3584520"/>
            <a:ext cx="11018160" cy="411120"/>
          </a:xfrm>
          <a:prstGeom prst="roundRect">
            <a:avLst>
              <a:gd name="adj" fmla="val 11111"/>
            </a:avLst>
          </a:prstGeom>
          <a:solidFill>
            <a:srgbClr val="f0f4f8"/>
          </a:solidFill>
          <a:ln w="12700">
            <a:solidFill>
              <a:srgbClr val="f0f4f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48" name="Text 37"/>
          <p:cNvSpPr/>
          <p:nvPr/>
        </p:nvSpPr>
        <p:spPr>
          <a:xfrm>
            <a:off x="685800" y="3657600"/>
            <a:ext cx="17370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50" strike="noStrike" u="none">
                <a:solidFill>
                  <a:srgbClr val="152238"/>
                </a:solidFill>
                <a:effectLst/>
                <a:uFillTx/>
                <a:latin typeface="Arial"/>
                <a:ea typeface="Arial"/>
              </a:rPr>
              <a:t>Girl's Jeans (Grey)</a:t>
            </a:r>
            <a:endParaRPr b="0" lang="en-US" sz="950" strike="noStrike" u="none">
              <a:solidFill>
                <a:srgbClr val="000000"/>
              </a:solidFill>
              <a:effectLst/>
              <a:uFillTx/>
              <a:latin typeface="Arial"/>
            </a:endParaRPr>
          </a:p>
        </p:txBody>
      </p:sp>
      <p:sp>
        <p:nvSpPr>
          <p:cNvPr id="249" name="Text 38"/>
          <p:cNvSpPr/>
          <p:nvPr/>
        </p:nvSpPr>
        <p:spPr>
          <a:xfrm>
            <a:off x="2606040" y="3657600"/>
            <a:ext cx="17370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28</a:t>
            </a:r>
            <a:endParaRPr b="0" lang="en-US" sz="950" strike="noStrike" u="none">
              <a:solidFill>
                <a:srgbClr val="000000"/>
              </a:solidFill>
              <a:effectLst/>
              <a:uFillTx/>
              <a:latin typeface="Arial"/>
            </a:endParaRPr>
          </a:p>
        </p:txBody>
      </p:sp>
      <p:sp>
        <p:nvSpPr>
          <p:cNvPr id="250" name="Text 39"/>
          <p:cNvSpPr/>
          <p:nvPr/>
        </p:nvSpPr>
        <p:spPr>
          <a:xfrm>
            <a:off x="4663440" y="3657600"/>
            <a:ext cx="10969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$274.40</a:t>
            </a:r>
            <a:endParaRPr b="0" lang="en-US" sz="950" strike="noStrike" u="none">
              <a:solidFill>
                <a:srgbClr val="000000"/>
              </a:solidFill>
              <a:effectLst/>
              <a:uFillTx/>
              <a:latin typeface="Arial"/>
            </a:endParaRPr>
          </a:p>
        </p:txBody>
      </p:sp>
      <p:sp>
        <p:nvSpPr>
          <p:cNvPr id="251" name="Text 40"/>
          <p:cNvSpPr/>
          <p:nvPr/>
        </p:nvSpPr>
        <p:spPr>
          <a:xfrm>
            <a:off x="6080760" y="3657600"/>
            <a:ext cx="12340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21</a:t>
            </a:r>
            <a:endParaRPr b="0" lang="en-US" sz="950" strike="noStrike" u="none">
              <a:solidFill>
                <a:srgbClr val="000000"/>
              </a:solidFill>
              <a:effectLst/>
              <a:uFillTx/>
              <a:latin typeface="Arial"/>
            </a:endParaRPr>
          </a:p>
        </p:txBody>
      </p:sp>
      <p:sp>
        <p:nvSpPr>
          <p:cNvPr id="252" name="Text 41"/>
          <p:cNvSpPr/>
          <p:nvPr/>
        </p:nvSpPr>
        <p:spPr>
          <a:xfrm>
            <a:off x="7726680" y="365760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f4a261"/>
                </a:solidFill>
                <a:effectLst/>
                <a:uFillTx/>
                <a:latin typeface="Arial"/>
                <a:ea typeface="Arial"/>
              </a:rPr>
              <a:t>WATCH</a:t>
            </a:r>
            <a:endParaRPr b="0" lang="en-US" sz="950" strike="noStrike" u="none">
              <a:solidFill>
                <a:srgbClr val="000000"/>
              </a:solidFill>
              <a:effectLst/>
              <a:uFillTx/>
              <a:latin typeface="Arial"/>
            </a:endParaRPr>
          </a:p>
        </p:txBody>
      </p:sp>
      <p:sp>
        <p:nvSpPr>
          <p:cNvPr id="253" name="Text 42"/>
          <p:cNvSpPr/>
          <p:nvPr/>
        </p:nvSpPr>
        <p:spPr>
          <a:xfrm>
            <a:off x="9464040" y="3657600"/>
            <a:ext cx="20570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152238"/>
                </a:solidFill>
                <a:effectLst/>
                <a:uFillTx/>
                <a:latin typeface="Arial"/>
                <a:ea typeface="Arial"/>
              </a:rPr>
              <a:t>Review</a:t>
            </a:r>
            <a:endParaRPr b="0" lang="en-US" sz="950" strike="noStrike" u="none">
              <a:solidFill>
                <a:srgbClr val="000000"/>
              </a:solidFill>
              <a:effectLst/>
              <a:uFillTx/>
              <a:latin typeface="Arial"/>
            </a:endParaRPr>
          </a:p>
        </p:txBody>
      </p:sp>
      <p:sp>
        <p:nvSpPr>
          <p:cNvPr id="254" name="Shape 43"/>
          <p:cNvSpPr/>
          <p:nvPr/>
        </p:nvSpPr>
        <p:spPr>
          <a:xfrm>
            <a:off x="594360" y="4032360"/>
            <a:ext cx="11018160" cy="411120"/>
          </a:xfrm>
          <a:prstGeom prst="roundRect">
            <a:avLst>
              <a:gd name="adj" fmla="val 1111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55" name="Text 44"/>
          <p:cNvSpPr/>
          <p:nvPr/>
        </p:nvSpPr>
        <p:spPr>
          <a:xfrm>
            <a:off x="685800" y="4105800"/>
            <a:ext cx="17370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50" strike="noStrike" u="none">
                <a:solidFill>
                  <a:srgbClr val="152238"/>
                </a:solidFill>
                <a:effectLst/>
                <a:uFillTx/>
                <a:latin typeface="Arial"/>
                <a:ea typeface="Arial"/>
              </a:rPr>
              <a:t>Women's Jacket (Black)</a:t>
            </a:r>
            <a:endParaRPr b="0" lang="en-US" sz="950" strike="noStrike" u="none">
              <a:solidFill>
                <a:srgbClr val="000000"/>
              </a:solidFill>
              <a:effectLst/>
              <a:uFillTx/>
              <a:latin typeface="Arial"/>
            </a:endParaRPr>
          </a:p>
        </p:txBody>
      </p:sp>
      <p:sp>
        <p:nvSpPr>
          <p:cNvPr id="256" name="Text 45"/>
          <p:cNvSpPr/>
          <p:nvPr/>
        </p:nvSpPr>
        <p:spPr>
          <a:xfrm>
            <a:off x="2606040" y="4105800"/>
            <a:ext cx="17370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25</a:t>
            </a:r>
            <a:endParaRPr b="0" lang="en-US" sz="950" strike="noStrike" u="none">
              <a:solidFill>
                <a:srgbClr val="000000"/>
              </a:solidFill>
              <a:effectLst/>
              <a:uFillTx/>
              <a:latin typeface="Arial"/>
            </a:endParaRPr>
          </a:p>
        </p:txBody>
      </p:sp>
      <p:sp>
        <p:nvSpPr>
          <p:cNvPr id="257" name="Text 46"/>
          <p:cNvSpPr/>
          <p:nvPr/>
        </p:nvSpPr>
        <p:spPr>
          <a:xfrm>
            <a:off x="4663440" y="4105800"/>
            <a:ext cx="10969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$611.50</a:t>
            </a:r>
            <a:endParaRPr b="0" lang="en-US" sz="950" strike="noStrike" u="none">
              <a:solidFill>
                <a:srgbClr val="000000"/>
              </a:solidFill>
              <a:effectLst/>
              <a:uFillTx/>
              <a:latin typeface="Arial"/>
            </a:endParaRPr>
          </a:p>
        </p:txBody>
      </p:sp>
      <p:sp>
        <p:nvSpPr>
          <p:cNvPr id="258" name="Text 47"/>
          <p:cNvSpPr/>
          <p:nvPr/>
        </p:nvSpPr>
        <p:spPr>
          <a:xfrm>
            <a:off x="6080760" y="4105800"/>
            <a:ext cx="12340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9</a:t>
            </a:r>
            <a:endParaRPr b="0" lang="en-US" sz="950" strike="noStrike" u="none">
              <a:solidFill>
                <a:srgbClr val="000000"/>
              </a:solidFill>
              <a:effectLst/>
              <a:uFillTx/>
              <a:latin typeface="Arial"/>
            </a:endParaRPr>
          </a:p>
        </p:txBody>
      </p:sp>
      <p:sp>
        <p:nvSpPr>
          <p:cNvPr id="259" name="Text 48"/>
          <p:cNvSpPr/>
          <p:nvPr/>
        </p:nvSpPr>
        <p:spPr>
          <a:xfrm>
            <a:off x="7726680" y="410580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008c95"/>
                </a:solidFill>
                <a:effectLst/>
                <a:uFillTx/>
                <a:latin typeface="Arial"/>
                <a:ea typeface="Arial"/>
              </a:rPr>
              <a:t>HOT</a:t>
            </a:r>
            <a:endParaRPr b="0" lang="en-US" sz="950" strike="noStrike" u="none">
              <a:solidFill>
                <a:srgbClr val="000000"/>
              </a:solidFill>
              <a:effectLst/>
              <a:uFillTx/>
              <a:latin typeface="Arial"/>
            </a:endParaRPr>
          </a:p>
        </p:txBody>
      </p:sp>
      <p:sp>
        <p:nvSpPr>
          <p:cNvPr id="260" name="Text 49"/>
          <p:cNvSpPr/>
          <p:nvPr/>
        </p:nvSpPr>
        <p:spPr>
          <a:xfrm>
            <a:off x="9464040" y="4105800"/>
            <a:ext cx="20570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152238"/>
                </a:solidFill>
                <a:effectLst/>
                <a:uFillTx/>
                <a:latin typeface="Arial"/>
                <a:ea typeface="Arial"/>
              </a:rPr>
              <a:t>Replenish</a:t>
            </a:r>
            <a:endParaRPr b="0" lang="en-US" sz="950" strike="noStrike" u="none">
              <a:solidFill>
                <a:srgbClr val="000000"/>
              </a:solidFill>
              <a:effectLst/>
              <a:uFillTx/>
              <a:latin typeface="Arial"/>
            </a:endParaRPr>
          </a:p>
        </p:txBody>
      </p:sp>
      <p:sp>
        <p:nvSpPr>
          <p:cNvPr id="261" name="Shape 50"/>
          <p:cNvSpPr/>
          <p:nvPr/>
        </p:nvSpPr>
        <p:spPr>
          <a:xfrm>
            <a:off x="594360" y="4480560"/>
            <a:ext cx="11018160" cy="411120"/>
          </a:xfrm>
          <a:prstGeom prst="roundRect">
            <a:avLst>
              <a:gd name="adj" fmla="val 11111"/>
            </a:avLst>
          </a:prstGeom>
          <a:solidFill>
            <a:srgbClr val="f0f4f8"/>
          </a:solidFill>
          <a:ln w="12700">
            <a:solidFill>
              <a:srgbClr val="f0f4f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62" name="Text 51"/>
          <p:cNvSpPr/>
          <p:nvPr/>
        </p:nvSpPr>
        <p:spPr>
          <a:xfrm>
            <a:off x="685800" y="4553640"/>
            <a:ext cx="17370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50" strike="noStrike" u="none">
                <a:solidFill>
                  <a:srgbClr val="152238"/>
                </a:solidFill>
                <a:effectLst/>
                <a:uFillTx/>
                <a:latin typeface="Arial"/>
                <a:ea typeface="Arial"/>
              </a:rPr>
              <a:t>Girl's Shorts (Green)</a:t>
            </a:r>
            <a:endParaRPr b="0" lang="en-US" sz="950" strike="noStrike" u="none">
              <a:solidFill>
                <a:srgbClr val="000000"/>
              </a:solidFill>
              <a:effectLst/>
              <a:uFillTx/>
              <a:latin typeface="Arial"/>
            </a:endParaRPr>
          </a:p>
        </p:txBody>
      </p:sp>
      <p:sp>
        <p:nvSpPr>
          <p:cNvPr id="263" name="Text 52"/>
          <p:cNvSpPr/>
          <p:nvPr/>
        </p:nvSpPr>
        <p:spPr>
          <a:xfrm>
            <a:off x="2606040" y="4553640"/>
            <a:ext cx="17370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25</a:t>
            </a:r>
            <a:endParaRPr b="0" lang="en-US" sz="950" strike="noStrike" u="none">
              <a:solidFill>
                <a:srgbClr val="000000"/>
              </a:solidFill>
              <a:effectLst/>
              <a:uFillTx/>
              <a:latin typeface="Arial"/>
            </a:endParaRPr>
          </a:p>
        </p:txBody>
      </p:sp>
      <p:sp>
        <p:nvSpPr>
          <p:cNvPr id="264" name="Text 53"/>
          <p:cNvSpPr/>
          <p:nvPr/>
        </p:nvSpPr>
        <p:spPr>
          <a:xfrm>
            <a:off x="4663440" y="4553640"/>
            <a:ext cx="10969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$705.25</a:t>
            </a:r>
            <a:endParaRPr b="0" lang="en-US" sz="950" strike="noStrike" u="none">
              <a:solidFill>
                <a:srgbClr val="000000"/>
              </a:solidFill>
              <a:effectLst/>
              <a:uFillTx/>
              <a:latin typeface="Arial"/>
            </a:endParaRPr>
          </a:p>
        </p:txBody>
      </p:sp>
      <p:sp>
        <p:nvSpPr>
          <p:cNvPr id="265" name="Text 54"/>
          <p:cNvSpPr/>
          <p:nvPr/>
        </p:nvSpPr>
        <p:spPr>
          <a:xfrm>
            <a:off x="6080760" y="4553640"/>
            <a:ext cx="12340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0</a:t>
            </a:r>
            <a:endParaRPr b="0" lang="en-US" sz="950" strike="noStrike" u="none">
              <a:solidFill>
                <a:srgbClr val="000000"/>
              </a:solidFill>
              <a:effectLst/>
              <a:uFillTx/>
              <a:latin typeface="Arial"/>
            </a:endParaRPr>
          </a:p>
        </p:txBody>
      </p:sp>
      <p:sp>
        <p:nvSpPr>
          <p:cNvPr id="266" name="Text 55"/>
          <p:cNvSpPr/>
          <p:nvPr/>
        </p:nvSpPr>
        <p:spPr>
          <a:xfrm>
            <a:off x="7726680" y="455364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d95d39"/>
                </a:solidFill>
                <a:effectLst/>
                <a:uFillTx/>
                <a:latin typeface="Arial"/>
                <a:ea typeface="Arial"/>
              </a:rPr>
              <a:t>CRITICAL</a:t>
            </a:r>
            <a:endParaRPr b="0" lang="en-US" sz="950" strike="noStrike" u="none">
              <a:solidFill>
                <a:srgbClr val="000000"/>
              </a:solidFill>
              <a:effectLst/>
              <a:uFillTx/>
              <a:latin typeface="Arial"/>
            </a:endParaRPr>
          </a:p>
        </p:txBody>
      </p:sp>
      <p:sp>
        <p:nvSpPr>
          <p:cNvPr id="267" name="Text 56"/>
          <p:cNvSpPr/>
          <p:nvPr/>
        </p:nvSpPr>
        <p:spPr>
          <a:xfrm>
            <a:off x="9464040" y="4553640"/>
            <a:ext cx="20570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152238"/>
                </a:solidFill>
                <a:effectLst/>
                <a:uFillTx/>
                <a:latin typeface="Arial"/>
                <a:ea typeface="Arial"/>
              </a:rPr>
              <a:t>Urgent</a:t>
            </a:r>
            <a:endParaRPr b="0" lang="en-US" sz="950" strike="noStrike" u="none">
              <a:solidFill>
                <a:srgbClr val="000000"/>
              </a:solidFill>
              <a:effectLst/>
              <a:uFillTx/>
              <a:latin typeface="Arial"/>
            </a:endParaRPr>
          </a:p>
        </p:txBody>
      </p:sp>
      <p:sp>
        <p:nvSpPr>
          <p:cNvPr id="268" name="Shape 57"/>
          <p:cNvSpPr/>
          <p:nvPr/>
        </p:nvSpPr>
        <p:spPr>
          <a:xfrm>
            <a:off x="594360" y="4928760"/>
            <a:ext cx="11018160" cy="411120"/>
          </a:xfrm>
          <a:prstGeom prst="roundRect">
            <a:avLst>
              <a:gd name="adj" fmla="val 1111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69" name="Text 58"/>
          <p:cNvSpPr/>
          <p:nvPr/>
        </p:nvSpPr>
        <p:spPr>
          <a:xfrm>
            <a:off x="685800" y="5001840"/>
            <a:ext cx="17370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50" strike="noStrike" u="none">
                <a:solidFill>
                  <a:srgbClr val="152238"/>
                </a:solidFill>
                <a:effectLst/>
                <a:uFillTx/>
                <a:latin typeface="Arial"/>
                <a:ea typeface="Arial"/>
              </a:rPr>
              <a:t>Men's Shorts (Black)</a:t>
            </a:r>
            <a:endParaRPr b="0" lang="en-US" sz="950" strike="noStrike" u="none">
              <a:solidFill>
                <a:srgbClr val="000000"/>
              </a:solidFill>
              <a:effectLst/>
              <a:uFillTx/>
              <a:latin typeface="Arial"/>
            </a:endParaRPr>
          </a:p>
        </p:txBody>
      </p:sp>
      <p:sp>
        <p:nvSpPr>
          <p:cNvPr id="270" name="Text 59"/>
          <p:cNvSpPr/>
          <p:nvPr/>
        </p:nvSpPr>
        <p:spPr>
          <a:xfrm>
            <a:off x="2606040" y="5001840"/>
            <a:ext cx="17370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25</a:t>
            </a:r>
            <a:endParaRPr b="0" lang="en-US" sz="950" strike="noStrike" u="none">
              <a:solidFill>
                <a:srgbClr val="000000"/>
              </a:solidFill>
              <a:effectLst/>
              <a:uFillTx/>
              <a:latin typeface="Arial"/>
            </a:endParaRPr>
          </a:p>
        </p:txBody>
      </p:sp>
      <p:sp>
        <p:nvSpPr>
          <p:cNvPr id="271" name="Text 60"/>
          <p:cNvSpPr/>
          <p:nvPr/>
        </p:nvSpPr>
        <p:spPr>
          <a:xfrm>
            <a:off x="4663440" y="5001840"/>
            <a:ext cx="10969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$994.50</a:t>
            </a:r>
            <a:endParaRPr b="0" lang="en-US" sz="950" strike="noStrike" u="none">
              <a:solidFill>
                <a:srgbClr val="000000"/>
              </a:solidFill>
              <a:effectLst/>
              <a:uFillTx/>
              <a:latin typeface="Arial"/>
            </a:endParaRPr>
          </a:p>
        </p:txBody>
      </p:sp>
      <p:sp>
        <p:nvSpPr>
          <p:cNvPr id="272" name="Text 61"/>
          <p:cNvSpPr/>
          <p:nvPr/>
        </p:nvSpPr>
        <p:spPr>
          <a:xfrm>
            <a:off x="6080760" y="5001840"/>
            <a:ext cx="12340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12</a:t>
            </a:r>
            <a:endParaRPr b="0" lang="en-US" sz="950" strike="noStrike" u="none">
              <a:solidFill>
                <a:srgbClr val="000000"/>
              </a:solidFill>
              <a:effectLst/>
              <a:uFillTx/>
              <a:latin typeface="Arial"/>
            </a:endParaRPr>
          </a:p>
        </p:txBody>
      </p:sp>
      <p:sp>
        <p:nvSpPr>
          <p:cNvPr id="273" name="Text 62"/>
          <p:cNvSpPr/>
          <p:nvPr/>
        </p:nvSpPr>
        <p:spPr>
          <a:xfrm>
            <a:off x="7726680" y="500184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008c95"/>
                </a:solidFill>
                <a:effectLst/>
                <a:uFillTx/>
                <a:latin typeface="Arial"/>
                <a:ea typeface="Arial"/>
              </a:rPr>
              <a:t>HOT</a:t>
            </a:r>
            <a:endParaRPr b="0" lang="en-US" sz="950" strike="noStrike" u="none">
              <a:solidFill>
                <a:srgbClr val="000000"/>
              </a:solidFill>
              <a:effectLst/>
              <a:uFillTx/>
              <a:latin typeface="Arial"/>
            </a:endParaRPr>
          </a:p>
        </p:txBody>
      </p:sp>
      <p:sp>
        <p:nvSpPr>
          <p:cNvPr id="274" name="Text 63"/>
          <p:cNvSpPr/>
          <p:nvPr/>
        </p:nvSpPr>
        <p:spPr>
          <a:xfrm>
            <a:off x="9464040" y="5001840"/>
            <a:ext cx="20570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152238"/>
                </a:solidFill>
                <a:effectLst/>
                <a:uFillTx/>
                <a:latin typeface="Arial"/>
                <a:ea typeface="Arial"/>
              </a:rPr>
              <a:t>Replenish</a:t>
            </a:r>
            <a:endParaRPr b="0" lang="en-US" sz="950" strike="noStrike" u="none">
              <a:solidFill>
                <a:srgbClr val="000000"/>
              </a:solidFill>
              <a:effectLst/>
              <a:uFillTx/>
              <a:latin typeface="Arial"/>
            </a:endParaRPr>
          </a:p>
        </p:txBody>
      </p:sp>
      <p:sp>
        <p:nvSpPr>
          <p:cNvPr id="275" name="Shape 64"/>
          <p:cNvSpPr/>
          <p:nvPr/>
        </p:nvSpPr>
        <p:spPr>
          <a:xfrm>
            <a:off x="594360" y="5376600"/>
            <a:ext cx="11018160" cy="411120"/>
          </a:xfrm>
          <a:prstGeom prst="roundRect">
            <a:avLst>
              <a:gd name="adj" fmla="val 11111"/>
            </a:avLst>
          </a:prstGeom>
          <a:solidFill>
            <a:srgbClr val="f0f4f8"/>
          </a:solidFill>
          <a:ln w="12700">
            <a:solidFill>
              <a:srgbClr val="f0f4f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76" name="Text 65"/>
          <p:cNvSpPr/>
          <p:nvPr/>
        </p:nvSpPr>
        <p:spPr>
          <a:xfrm>
            <a:off x="685800" y="5449680"/>
            <a:ext cx="17370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50" strike="noStrike" u="none">
                <a:solidFill>
                  <a:srgbClr val="152238"/>
                </a:solidFill>
                <a:effectLst/>
                <a:uFillTx/>
                <a:latin typeface="Arial"/>
                <a:ea typeface="Arial"/>
              </a:rPr>
              <a:t>Girl's Hoodie (White)</a:t>
            </a:r>
            <a:endParaRPr b="0" lang="en-US" sz="950" strike="noStrike" u="none">
              <a:solidFill>
                <a:srgbClr val="000000"/>
              </a:solidFill>
              <a:effectLst/>
              <a:uFillTx/>
              <a:latin typeface="Arial"/>
            </a:endParaRPr>
          </a:p>
        </p:txBody>
      </p:sp>
      <p:sp>
        <p:nvSpPr>
          <p:cNvPr id="277" name="Text 66"/>
          <p:cNvSpPr/>
          <p:nvPr/>
        </p:nvSpPr>
        <p:spPr>
          <a:xfrm>
            <a:off x="2606040" y="5449680"/>
            <a:ext cx="17370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23</a:t>
            </a:r>
            <a:endParaRPr b="0" lang="en-US" sz="950" strike="noStrike" u="none">
              <a:solidFill>
                <a:srgbClr val="000000"/>
              </a:solidFill>
              <a:effectLst/>
              <a:uFillTx/>
              <a:latin typeface="Arial"/>
            </a:endParaRPr>
          </a:p>
        </p:txBody>
      </p:sp>
      <p:sp>
        <p:nvSpPr>
          <p:cNvPr id="278" name="Text 67"/>
          <p:cNvSpPr/>
          <p:nvPr/>
        </p:nvSpPr>
        <p:spPr>
          <a:xfrm>
            <a:off x="4663440" y="5449680"/>
            <a:ext cx="10969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$1,121.25</a:t>
            </a:r>
            <a:endParaRPr b="0" lang="en-US" sz="950" strike="noStrike" u="none">
              <a:solidFill>
                <a:srgbClr val="000000"/>
              </a:solidFill>
              <a:effectLst/>
              <a:uFillTx/>
              <a:latin typeface="Arial"/>
            </a:endParaRPr>
          </a:p>
        </p:txBody>
      </p:sp>
      <p:sp>
        <p:nvSpPr>
          <p:cNvPr id="279" name="Text 68"/>
          <p:cNvSpPr/>
          <p:nvPr/>
        </p:nvSpPr>
        <p:spPr>
          <a:xfrm>
            <a:off x="6080760" y="5449680"/>
            <a:ext cx="12340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152238"/>
                </a:solidFill>
                <a:effectLst/>
                <a:uFillTx/>
                <a:latin typeface="Arial"/>
                <a:ea typeface="Arial"/>
              </a:rPr>
              <a:t>9</a:t>
            </a:r>
            <a:endParaRPr b="0" lang="en-US" sz="950" strike="noStrike" u="none">
              <a:solidFill>
                <a:srgbClr val="000000"/>
              </a:solidFill>
              <a:effectLst/>
              <a:uFillTx/>
              <a:latin typeface="Arial"/>
            </a:endParaRPr>
          </a:p>
        </p:txBody>
      </p:sp>
      <p:sp>
        <p:nvSpPr>
          <p:cNvPr id="280" name="Text 69"/>
          <p:cNvSpPr/>
          <p:nvPr/>
        </p:nvSpPr>
        <p:spPr>
          <a:xfrm>
            <a:off x="7726680" y="5449680"/>
            <a:ext cx="13255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008c95"/>
                </a:solidFill>
                <a:effectLst/>
                <a:uFillTx/>
                <a:latin typeface="Arial"/>
                <a:ea typeface="Arial"/>
              </a:rPr>
              <a:t>HOT</a:t>
            </a:r>
            <a:endParaRPr b="0" lang="en-US" sz="950" strike="noStrike" u="none">
              <a:solidFill>
                <a:srgbClr val="000000"/>
              </a:solidFill>
              <a:effectLst/>
              <a:uFillTx/>
              <a:latin typeface="Arial"/>
            </a:endParaRPr>
          </a:p>
        </p:txBody>
      </p:sp>
      <p:sp>
        <p:nvSpPr>
          <p:cNvPr id="281" name="Text 70"/>
          <p:cNvSpPr/>
          <p:nvPr/>
        </p:nvSpPr>
        <p:spPr>
          <a:xfrm>
            <a:off x="9464040" y="5449680"/>
            <a:ext cx="20570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152238"/>
                </a:solidFill>
                <a:effectLst/>
                <a:uFillTx/>
                <a:latin typeface="Arial"/>
                <a:ea typeface="Arial"/>
              </a:rPr>
              <a:t>Prioritize</a:t>
            </a:r>
            <a:endParaRPr b="0" lang="en-US" sz="950" strike="noStrike" u="none">
              <a:solidFill>
                <a:srgbClr val="000000"/>
              </a:solidFill>
              <a:effectLst/>
              <a:uFillTx/>
              <a:latin typeface="Arial"/>
            </a:endParaRPr>
          </a:p>
        </p:txBody>
      </p:sp>
      <p:sp>
        <p:nvSpPr>
          <p:cNvPr id="282" name="Shape 71"/>
          <p:cNvSpPr/>
          <p:nvPr/>
        </p:nvSpPr>
        <p:spPr>
          <a:xfrm>
            <a:off x="594360" y="5989320"/>
            <a:ext cx="11018160" cy="310680"/>
          </a:xfrm>
          <a:prstGeom prst="roundRect">
            <a:avLst>
              <a:gd name="adj" fmla="val 35294"/>
            </a:avLst>
          </a:prstGeom>
          <a:solidFill>
            <a:srgbClr val="eaf7f8"/>
          </a:solidFill>
          <a:ln w="12700">
            <a:solidFill>
              <a:srgbClr val="eaf7f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283" name="Text 72"/>
          <p:cNvSpPr/>
          <p:nvPr/>
        </p:nvSpPr>
        <p:spPr>
          <a:xfrm>
            <a:off x="749880" y="6053400"/>
            <a:ext cx="1069812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008c95"/>
                </a:solidFill>
                <a:effectLst/>
                <a:uFillTx/>
                <a:latin typeface="Arial"/>
                <a:ea typeface="Arial"/>
              </a:rPr>
              <a:t>Priority rule: high sales velocity with 0–12 units in stock requires replenishment review.</a:t>
            </a:r>
            <a:endParaRPr b="0" lang="en-US" sz="1050" strike="noStrike" u="none">
              <a:solidFill>
                <a:srgbClr val="000000"/>
              </a:solidFill>
              <a:effectLst/>
              <a:uFillTx/>
              <a:latin typeface="Arial"/>
            </a:endParaRPr>
          </a:p>
        </p:txBody>
      </p:sp>
      <p:sp>
        <p:nvSpPr>
          <p:cNvPr id="284" name="PlaceHolder 1"/>
          <p:cNvSpPr>
            <a:spLocks noGrp="1"/>
          </p:cNvSpPr>
          <p:nvPr>
            <p:ph type="sldNum" idx="11"/>
          </p:nvPr>
        </p:nvSpPr>
        <p:spPr>
          <a:xfrm>
            <a:off x="11685960" y="6464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trike="noStrike" u="none">
                <a:solidFill>
                  <a:srgbClr val="7a8595"/>
                </a:solidFill>
                <a:effectLst/>
                <a:uFillTx/>
                <a:latin typeface="Arial"/>
                <a:ea typeface="Arial"/>
              </a:defRPr>
            </a:lvl1pPr>
          </a:lstStyle>
          <a:p>
            <a:pPr indent="0" defTabSz="914400">
              <a:lnSpc>
                <a:spcPct val="100000"/>
              </a:lnSpc>
              <a:buNone/>
            </a:pPr>
            <a:fld id="{03BB2CFF-012F-4B90-9331-4096D45BF3F6}" type="slidenum">
              <a:rPr b="0" lang="en-US" sz="800" strike="noStrike" u="none">
                <a:solidFill>
                  <a:srgbClr val="7a8595"/>
                </a:solidFill>
                <a:effectLst/>
                <a:uFillTx/>
                <a:latin typeface="Arial"/>
                <a:ea typeface="Arial"/>
              </a:rPr>
              <a:t>8</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Text 0"/>
          <p:cNvSpPr/>
          <p:nvPr/>
        </p:nvSpPr>
        <p:spPr>
          <a:xfrm>
            <a:off x="548640" y="347400"/>
            <a:ext cx="2559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1" strike="noStrike" u="none">
                <a:solidFill>
                  <a:srgbClr val="008c95"/>
                </a:solidFill>
                <a:effectLst/>
                <a:uFillTx/>
                <a:latin typeface="Arial"/>
                <a:ea typeface="Arial"/>
              </a:rPr>
              <a:t>08 • ANALYSIS 3</a:t>
            </a:r>
            <a:endParaRPr b="0" lang="en-US" sz="900" strike="noStrike" u="none">
              <a:solidFill>
                <a:srgbClr val="000000"/>
              </a:solidFill>
              <a:effectLst/>
              <a:uFillTx/>
              <a:latin typeface="Arial"/>
            </a:endParaRPr>
          </a:p>
        </p:txBody>
      </p:sp>
      <p:sp>
        <p:nvSpPr>
          <p:cNvPr id="286" name="Text 1"/>
          <p:cNvSpPr/>
          <p:nvPr/>
        </p:nvSpPr>
        <p:spPr>
          <a:xfrm>
            <a:off x="548640" y="640080"/>
            <a:ext cx="10606680" cy="566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14213d"/>
                </a:solidFill>
                <a:effectLst/>
                <a:uFillTx/>
                <a:latin typeface="Cambria"/>
                <a:ea typeface="Cambria"/>
              </a:rPr>
              <a:t>Repeat customer rate</a:t>
            </a:r>
            <a:endParaRPr b="0" lang="en-US" sz="2900" strike="noStrike" u="none">
              <a:solidFill>
                <a:srgbClr val="000000"/>
              </a:solidFill>
              <a:effectLst/>
              <a:uFillTx/>
              <a:latin typeface="Arial"/>
            </a:endParaRPr>
          </a:p>
        </p:txBody>
      </p:sp>
      <p:sp>
        <p:nvSpPr>
          <p:cNvPr id="287" name="Text 2"/>
          <p:cNvSpPr/>
          <p:nvPr/>
        </p:nvSpPr>
        <p:spPr>
          <a:xfrm>
            <a:off x="548640" y="1243440"/>
            <a:ext cx="106066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667085"/>
                </a:solidFill>
                <a:effectLst/>
                <a:uFillTx/>
                <a:latin typeface="Arial"/>
                <a:ea typeface="Arial"/>
              </a:rPr>
              <a:t>Share of customers with more than one purchase.</a:t>
            </a:r>
            <a:endParaRPr b="0" lang="en-US" sz="1250" strike="noStrike" u="none">
              <a:solidFill>
                <a:srgbClr val="000000"/>
              </a:solidFill>
              <a:effectLst/>
              <a:uFillTx/>
              <a:latin typeface="Arial"/>
            </a:endParaRPr>
          </a:p>
        </p:txBody>
      </p:sp>
      <p:sp>
        <p:nvSpPr>
          <p:cNvPr id="288" name="Shape 3"/>
          <p:cNvSpPr/>
          <p:nvPr/>
        </p:nvSpPr>
        <p:spPr>
          <a:xfrm>
            <a:off x="594360" y="1755720"/>
            <a:ext cx="6903360" cy="3611520"/>
          </a:xfrm>
          <a:prstGeom prst="roundRect">
            <a:avLst>
              <a:gd name="adj" fmla="val 3797"/>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89" name="Text 4"/>
          <p:cNvSpPr/>
          <p:nvPr/>
        </p:nvSpPr>
        <p:spPr>
          <a:xfrm>
            <a:off x="758880" y="1901880"/>
            <a:ext cx="6574320" cy="33555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70" strike="noStrike" u="none">
                <a:solidFill>
                  <a:srgbClr val="eaf0f7"/>
                </a:solidFill>
                <a:effectLst/>
                <a:uFillTx/>
                <a:latin typeface="Courier New"/>
                <a:ea typeface="Courier New"/>
              </a:rPr>
              <a:t>WITH Customer_Order_Count AS (</a:t>
            </a:r>
            <a:endParaRPr b="0" lang="en-US" sz="1070" strike="noStrike" u="none">
              <a:solidFill>
                <a:srgbClr val="000000"/>
              </a:solidFill>
              <a:effectLst/>
              <a:uFillTx/>
              <a:latin typeface="Arial"/>
            </a:endParaRPr>
          </a:p>
          <a:p>
            <a:pPr defTabSz="914400">
              <a:lnSpc>
                <a:spcPct val="100000"/>
              </a:lnSpc>
              <a:tabLst>
                <a:tab algn="l" pos="0"/>
              </a:tabLst>
            </a:pPr>
            <a:r>
              <a:rPr b="0" lang="en-US" sz="1070" strike="noStrike" u="none">
                <a:solidFill>
                  <a:srgbClr val="eaf0f7"/>
                </a:solidFill>
                <a:effectLst/>
                <a:uFillTx/>
                <a:latin typeface="Courier New"/>
                <a:ea typeface="Courier New"/>
              </a:rPr>
              <a:t>  SELECT c.Customer_ID, c.Full_Name,</a:t>
            </a:r>
            <a:endParaRPr b="0" lang="en-US" sz="1070" strike="noStrike" u="none">
              <a:solidFill>
                <a:srgbClr val="000000"/>
              </a:solidFill>
              <a:effectLst/>
              <a:uFillTx/>
              <a:latin typeface="Arial"/>
            </a:endParaRPr>
          </a:p>
          <a:p>
            <a:pPr defTabSz="914400">
              <a:lnSpc>
                <a:spcPct val="100000"/>
              </a:lnSpc>
              <a:tabLst>
                <a:tab algn="l" pos="0"/>
              </a:tabLst>
            </a:pPr>
            <a:r>
              <a:rPr b="0" lang="en-US" sz="1070" strike="noStrike" u="none">
                <a:solidFill>
                  <a:srgbClr val="eaf0f7"/>
                </a:solidFill>
                <a:effectLst/>
                <a:uFillTx/>
                <a:latin typeface="Courier New"/>
                <a:ea typeface="Courier New"/>
              </a:rPr>
              <a:t>         COUNT(DISTINCT o.Order_Id) AS Total_Orders</a:t>
            </a:r>
            <a:endParaRPr b="0" lang="en-US" sz="1070" strike="noStrike" u="none">
              <a:solidFill>
                <a:srgbClr val="000000"/>
              </a:solidFill>
              <a:effectLst/>
              <a:uFillTx/>
              <a:latin typeface="Arial"/>
            </a:endParaRPr>
          </a:p>
          <a:p>
            <a:pPr defTabSz="914400">
              <a:lnSpc>
                <a:spcPct val="100000"/>
              </a:lnSpc>
              <a:tabLst>
                <a:tab algn="l" pos="0"/>
              </a:tabLst>
            </a:pPr>
            <a:r>
              <a:rPr b="0" lang="en-US" sz="1070" strike="noStrike" u="none">
                <a:solidFill>
                  <a:srgbClr val="eaf0f7"/>
                </a:solidFill>
                <a:effectLst/>
                <a:uFillTx/>
                <a:latin typeface="Courier New"/>
                <a:ea typeface="Courier New"/>
              </a:rPr>
              <a:t>  FROM customers c</a:t>
            </a:r>
            <a:endParaRPr b="0" lang="en-US" sz="1070" strike="noStrike" u="none">
              <a:solidFill>
                <a:srgbClr val="000000"/>
              </a:solidFill>
              <a:effectLst/>
              <a:uFillTx/>
              <a:latin typeface="Arial"/>
            </a:endParaRPr>
          </a:p>
          <a:p>
            <a:pPr defTabSz="914400">
              <a:lnSpc>
                <a:spcPct val="100000"/>
              </a:lnSpc>
              <a:tabLst>
                <a:tab algn="l" pos="0"/>
              </a:tabLst>
            </a:pPr>
            <a:r>
              <a:rPr b="0" lang="en-US" sz="1070" strike="noStrike" u="none">
                <a:solidFill>
                  <a:srgbClr val="eaf0f7"/>
                </a:solidFill>
                <a:effectLst/>
                <a:uFillTx/>
                <a:latin typeface="Courier New"/>
                <a:ea typeface="Courier New"/>
              </a:rPr>
              <a:t>  INNER JOIN orders o ON c.Customer_ID=o.Customer_ID</a:t>
            </a:r>
            <a:endParaRPr b="0" lang="en-US" sz="1070" strike="noStrike" u="none">
              <a:solidFill>
                <a:srgbClr val="000000"/>
              </a:solidFill>
              <a:effectLst/>
              <a:uFillTx/>
              <a:latin typeface="Arial"/>
            </a:endParaRPr>
          </a:p>
          <a:p>
            <a:pPr defTabSz="914400">
              <a:lnSpc>
                <a:spcPct val="100000"/>
              </a:lnSpc>
              <a:tabLst>
                <a:tab algn="l" pos="0"/>
              </a:tabLst>
            </a:pPr>
            <a:r>
              <a:rPr b="0" lang="en-US" sz="1070" strike="noStrike" u="none">
                <a:solidFill>
                  <a:srgbClr val="eaf0f7"/>
                </a:solidFill>
                <a:effectLst/>
                <a:uFillTx/>
                <a:latin typeface="Courier New"/>
                <a:ea typeface="Courier New"/>
              </a:rPr>
              <a:t>  GROUP BY c.Customer_ID, c.Full_Name</a:t>
            </a:r>
            <a:endParaRPr b="0" lang="en-US" sz="1070" strike="noStrike" u="none">
              <a:solidFill>
                <a:srgbClr val="000000"/>
              </a:solidFill>
              <a:effectLst/>
              <a:uFillTx/>
              <a:latin typeface="Arial"/>
            </a:endParaRPr>
          </a:p>
          <a:p>
            <a:pPr defTabSz="914400">
              <a:lnSpc>
                <a:spcPct val="100000"/>
              </a:lnSpc>
              <a:tabLst>
                <a:tab algn="l" pos="0"/>
              </a:tabLst>
            </a:pPr>
            <a:r>
              <a:rPr b="0" lang="en-US" sz="1070" strike="noStrike" u="none">
                <a:solidFill>
                  <a:srgbClr val="eaf0f7"/>
                </a:solidFill>
                <a:effectLst/>
                <a:uFillTx/>
                <a:latin typeface="Courier New"/>
                <a:ea typeface="Courier New"/>
              </a:rPr>
              <a:t>)</a:t>
            </a:r>
            <a:endParaRPr b="0" lang="en-US" sz="1070" strike="noStrike" u="none">
              <a:solidFill>
                <a:srgbClr val="000000"/>
              </a:solidFill>
              <a:effectLst/>
              <a:uFillTx/>
              <a:latin typeface="Arial"/>
            </a:endParaRPr>
          </a:p>
          <a:p>
            <a:pPr defTabSz="914400">
              <a:lnSpc>
                <a:spcPct val="100000"/>
              </a:lnSpc>
              <a:tabLst>
                <a:tab algn="l" pos="0"/>
              </a:tabLst>
            </a:pPr>
            <a:r>
              <a:rPr b="0" lang="en-US" sz="1070" strike="noStrike" u="none">
                <a:solidFill>
                  <a:srgbClr val="eaf0f7"/>
                </a:solidFill>
                <a:effectLst/>
                <a:uFillTx/>
                <a:latin typeface="Courier New"/>
                <a:ea typeface="Courier New"/>
              </a:rPr>
              <a:t>SELECT COUNT(*) AS Total_Customers,</a:t>
            </a:r>
            <a:endParaRPr b="0" lang="en-US" sz="1070" strike="noStrike" u="none">
              <a:solidFill>
                <a:srgbClr val="000000"/>
              </a:solidFill>
              <a:effectLst/>
              <a:uFillTx/>
              <a:latin typeface="Arial"/>
            </a:endParaRPr>
          </a:p>
          <a:p>
            <a:pPr defTabSz="914400">
              <a:lnSpc>
                <a:spcPct val="100000"/>
              </a:lnSpc>
              <a:tabLst>
                <a:tab algn="l" pos="0"/>
              </a:tabLst>
            </a:pPr>
            <a:r>
              <a:rPr b="0" lang="en-US" sz="1070" strike="noStrike" u="none">
                <a:solidFill>
                  <a:srgbClr val="eaf0f7"/>
                </a:solidFill>
                <a:effectLst/>
                <a:uFillTx/>
                <a:latin typeface="Courier New"/>
                <a:ea typeface="Courier New"/>
              </a:rPr>
              <a:t>       SUM(CASE WHEN Total_Orders &gt; 1 THEN 1 ELSE 0 END) AS Repeat_Customers,</a:t>
            </a:r>
            <a:endParaRPr b="0" lang="en-US" sz="1070" strike="noStrike" u="none">
              <a:solidFill>
                <a:srgbClr val="000000"/>
              </a:solidFill>
              <a:effectLst/>
              <a:uFillTx/>
              <a:latin typeface="Arial"/>
            </a:endParaRPr>
          </a:p>
          <a:p>
            <a:pPr defTabSz="914400">
              <a:lnSpc>
                <a:spcPct val="100000"/>
              </a:lnSpc>
              <a:tabLst>
                <a:tab algn="l" pos="0"/>
              </a:tabLst>
            </a:pPr>
            <a:r>
              <a:rPr b="0" lang="en-US" sz="1070" strike="noStrike" u="none">
                <a:solidFill>
                  <a:srgbClr val="eaf0f7"/>
                </a:solidFill>
                <a:effectLst/>
                <a:uFillTx/>
                <a:latin typeface="Courier New"/>
                <a:ea typeface="Courier New"/>
              </a:rPr>
              <a:t>       SUM(CASE WHEN Total_Orders = 1 THEN 1 ELSE 0 END) AS One_Time_Customers,</a:t>
            </a:r>
            <a:endParaRPr b="0" lang="en-US" sz="1070" strike="noStrike" u="none">
              <a:solidFill>
                <a:srgbClr val="000000"/>
              </a:solidFill>
              <a:effectLst/>
              <a:uFillTx/>
              <a:latin typeface="Arial"/>
            </a:endParaRPr>
          </a:p>
          <a:p>
            <a:pPr defTabSz="914400">
              <a:lnSpc>
                <a:spcPct val="100000"/>
              </a:lnSpc>
              <a:tabLst>
                <a:tab algn="l" pos="0"/>
              </a:tabLst>
            </a:pPr>
            <a:r>
              <a:rPr b="0" lang="en-US" sz="1070" strike="noStrike" u="none">
                <a:solidFill>
                  <a:srgbClr val="eaf0f7"/>
                </a:solidFill>
                <a:effectLst/>
                <a:uFillTx/>
                <a:latin typeface="Courier New"/>
                <a:ea typeface="Courier New"/>
              </a:rPr>
              <a:t>       ROUND(SUM(CASE WHEN Total_Orders &gt; 1 THEN 1 ELSE 0 END)</a:t>
            </a:r>
            <a:endParaRPr b="0" lang="en-US" sz="1070" strike="noStrike" u="none">
              <a:solidFill>
                <a:srgbClr val="000000"/>
              </a:solidFill>
              <a:effectLst/>
              <a:uFillTx/>
              <a:latin typeface="Arial"/>
            </a:endParaRPr>
          </a:p>
          <a:p>
            <a:pPr defTabSz="914400">
              <a:lnSpc>
                <a:spcPct val="100000"/>
              </a:lnSpc>
              <a:tabLst>
                <a:tab algn="l" pos="0"/>
              </a:tabLst>
            </a:pPr>
            <a:r>
              <a:rPr b="0" lang="en-US" sz="1070" strike="noStrike" u="none">
                <a:solidFill>
                  <a:srgbClr val="eaf0f7"/>
                </a:solidFill>
                <a:effectLst/>
                <a:uFillTx/>
                <a:latin typeface="Courier New"/>
                <a:ea typeface="Courier New"/>
              </a:rPr>
              <a:t>             * 100.0 / COUNT(*),2) AS Repeat_Customer_Rate_Pct</a:t>
            </a:r>
            <a:endParaRPr b="0" lang="en-US" sz="1070" strike="noStrike" u="none">
              <a:solidFill>
                <a:srgbClr val="000000"/>
              </a:solidFill>
              <a:effectLst/>
              <a:uFillTx/>
              <a:latin typeface="Arial"/>
            </a:endParaRPr>
          </a:p>
          <a:p>
            <a:pPr defTabSz="914400">
              <a:lnSpc>
                <a:spcPct val="100000"/>
              </a:lnSpc>
              <a:tabLst>
                <a:tab algn="l" pos="0"/>
              </a:tabLst>
            </a:pPr>
            <a:r>
              <a:rPr b="0" lang="en-US" sz="1070" strike="noStrike" u="none">
                <a:solidFill>
                  <a:srgbClr val="eaf0f7"/>
                </a:solidFill>
                <a:effectLst/>
                <a:uFillTx/>
                <a:latin typeface="Courier New"/>
                <a:ea typeface="Courier New"/>
              </a:rPr>
              <a:t>FROM Customer_Order_Count;</a:t>
            </a:r>
            <a:endParaRPr b="0" lang="en-US" sz="1070" strike="noStrike" u="none">
              <a:solidFill>
                <a:srgbClr val="000000"/>
              </a:solidFill>
              <a:effectLst/>
              <a:uFillTx/>
              <a:latin typeface="Arial"/>
            </a:endParaRPr>
          </a:p>
        </p:txBody>
      </p:sp>
      <p:graphicFrame>
        <p:nvGraphicFramePr>
          <p:cNvPr id="290" name="Chart 0"/>
          <p:cNvGraphicFramePr/>
          <p:nvPr/>
        </p:nvGraphicFramePr>
        <p:xfrm>
          <a:off x="7818120" y="1810440"/>
          <a:ext cx="3565800" cy="3017160"/>
        </p:xfrm>
        <a:graphic>
          <a:graphicData uri="http://schemas.openxmlformats.org/drawingml/2006/chart">
            <c:chart xmlns:c="http://schemas.openxmlformats.org/drawingml/2006/chart" xmlns:r="http://schemas.openxmlformats.org/officeDocument/2006/relationships" r:id="rId1"/>
          </a:graphicData>
        </a:graphic>
      </p:graphicFrame>
      <p:sp>
        <p:nvSpPr>
          <p:cNvPr id="291" name="Text 5"/>
          <p:cNvSpPr/>
          <p:nvPr/>
        </p:nvSpPr>
        <p:spPr>
          <a:xfrm>
            <a:off x="8339400" y="2724840"/>
            <a:ext cx="2514240" cy="511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900" strike="noStrike" u="none">
                <a:solidFill>
                  <a:srgbClr val="14213d"/>
                </a:solidFill>
                <a:effectLst/>
                <a:uFillTx/>
                <a:latin typeface="Cambria"/>
                <a:ea typeface="Cambria"/>
              </a:rPr>
              <a:t>31.62%</a:t>
            </a:r>
            <a:endParaRPr b="0" lang="en-US" sz="2900" strike="noStrike" u="none">
              <a:solidFill>
                <a:srgbClr val="000000"/>
              </a:solidFill>
              <a:effectLst/>
              <a:uFillTx/>
              <a:latin typeface="Arial"/>
            </a:endParaRPr>
          </a:p>
        </p:txBody>
      </p:sp>
      <p:sp>
        <p:nvSpPr>
          <p:cNvPr id="292" name="Text 6"/>
          <p:cNvSpPr/>
          <p:nvPr/>
        </p:nvSpPr>
        <p:spPr>
          <a:xfrm>
            <a:off x="8339400" y="3218760"/>
            <a:ext cx="2514240" cy="219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085"/>
                </a:solidFill>
                <a:effectLst/>
                <a:uFillTx/>
                <a:latin typeface="Arial"/>
                <a:ea typeface="Arial"/>
              </a:rPr>
              <a:t>repeat rate</a:t>
            </a:r>
            <a:endParaRPr b="0" lang="en-US" sz="1100" strike="noStrike" u="none">
              <a:solidFill>
                <a:srgbClr val="000000"/>
              </a:solidFill>
              <a:effectLst/>
              <a:uFillTx/>
              <a:latin typeface="Arial"/>
            </a:endParaRPr>
          </a:p>
        </p:txBody>
      </p:sp>
      <p:sp>
        <p:nvSpPr>
          <p:cNvPr id="293" name="Shape 7"/>
          <p:cNvSpPr/>
          <p:nvPr/>
        </p:nvSpPr>
        <p:spPr>
          <a:xfrm>
            <a:off x="594360" y="5532120"/>
            <a:ext cx="324576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4" name="Shape 8"/>
          <p:cNvSpPr/>
          <p:nvPr/>
        </p:nvSpPr>
        <p:spPr>
          <a:xfrm>
            <a:off x="758880" y="5696640"/>
            <a:ext cx="200880" cy="20088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5" name="Text 9"/>
          <p:cNvSpPr/>
          <p:nvPr/>
        </p:nvSpPr>
        <p:spPr>
          <a:xfrm>
            <a:off x="1051560" y="5669280"/>
            <a:ext cx="265140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43</a:t>
            </a:r>
            <a:endParaRPr b="0" lang="en-US" sz="2700" strike="noStrike" u="none">
              <a:solidFill>
                <a:srgbClr val="000000"/>
              </a:solidFill>
              <a:effectLst/>
              <a:uFillTx/>
              <a:latin typeface="Arial"/>
            </a:endParaRPr>
          </a:p>
        </p:txBody>
      </p:sp>
      <p:sp>
        <p:nvSpPr>
          <p:cNvPr id="296" name="Text 10"/>
          <p:cNvSpPr/>
          <p:nvPr/>
        </p:nvSpPr>
        <p:spPr>
          <a:xfrm>
            <a:off x="1051560" y="6135480"/>
            <a:ext cx="26056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repeat customers</a:t>
            </a:r>
            <a:endParaRPr b="0" lang="en-US" sz="1050" strike="noStrike" u="none">
              <a:solidFill>
                <a:srgbClr val="000000"/>
              </a:solidFill>
              <a:effectLst/>
              <a:uFillTx/>
              <a:latin typeface="Arial"/>
            </a:endParaRPr>
          </a:p>
        </p:txBody>
      </p:sp>
      <p:sp>
        <p:nvSpPr>
          <p:cNvPr id="297" name="Shape 11"/>
          <p:cNvSpPr/>
          <p:nvPr/>
        </p:nvSpPr>
        <p:spPr>
          <a:xfrm>
            <a:off x="3977640" y="5532120"/>
            <a:ext cx="324576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8" name="Shape 12"/>
          <p:cNvSpPr/>
          <p:nvPr/>
        </p:nvSpPr>
        <p:spPr>
          <a:xfrm>
            <a:off x="4142160" y="5696640"/>
            <a:ext cx="200880" cy="200880"/>
          </a:xfrm>
          <a:prstGeom prst="ellipse">
            <a:avLst/>
          </a:prstGeom>
          <a:solidFill>
            <a:srgbClr val="f4a261"/>
          </a:solidFill>
          <a:ln w="12700">
            <a:solidFill>
              <a:srgbClr val="f4a261">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9" name="Text 13"/>
          <p:cNvSpPr/>
          <p:nvPr/>
        </p:nvSpPr>
        <p:spPr>
          <a:xfrm>
            <a:off x="4434840" y="5669280"/>
            <a:ext cx="265140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93</a:t>
            </a:r>
            <a:endParaRPr b="0" lang="en-US" sz="2700" strike="noStrike" u="none">
              <a:solidFill>
                <a:srgbClr val="000000"/>
              </a:solidFill>
              <a:effectLst/>
              <a:uFillTx/>
              <a:latin typeface="Arial"/>
            </a:endParaRPr>
          </a:p>
        </p:txBody>
      </p:sp>
      <p:sp>
        <p:nvSpPr>
          <p:cNvPr id="300" name="Text 14"/>
          <p:cNvSpPr/>
          <p:nvPr/>
        </p:nvSpPr>
        <p:spPr>
          <a:xfrm>
            <a:off x="4434840" y="6135480"/>
            <a:ext cx="26056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one-time customers</a:t>
            </a:r>
            <a:endParaRPr b="0" lang="en-US" sz="1050" strike="noStrike" u="none">
              <a:solidFill>
                <a:srgbClr val="000000"/>
              </a:solidFill>
              <a:effectLst/>
              <a:uFillTx/>
              <a:latin typeface="Arial"/>
            </a:endParaRPr>
          </a:p>
        </p:txBody>
      </p:sp>
      <p:sp>
        <p:nvSpPr>
          <p:cNvPr id="301" name="Shape 15"/>
          <p:cNvSpPr/>
          <p:nvPr/>
        </p:nvSpPr>
        <p:spPr>
          <a:xfrm>
            <a:off x="7360920" y="5532120"/>
            <a:ext cx="402300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2" name="Shape 16"/>
          <p:cNvSpPr/>
          <p:nvPr/>
        </p:nvSpPr>
        <p:spPr>
          <a:xfrm>
            <a:off x="7525440" y="5696640"/>
            <a:ext cx="200880" cy="200880"/>
          </a:xfrm>
          <a:prstGeom prst="ellipse">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03" name="Text 17"/>
          <p:cNvSpPr/>
          <p:nvPr/>
        </p:nvSpPr>
        <p:spPr>
          <a:xfrm>
            <a:off x="7818120" y="5669280"/>
            <a:ext cx="342864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136</a:t>
            </a:r>
            <a:endParaRPr b="0" lang="en-US" sz="2700" strike="noStrike" u="none">
              <a:solidFill>
                <a:srgbClr val="000000"/>
              </a:solidFill>
              <a:effectLst/>
              <a:uFillTx/>
              <a:latin typeface="Arial"/>
            </a:endParaRPr>
          </a:p>
        </p:txBody>
      </p:sp>
      <p:sp>
        <p:nvSpPr>
          <p:cNvPr id="304" name="Text 18"/>
          <p:cNvSpPr/>
          <p:nvPr/>
        </p:nvSpPr>
        <p:spPr>
          <a:xfrm>
            <a:off x="7818120" y="6135480"/>
            <a:ext cx="33829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customers with orders</a:t>
            </a:r>
            <a:endParaRPr b="0" lang="en-US" sz="1050" strike="noStrike" u="none">
              <a:solidFill>
                <a:srgbClr val="000000"/>
              </a:solidFill>
              <a:effectLst/>
              <a:uFillTx/>
              <a:latin typeface="Arial"/>
            </a:endParaRPr>
          </a:p>
        </p:txBody>
      </p:sp>
      <p:sp>
        <p:nvSpPr>
          <p:cNvPr id="305" name="PlaceHolder 1"/>
          <p:cNvSpPr>
            <a:spLocks noGrp="1"/>
          </p:cNvSpPr>
          <p:nvPr>
            <p:ph type="sldNum" idx="12"/>
          </p:nvPr>
        </p:nvSpPr>
        <p:spPr>
          <a:xfrm>
            <a:off x="11685960" y="6464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trike="noStrike" u="none">
                <a:solidFill>
                  <a:srgbClr val="7a8595"/>
                </a:solidFill>
                <a:effectLst/>
                <a:uFillTx/>
                <a:latin typeface="Arial"/>
                <a:ea typeface="Arial"/>
              </a:defRPr>
            </a:lvl1pPr>
          </a:lstStyle>
          <a:p>
            <a:pPr indent="0" defTabSz="914400">
              <a:lnSpc>
                <a:spcPct val="100000"/>
              </a:lnSpc>
              <a:buNone/>
            </a:pPr>
            <a:fld id="{8E4427BE-54EA-422A-BF68-F9271E28643B}" type="slidenum">
              <a:rPr b="0" lang="en-US" sz="800" strike="noStrike" u="none">
                <a:solidFill>
                  <a:srgbClr val="7a8595"/>
                </a:solidFill>
                <a:effectLst/>
                <a:uFillTx/>
                <a:latin typeface="Arial"/>
                <a:ea typeface="Arial"/>
              </a:rPr>
              <a:t>9</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Text 0"/>
          <p:cNvSpPr/>
          <p:nvPr/>
        </p:nvSpPr>
        <p:spPr>
          <a:xfrm>
            <a:off x="548640" y="347400"/>
            <a:ext cx="2559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1" strike="noStrike" u="none">
                <a:solidFill>
                  <a:srgbClr val="008c95"/>
                </a:solidFill>
                <a:effectLst/>
                <a:uFillTx/>
                <a:latin typeface="Arial"/>
                <a:ea typeface="Arial"/>
              </a:rPr>
              <a:t>09 • BUSINESS IMPLICATIONS</a:t>
            </a:r>
            <a:endParaRPr b="0" lang="en-US" sz="900" strike="noStrike" u="none">
              <a:solidFill>
                <a:srgbClr val="000000"/>
              </a:solidFill>
              <a:effectLst/>
              <a:uFillTx/>
              <a:latin typeface="Arial"/>
            </a:endParaRPr>
          </a:p>
        </p:txBody>
      </p:sp>
      <p:sp>
        <p:nvSpPr>
          <p:cNvPr id="307" name="Text 1"/>
          <p:cNvSpPr/>
          <p:nvPr/>
        </p:nvSpPr>
        <p:spPr>
          <a:xfrm>
            <a:off x="548640" y="640080"/>
            <a:ext cx="10606680" cy="566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14213d"/>
                </a:solidFill>
                <a:effectLst/>
                <a:uFillTx/>
                <a:latin typeface="Cambria"/>
                <a:ea typeface="Cambria"/>
              </a:rPr>
              <a:t>Business implications</a:t>
            </a:r>
            <a:endParaRPr b="0" lang="en-US" sz="2900" strike="noStrike" u="none">
              <a:solidFill>
                <a:srgbClr val="000000"/>
              </a:solidFill>
              <a:effectLst/>
              <a:uFillTx/>
              <a:latin typeface="Arial"/>
            </a:endParaRPr>
          </a:p>
        </p:txBody>
      </p:sp>
      <p:sp>
        <p:nvSpPr>
          <p:cNvPr id="308" name="Text 2"/>
          <p:cNvSpPr/>
          <p:nvPr/>
        </p:nvSpPr>
        <p:spPr>
          <a:xfrm>
            <a:off x="548640" y="1243440"/>
            <a:ext cx="106066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667085"/>
                </a:solidFill>
                <a:effectLst/>
                <a:uFillTx/>
                <a:latin typeface="Arial"/>
                <a:ea typeface="Arial"/>
              </a:rPr>
              <a:t>The analysis highlights three practical areas for action.</a:t>
            </a:r>
            <a:endParaRPr b="0" lang="en-US" sz="1250" strike="noStrike" u="none">
              <a:solidFill>
                <a:srgbClr val="000000"/>
              </a:solidFill>
              <a:effectLst/>
              <a:uFillTx/>
              <a:latin typeface="Arial"/>
            </a:endParaRPr>
          </a:p>
        </p:txBody>
      </p:sp>
      <p:sp>
        <p:nvSpPr>
          <p:cNvPr id="309" name="Shape 3"/>
          <p:cNvSpPr/>
          <p:nvPr/>
        </p:nvSpPr>
        <p:spPr>
          <a:xfrm>
            <a:off x="594360" y="1783080"/>
            <a:ext cx="3428640" cy="1828440"/>
          </a:xfrm>
          <a:prstGeom prst="roundRect">
            <a:avLst>
              <a:gd name="adj" fmla="val 8000"/>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10" name="Shape 4"/>
          <p:cNvSpPr/>
          <p:nvPr/>
        </p:nvSpPr>
        <p:spPr>
          <a:xfrm>
            <a:off x="777240" y="1965960"/>
            <a:ext cx="347040" cy="347040"/>
          </a:xfrm>
          <a:prstGeom prst="ellipse">
            <a:avLst/>
          </a:prstGeom>
          <a:solidFill>
            <a:srgbClr val="f4a261"/>
          </a:solidFill>
          <a:ln w="12700">
            <a:solidFill>
              <a:srgbClr val="f4a261">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11" name="Text 5"/>
          <p:cNvSpPr/>
          <p:nvPr/>
        </p:nvSpPr>
        <p:spPr>
          <a:xfrm>
            <a:off x="777240" y="198432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1</a:t>
            </a:r>
            <a:endParaRPr b="0" lang="en-US" sz="1000" strike="noStrike" u="none">
              <a:solidFill>
                <a:srgbClr val="000000"/>
              </a:solidFill>
              <a:effectLst/>
              <a:uFillTx/>
              <a:latin typeface="Arial"/>
            </a:endParaRPr>
          </a:p>
        </p:txBody>
      </p:sp>
      <p:sp>
        <p:nvSpPr>
          <p:cNvPr id="312" name="Text 6"/>
          <p:cNvSpPr/>
          <p:nvPr/>
        </p:nvSpPr>
        <p:spPr>
          <a:xfrm>
            <a:off x="1234440" y="1938600"/>
            <a:ext cx="2605680" cy="273960"/>
          </a:xfrm>
          <a:prstGeom prst="rect">
            <a:avLst/>
          </a:prstGeom>
          <a:noFill/>
          <a:ln w="0">
            <a:noFill/>
          </a:ln>
        </p:spPr>
        <p:style>
          <a:lnRef idx="0"/>
          <a:fillRef idx="0"/>
          <a:effectRef idx="0"/>
          <a:fontRef idx="minor"/>
        </p:style>
        <p:txBody>
          <a:bodyPr lIns="0" rIns="0" tIns="0" bIns="0" anchor="ctr">
            <a:normAutofit fontScale="85000" lnSpcReduction="9999"/>
          </a:bodyPr>
          <a:p>
            <a:pPr defTabSz="914400">
              <a:lnSpc>
                <a:spcPct val="100000"/>
              </a:lnSpc>
              <a:tabLst>
                <a:tab algn="l" pos="0"/>
              </a:tabLst>
            </a:pPr>
            <a:r>
              <a:rPr b="1" lang="en-US" sz="1600" strike="noStrike" u="none">
                <a:solidFill>
                  <a:srgbClr val="14213d"/>
                </a:solidFill>
                <a:effectLst/>
                <a:uFillTx/>
                <a:latin typeface="Arial"/>
                <a:ea typeface="Arial"/>
              </a:rPr>
              <a:t>Re-engage lapsed customers</a:t>
            </a:r>
            <a:endParaRPr b="0" lang="en-US" sz="1600" strike="noStrike" u="none">
              <a:solidFill>
                <a:srgbClr val="000000"/>
              </a:solidFill>
              <a:effectLst/>
              <a:uFillTx/>
              <a:latin typeface="Arial"/>
            </a:endParaRPr>
          </a:p>
        </p:txBody>
      </p:sp>
      <p:sp>
        <p:nvSpPr>
          <p:cNvPr id="313" name="Text 7"/>
          <p:cNvSpPr/>
          <p:nvPr/>
        </p:nvSpPr>
        <p:spPr>
          <a:xfrm>
            <a:off x="1234440" y="2286000"/>
            <a:ext cx="2605680" cy="12157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Prioritize customers with the largest purchase gaps for retention campaigns.</a:t>
            </a:r>
            <a:endParaRPr b="0" lang="en-US" sz="1150" strike="noStrike" u="none">
              <a:solidFill>
                <a:srgbClr val="000000"/>
              </a:solidFill>
              <a:effectLst/>
              <a:uFillTx/>
              <a:latin typeface="Arial"/>
            </a:endParaRPr>
          </a:p>
        </p:txBody>
      </p:sp>
      <p:sp>
        <p:nvSpPr>
          <p:cNvPr id="314" name="Shape 8"/>
          <p:cNvSpPr/>
          <p:nvPr/>
        </p:nvSpPr>
        <p:spPr>
          <a:xfrm>
            <a:off x="4251960" y="1783080"/>
            <a:ext cx="3428640" cy="1828440"/>
          </a:xfrm>
          <a:prstGeom prst="roundRect">
            <a:avLst>
              <a:gd name="adj" fmla="val 8000"/>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15" name="Shape 9"/>
          <p:cNvSpPr/>
          <p:nvPr/>
        </p:nvSpPr>
        <p:spPr>
          <a:xfrm>
            <a:off x="4434840" y="1965960"/>
            <a:ext cx="347040" cy="34704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16" name="Text 10"/>
          <p:cNvSpPr/>
          <p:nvPr/>
        </p:nvSpPr>
        <p:spPr>
          <a:xfrm>
            <a:off x="4434840" y="198432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2</a:t>
            </a:r>
            <a:endParaRPr b="0" lang="en-US" sz="1000" strike="noStrike" u="none">
              <a:solidFill>
                <a:srgbClr val="000000"/>
              </a:solidFill>
              <a:effectLst/>
              <a:uFillTx/>
              <a:latin typeface="Arial"/>
            </a:endParaRPr>
          </a:p>
        </p:txBody>
      </p:sp>
      <p:sp>
        <p:nvSpPr>
          <p:cNvPr id="317" name="Text 11"/>
          <p:cNvSpPr/>
          <p:nvPr/>
        </p:nvSpPr>
        <p:spPr>
          <a:xfrm>
            <a:off x="4892040" y="1938600"/>
            <a:ext cx="2605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Protect high-velocity stock</a:t>
            </a:r>
            <a:endParaRPr b="0" lang="en-US" sz="1600" strike="noStrike" u="none">
              <a:solidFill>
                <a:srgbClr val="000000"/>
              </a:solidFill>
              <a:effectLst/>
              <a:uFillTx/>
              <a:latin typeface="Arial"/>
            </a:endParaRPr>
          </a:p>
        </p:txBody>
      </p:sp>
      <p:sp>
        <p:nvSpPr>
          <p:cNvPr id="318" name="Text 12"/>
          <p:cNvSpPr/>
          <p:nvPr/>
        </p:nvSpPr>
        <p:spPr>
          <a:xfrm>
            <a:off x="4892040" y="2286000"/>
            <a:ext cx="2605680" cy="12157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Review replenishment for products with above-average sales and below-average inventory.</a:t>
            </a:r>
            <a:endParaRPr b="0" lang="en-US" sz="1150" strike="noStrike" u="none">
              <a:solidFill>
                <a:srgbClr val="000000"/>
              </a:solidFill>
              <a:effectLst/>
              <a:uFillTx/>
              <a:latin typeface="Arial"/>
            </a:endParaRPr>
          </a:p>
        </p:txBody>
      </p:sp>
      <p:sp>
        <p:nvSpPr>
          <p:cNvPr id="319" name="Shape 13"/>
          <p:cNvSpPr/>
          <p:nvPr/>
        </p:nvSpPr>
        <p:spPr>
          <a:xfrm>
            <a:off x="7909560" y="1783080"/>
            <a:ext cx="3428640" cy="1828440"/>
          </a:xfrm>
          <a:prstGeom prst="roundRect">
            <a:avLst>
              <a:gd name="adj" fmla="val 8000"/>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20" name="Shape 14"/>
          <p:cNvSpPr/>
          <p:nvPr/>
        </p:nvSpPr>
        <p:spPr>
          <a:xfrm>
            <a:off x="8092440" y="1965960"/>
            <a:ext cx="347040" cy="347040"/>
          </a:xfrm>
          <a:prstGeom prst="ellipse">
            <a:avLst/>
          </a:prstGeom>
          <a:solidFill>
            <a:srgbClr val="36c5d8"/>
          </a:solidFill>
          <a:ln w="12700">
            <a:solidFill>
              <a:srgbClr val="36c5d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21" name="Text 15"/>
          <p:cNvSpPr/>
          <p:nvPr/>
        </p:nvSpPr>
        <p:spPr>
          <a:xfrm>
            <a:off x="8092440" y="198432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3</a:t>
            </a:r>
            <a:endParaRPr b="0" lang="en-US" sz="1000" strike="noStrike" u="none">
              <a:solidFill>
                <a:srgbClr val="000000"/>
              </a:solidFill>
              <a:effectLst/>
              <a:uFillTx/>
              <a:latin typeface="Arial"/>
            </a:endParaRPr>
          </a:p>
        </p:txBody>
      </p:sp>
      <p:sp>
        <p:nvSpPr>
          <p:cNvPr id="322" name="Text 16"/>
          <p:cNvSpPr/>
          <p:nvPr/>
        </p:nvSpPr>
        <p:spPr>
          <a:xfrm>
            <a:off x="8549640" y="1938600"/>
            <a:ext cx="2605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Grow repeat behavior</a:t>
            </a:r>
            <a:endParaRPr b="0" lang="en-US" sz="1600" strike="noStrike" u="none">
              <a:solidFill>
                <a:srgbClr val="000000"/>
              </a:solidFill>
              <a:effectLst/>
              <a:uFillTx/>
              <a:latin typeface="Arial"/>
            </a:endParaRPr>
          </a:p>
        </p:txBody>
      </p:sp>
      <p:sp>
        <p:nvSpPr>
          <p:cNvPr id="323" name="Text 17"/>
          <p:cNvSpPr/>
          <p:nvPr/>
        </p:nvSpPr>
        <p:spPr>
          <a:xfrm>
            <a:off x="8549640" y="2286000"/>
            <a:ext cx="2605680" cy="12157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Use the 31.62% repeat rate as a baseline for retention initiatives.</a:t>
            </a:r>
            <a:endParaRPr b="0" lang="en-US" sz="1150" strike="noStrike" u="none">
              <a:solidFill>
                <a:srgbClr val="000000"/>
              </a:solidFill>
              <a:effectLst/>
              <a:uFillTx/>
              <a:latin typeface="Arial"/>
            </a:endParaRPr>
          </a:p>
        </p:txBody>
      </p:sp>
      <p:sp>
        <p:nvSpPr>
          <p:cNvPr id="324" name="Shape 18"/>
          <p:cNvSpPr/>
          <p:nvPr/>
        </p:nvSpPr>
        <p:spPr>
          <a:xfrm>
            <a:off x="594360" y="4041720"/>
            <a:ext cx="10743840" cy="1261440"/>
          </a:xfrm>
          <a:prstGeom prst="roundRect">
            <a:avLst>
              <a:gd name="adj" fmla="val 13043"/>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25" name="Text 19"/>
          <p:cNvSpPr/>
          <p:nvPr/>
        </p:nvSpPr>
        <p:spPr>
          <a:xfrm>
            <a:off x="914400" y="4316040"/>
            <a:ext cx="4754520" cy="273960"/>
          </a:xfrm>
          <a:prstGeom prst="rect">
            <a:avLst/>
          </a:prstGeom>
          <a:noFill/>
          <a:ln w="0">
            <a:noFill/>
          </a:ln>
        </p:spPr>
        <p:style>
          <a:lnRef idx="0"/>
          <a:fillRef idx="0"/>
          <a:effectRef idx="0"/>
          <a:fontRef idx="minor"/>
        </p:style>
        <p:txBody>
          <a:bodyPr lIns="0" rIns="0" tIns="0" bIns="0" anchor="ctr">
            <a:normAutofit fontScale="92500" lnSpcReduction="19999"/>
          </a:bodyPr>
          <a:p>
            <a:pPr defTabSz="914400">
              <a:lnSpc>
                <a:spcPct val="100000"/>
              </a:lnSpc>
              <a:tabLst>
                <a:tab algn="l" pos="0"/>
              </a:tabLst>
            </a:pPr>
            <a:r>
              <a:rPr b="1" lang="en-US" sz="2300" strike="noStrike" u="none">
                <a:solidFill>
                  <a:srgbClr val="ffffff"/>
                </a:solidFill>
                <a:effectLst/>
                <a:uFillTx/>
                <a:latin typeface="Cambria"/>
                <a:ea typeface="Cambria"/>
              </a:rPr>
              <a:t>Metric → insight → action</a:t>
            </a:r>
            <a:endParaRPr b="0" lang="en-US" sz="2300" strike="noStrike" u="none">
              <a:solidFill>
                <a:srgbClr val="000000"/>
              </a:solidFill>
              <a:effectLst/>
              <a:uFillTx/>
              <a:latin typeface="Arial"/>
            </a:endParaRPr>
          </a:p>
        </p:txBody>
      </p:sp>
      <p:sp>
        <p:nvSpPr>
          <p:cNvPr id="326" name="Text 20"/>
          <p:cNvSpPr/>
          <p:nvPr/>
        </p:nvSpPr>
        <p:spPr>
          <a:xfrm>
            <a:off x="5532120" y="4251960"/>
            <a:ext cx="530316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50" strike="noStrike" u="none">
                <a:solidFill>
                  <a:srgbClr val="d9e4f1"/>
                </a:solidFill>
                <a:effectLst/>
                <a:uFillTx/>
                <a:latin typeface="Arial"/>
                <a:ea typeface="Arial"/>
              </a:rPr>
              <a:t>The analysis links measured patterns to practical next steps.</a:t>
            </a:r>
            <a:endParaRPr b="0" lang="en-US" sz="1350" strike="noStrike" u="none">
              <a:solidFill>
                <a:srgbClr val="000000"/>
              </a:solidFill>
              <a:effectLst/>
              <a:uFillTx/>
              <a:latin typeface="Arial"/>
            </a:endParaRPr>
          </a:p>
        </p:txBody>
      </p:sp>
      <p:sp>
        <p:nvSpPr>
          <p:cNvPr id="327" name="Shape 21"/>
          <p:cNvSpPr/>
          <p:nvPr/>
        </p:nvSpPr>
        <p:spPr>
          <a:xfrm>
            <a:off x="914400" y="5650920"/>
            <a:ext cx="310680" cy="31068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28" name="Text 22"/>
          <p:cNvSpPr/>
          <p:nvPr/>
        </p:nvSpPr>
        <p:spPr>
          <a:xfrm>
            <a:off x="914400" y="5687640"/>
            <a:ext cx="31068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ffffff"/>
                </a:solidFill>
                <a:effectLst/>
                <a:uFillTx/>
                <a:latin typeface="Arial"/>
                <a:ea typeface="Arial"/>
              </a:rPr>
              <a:t>1</a:t>
            </a:r>
            <a:endParaRPr b="0" lang="en-US" sz="900" strike="noStrike" u="none">
              <a:solidFill>
                <a:srgbClr val="000000"/>
              </a:solidFill>
              <a:effectLst/>
              <a:uFillTx/>
              <a:latin typeface="Arial"/>
            </a:endParaRPr>
          </a:p>
        </p:txBody>
      </p:sp>
      <p:sp>
        <p:nvSpPr>
          <p:cNvPr id="329" name="Text 23"/>
          <p:cNvSpPr/>
          <p:nvPr/>
        </p:nvSpPr>
        <p:spPr>
          <a:xfrm>
            <a:off x="1325880" y="5632560"/>
            <a:ext cx="146268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14213d"/>
                </a:solidFill>
                <a:effectLst/>
                <a:uFillTx/>
                <a:latin typeface="Arial"/>
                <a:ea typeface="Arial"/>
              </a:rPr>
              <a:t>Measure</a:t>
            </a:r>
            <a:endParaRPr b="0" lang="en-US" sz="1200" strike="noStrike" u="none">
              <a:solidFill>
                <a:srgbClr val="000000"/>
              </a:solidFill>
              <a:effectLst/>
              <a:uFillTx/>
              <a:latin typeface="Arial"/>
            </a:endParaRPr>
          </a:p>
        </p:txBody>
      </p:sp>
      <p:sp>
        <p:nvSpPr>
          <p:cNvPr id="330" name="Shape 24"/>
          <p:cNvSpPr/>
          <p:nvPr/>
        </p:nvSpPr>
        <p:spPr>
          <a:xfrm>
            <a:off x="1965960" y="5806440"/>
            <a:ext cx="1234440" cy="360"/>
          </a:xfrm>
          <a:prstGeom prst="line">
            <a:avLst/>
          </a:prstGeom>
          <a:ln w="15240">
            <a:solidFill>
              <a:srgbClr val="bac5d3"/>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31" name="Shape 25"/>
          <p:cNvSpPr/>
          <p:nvPr/>
        </p:nvSpPr>
        <p:spPr>
          <a:xfrm>
            <a:off x="3401640" y="5650920"/>
            <a:ext cx="310680" cy="31068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32" name="Text 26"/>
          <p:cNvSpPr/>
          <p:nvPr/>
        </p:nvSpPr>
        <p:spPr>
          <a:xfrm>
            <a:off x="3401640" y="5687640"/>
            <a:ext cx="31068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ffffff"/>
                </a:solidFill>
                <a:effectLst/>
                <a:uFillTx/>
                <a:latin typeface="Arial"/>
                <a:ea typeface="Arial"/>
              </a:rPr>
              <a:t>2</a:t>
            </a:r>
            <a:endParaRPr b="0" lang="en-US" sz="900" strike="noStrike" u="none">
              <a:solidFill>
                <a:srgbClr val="000000"/>
              </a:solidFill>
              <a:effectLst/>
              <a:uFillTx/>
              <a:latin typeface="Arial"/>
            </a:endParaRPr>
          </a:p>
        </p:txBody>
      </p:sp>
      <p:sp>
        <p:nvSpPr>
          <p:cNvPr id="333" name="Text 27"/>
          <p:cNvSpPr/>
          <p:nvPr/>
        </p:nvSpPr>
        <p:spPr>
          <a:xfrm>
            <a:off x="3813120" y="5632560"/>
            <a:ext cx="146268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14213d"/>
                </a:solidFill>
                <a:effectLst/>
                <a:uFillTx/>
                <a:latin typeface="Arial"/>
                <a:ea typeface="Arial"/>
              </a:rPr>
              <a:t>Segment</a:t>
            </a:r>
            <a:endParaRPr b="0" lang="en-US" sz="1200" strike="noStrike" u="none">
              <a:solidFill>
                <a:srgbClr val="000000"/>
              </a:solidFill>
              <a:effectLst/>
              <a:uFillTx/>
              <a:latin typeface="Arial"/>
            </a:endParaRPr>
          </a:p>
        </p:txBody>
      </p:sp>
      <p:sp>
        <p:nvSpPr>
          <p:cNvPr id="334" name="Shape 28"/>
          <p:cNvSpPr/>
          <p:nvPr/>
        </p:nvSpPr>
        <p:spPr>
          <a:xfrm>
            <a:off x="4452840" y="5806440"/>
            <a:ext cx="1234440" cy="360"/>
          </a:xfrm>
          <a:prstGeom prst="line">
            <a:avLst/>
          </a:prstGeom>
          <a:ln w="15240">
            <a:solidFill>
              <a:srgbClr val="bac5d3"/>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35" name="Shape 29"/>
          <p:cNvSpPr/>
          <p:nvPr/>
        </p:nvSpPr>
        <p:spPr>
          <a:xfrm>
            <a:off x="5888880" y="5650920"/>
            <a:ext cx="310680" cy="31068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36" name="Text 30"/>
          <p:cNvSpPr/>
          <p:nvPr/>
        </p:nvSpPr>
        <p:spPr>
          <a:xfrm>
            <a:off x="5888880" y="5687640"/>
            <a:ext cx="31068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ffffff"/>
                </a:solidFill>
                <a:effectLst/>
                <a:uFillTx/>
                <a:latin typeface="Arial"/>
                <a:ea typeface="Arial"/>
              </a:rPr>
              <a:t>3</a:t>
            </a:r>
            <a:endParaRPr b="0" lang="en-US" sz="900" strike="noStrike" u="none">
              <a:solidFill>
                <a:srgbClr val="000000"/>
              </a:solidFill>
              <a:effectLst/>
              <a:uFillTx/>
              <a:latin typeface="Arial"/>
            </a:endParaRPr>
          </a:p>
        </p:txBody>
      </p:sp>
      <p:sp>
        <p:nvSpPr>
          <p:cNvPr id="337" name="Text 31"/>
          <p:cNvSpPr/>
          <p:nvPr/>
        </p:nvSpPr>
        <p:spPr>
          <a:xfrm>
            <a:off x="6300360" y="5632560"/>
            <a:ext cx="146268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14213d"/>
                </a:solidFill>
                <a:effectLst/>
                <a:uFillTx/>
                <a:latin typeface="Arial"/>
                <a:ea typeface="Arial"/>
              </a:rPr>
              <a:t>Prioritize</a:t>
            </a:r>
            <a:endParaRPr b="0" lang="en-US" sz="1200" strike="noStrike" u="none">
              <a:solidFill>
                <a:srgbClr val="000000"/>
              </a:solidFill>
              <a:effectLst/>
              <a:uFillTx/>
              <a:latin typeface="Arial"/>
            </a:endParaRPr>
          </a:p>
        </p:txBody>
      </p:sp>
      <p:sp>
        <p:nvSpPr>
          <p:cNvPr id="338" name="Shape 32"/>
          <p:cNvSpPr/>
          <p:nvPr/>
        </p:nvSpPr>
        <p:spPr>
          <a:xfrm>
            <a:off x="6940080" y="5806440"/>
            <a:ext cx="1234440" cy="360"/>
          </a:xfrm>
          <a:prstGeom prst="line">
            <a:avLst/>
          </a:prstGeom>
          <a:ln w="15240">
            <a:solidFill>
              <a:srgbClr val="bac5d3"/>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39" name="Shape 33"/>
          <p:cNvSpPr/>
          <p:nvPr/>
        </p:nvSpPr>
        <p:spPr>
          <a:xfrm>
            <a:off x="8375760" y="5650920"/>
            <a:ext cx="310680" cy="310680"/>
          </a:xfrm>
          <a:prstGeom prst="ellipse">
            <a:avLst/>
          </a:prstGeom>
          <a:solidFill>
            <a:srgbClr val="f4a261"/>
          </a:solidFill>
          <a:ln w="12700">
            <a:solidFill>
              <a:srgbClr val="f4a261">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0" name="Text 34"/>
          <p:cNvSpPr/>
          <p:nvPr/>
        </p:nvSpPr>
        <p:spPr>
          <a:xfrm>
            <a:off x="8375760" y="5687640"/>
            <a:ext cx="310680" cy="164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ffffff"/>
                </a:solidFill>
                <a:effectLst/>
                <a:uFillTx/>
                <a:latin typeface="Arial"/>
                <a:ea typeface="Arial"/>
              </a:rPr>
              <a:t>4</a:t>
            </a:r>
            <a:endParaRPr b="0" lang="en-US" sz="900" strike="noStrike" u="none">
              <a:solidFill>
                <a:srgbClr val="000000"/>
              </a:solidFill>
              <a:effectLst/>
              <a:uFillTx/>
              <a:latin typeface="Arial"/>
            </a:endParaRPr>
          </a:p>
        </p:txBody>
      </p:sp>
      <p:sp>
        <p:nvSpPr>
          <p:cNvPr id="341" name="Text 35"/>
          <p:cNvSpPr/>
          <p:nvPr/>
        </p:nvSpPr>
        <p:spPr>
          <a:xfrm>
            <a:off x="8787240" y="5632560"/>
            <a:ext cx="146268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14213d"/>
                </a:solidFill>
                <a:effectLst/>
                <a:uFillTx/>
                <a:latin typeface="Arial"/>
                <a:ea typeface="Arial"/>
              </a:rPr>
              <a:t>Act</a:t>
            </a:r>
            <a:endParaRPr b="0" lang="en-US" sz="1200" strike="noStrike" u="none">
              <a:solidFill>
                <a:srgbClr val="000000"/>
              </a:solidFill>
              <a:effectLst/>
              <a:uFillTx/>
              <a:latin typeface="Arial"/>
            </a:endParaRPr>
          </a:p>
        </p:txBody>
      </p:sp>
      <p:sp>
        <p:nvSpPr>
          <p:cNvPr id="342" name="PlaceHolder 1"/>
          <p:cNvSpPr>
            <a:spLocks noGrp="1"/>
          </p:cNvSpPr>
          <p:nvPr>
            <p:ph type="sldNum" idx="13"/>
          </p:nvPr>
        </p:nvSpPr>
        <p:spPr>
          <a:xfrm>
            <a:off x="11685960" y="6464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trike="noStrike" u="none">
                <a:solidFill>
                  <a:srgbClr val="7a8595"/>
                </a:solidFill>
                <a:effectLst/>
                <a:uFillTx/>
                <a:latin typeface="Arial"/>
                <a:ea typeface="Arial"/>
              </a:defRPr>
            </a:lvl1pPr>
          </a:lstStyle>
          <a:p>
            <a:pPr indent="0" defTabSz="914400">
              <a:lnSpc>
                <a:spcPct val="100000"/>
              </a:lnSpc>
              <a:buNone/>
            </a:pPr>
            <a:fld id="{A986D7D3-E6A3-4999-8383-919AB4F0ED69}" type="slidenum">
              <a:rPr b="0" lang="en-US" sz="800" strike="noStrike" u="none">
                <a:solidFill>
                  <a:srgbClr val="7a8595"/>
                </a:solidFill>
                <a:effectLst/>
                <a:uFillTx/>
                <a:latin typeface="Arial"/>
                <a:ea typeface="Arial"/>
              </a:rPr>
              <a:t>&lt;number&gt;</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Text 0"/>
          <p:cNvSpPr/>
          <p:nvPr/>
        </p:nvSpPr>
        <p:spPr>
          <a:xfrm>
            <a:off x="548640" y="347400"/>
            <a:ext cx="2559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1" strike="noStrike" u="none">
                <a:solidFill>
                  <a:srgbClr val="008c95"/>
                </a:solidFill>
                <a:effectLst/>
                <a:uFillTx/>
                <a:latin typeface="Arial"/>
                <a:ea typeface="Arial"/>
              </a:rPr>
              <a:t>10 • NEXT ANALYSIS</a:t>
            </a:r>
            <a:endParaRPr b="0" lang="en-US" sz="900" strike="noStrike" u="none">
              <a:solidFill>
                <a:srgbClr val="000000"/>
              </a:solidFill>
              <a:effectLst/>
              <a:uFillTx/>
              <a:latin typeface="Arial"/>
            </a:endParaRPr>
          </a:p>
        </p:txBody>
      </p:sp>
      <p:sp>
        <p:nvSpPr>
          <p:cNvPr id="344" name="Text 1"/>
          <p:cNvSpPr/>
          <p:nvPr/>
        </p:nvSpPr>
        <p:spPr>
          <a:xfrm>
            <a:off x="548640" y="640080"/>
            <a:ext cx="10606680" cy="566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14213d"/>
                </a:solidFill>
                <a:effectLst/>
                <a:uFillTx/>
                <a:latin typeface="Cambria"/>
                <a:ea typeface="Cambria"/>
              </a:rPr>
              <a:t>Next analysis opportunities</a:t>
            </a:r>
            <a:endParaRPr b="0" lang="en-US" sz="2900" strike="noStrike" u="none">
              <a:solidFill>
                <a:srgbClr val="000000"/>
              </a:solidFill>
              <a:effectLst/>
              <a:uFillTx/>
              <a:latin typeface="Arial"/>
            </a:endParaRPr>
          </a:p>
        </p:txBody>
      </p:sp>
      <p:sp>
        <p:nvSpPr>
          <p:cNvPr id="345" name="Text 2"/>
          <p:cNvSpPr/>
          <p:nvPr/>
        </p:nvSpPr>
        <p:spPr>
          <a:xfrm>
            <a:off x="548640" y="1243440"/>
            <a:ext cx="106066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667085"/>
                </a:solidFill>
                <a:effectLst/>
                <a:uFillTx/>
                <a:latin typeface="Arial"/>
                <a:ea typeface="Arial"/>
              </a:rPr>
              <a:t>Additional analysis can extend the same customer, order, product, and inventory data.</a:t>
            </a:r>
            <a:endParaRPr b="0" lang="en-US" sz="1250" strike="noStrike" u="none">
              <a:solidFill>
                <a:srgbClr val="000000"/>
              </a:solidFill>
              <a:effectLst/>
              <a:uFillTx/>
              <a:latin typeface="Arial"/>
            </a:endParaRPr>
          </a:p>
        </p:txBody>
      </p:sp>
      <p:sp>
        <p:nvSpPr>
          <p:cNvPr id="346" name="Shape 3"/>
          <p:cNvSpPr/>
          <p:nvPr/>
        </p:nvSpPr>
        <p:spPr>
          <a:xfrm>
            <a:off x="594360" y="1783080"/>
            <a:ext cx="3428640" cy="1325520"/>
          </a:xfrm>
          <a:prstGeom prst="roundRect">
            <a:avLst>
              <a:gd name="adj" fmla="val 11034"/>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47" name="Shape 4"/>
          <p:cNvSpPr/>
          <p:nvPr/>
        </p:nvSpPr>
        <p:spPr>
          <a:xfrm>
            <a:off x="777240" y="1965960"/>
            <a:ext cx="347040" cy="34704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48" name="Text 5"/>
          <p:cNvSpPr/>
          <p:nvPr/>
        </p:nvSpPr>
        <p:spPr>
          <a:xfrm>
            <a:off x="777240" y="198432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1</a:t>
            </a:r>
            <a:endParaRPr b="0" lang="en-US" sz="1000" strike="noStrike" u="none">
              <a:solidFill>
                <a:srgbClr val="000000"/>
              </a:solidFill>
              <a:effectLst/>
              <a:uFillTx/>
              <a:latin typeface="Arial"/>
            </a:endParaRPr>
          </a:p>
        </p:txBody>
      </p:sp>
      <p:sp>
        <p:nvSpPr>
          <p:cNvPr id="349" name="Text 6"/>
          <p:cNvSpPr/>
          <p:nvPr/>
        </p:nvSpPr>
        <p:spPr>
          <a:xfrm>
            <a:off x="1234440" y="1938600"/>
            <a:ext cx="2605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Retention cohorts</a:t>
            </a:r>
            <a:endParaRPr b="0" lang="en-US" sz="1600" strike="noStrike" u="none">
              <a:solidFill>
                <a:srgbClr val="000000"/>
              </a:solidFill>
              <a:effectLst/>
              <a:uFillTx/>
              <a:latin typeface="Arial"/>
            </a:endParaRPr>
          </a:p>
        </p:txBody>
      </p:sp>
      <p:sp>
        <p:nvSpPr>
          <p:cNvPr id="350" name="Text 7"/>
          <p:cNvSpPr/>
          <p:nvPr/>
        </p:nvSpPr>
        <p:spPr>
          <a:xfrm>
            <a:off x="1234440" y="2286000"/>
            <a:ext cx="2605680" cy="7128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Compare repeat behavior by first-purchase month or quarter.</a:t>
            </a:r>
            <a:endParaRPr b="0" lang="en-US" sz="1150" strike="noStrike" u="none">
              <a:solidFill>
                <a:srgbClr val="000000"/>
              </a:solidFill>
              <a:effectLst/>
              <a:uFillTx/>
              <a:latin typeface="Arial"/>
            </a:endParaRPr>
          </a:p>
        </p:txBody>
      </p:sp>
      <p:sp>
        <p:nvSpPr>
          <p:cNvPr id="351" name="Shape 8"/>
          <p:cNvSpPr/>
          <p:nvPr/>
        </p:nvSpPr>
        <p:spPr>
          <a:xfrm>
            <a:off x="4270320" y="1783080"/>
            <a:ext cx="3428640" cy="1325520"/>
          </a:xfrm>
          <a:prstGeom prst="roundRect">
            <a:avLst>
              <a:gd name="adj" fmla="val 11034"/>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52" name="Shape 9"/>
          <p:cNvSpPr/>
          <p:nvPr/>
        </p:nvSpPr>
        <p:spPr>
          <a:xfrm>
            <a:off x="4453200" y="1965960"/>
            <a:ext cx="347040" cy="347040"/>
          </a:xfrm>
          <a:prstGeom prst="ellipse">
            <a:avLst/>
          </a:prstGeom>
          <a:solidFill>
            <a:srgbClr val="36c5d8"/>
          </a:solidFill>
          <a:ln w="12700">
            <a:solidFill>
              <a:srgbClr val="36c5d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53" name="Text 10"/>
          <p:cNvSpPr/>
          <p:nvPr/>
        </p:nvSpPr>
        <p:spPr>
          <a:xfrm>
            <a:off x="4453200" y="198432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2</a:t>
            </a:r>
            <a:endParaRPr b="0" lang="en-US" sz="1000" strike="noStrike" u="none">
              <a:solidFill>
                <a:srgbClr val="000000"/>
              </a:solidFill>
              <a:effectLst/>
              <a:uFillTx/>
              <a:latin typeface="Arial"/>
            </a:endParaRPr>
          </a:p>
        </p:txBody>
      </p:sp>
      <p:sp>
        <p:nvSpPr>
          <p:cNvPr id="354" name="Text 11"/>
          <p:cNvSpPr/>
          <p:nvPr/>
        </p:nvSpPr>
        <p:spPr>
          <a:xfrm>
            <a:off x="4910400" y="1938600"/>
            <a:ext cx="2605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Customer value</a:t>
            </a:r>
            <a:endParaRPr b="0" lang="en-US" sz="1600" strike="noStrike" u="none">
              <a:solidFill>
                <a:srgbClr val="000000"/>
              </a:solidFill>
              <a:effectLst/>
              <a:uFillTx/>
              <a:latin typeface="Arial"/>
            </a:endParaRPr>
          </a:p>
        </p:txBody>
      </p:sp>
      <p:sp>
        <p:nvSpPr>
          <p:cNvPr id="355" name="Text 12"/>
          <p:cNvSpPr/>
          <p:nvPr/>
        </p:nvSpPr>
        <p:spPr>
          <a:xfrm>
            <a:off x="4910400" y="2286000"/>
            <a:ext cx="2605680" cy="7128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Add revenue, order frequency and average order value to build customer segments.</a:t>
            </a:r>
            <a:endParaRPr b="0" lang="en-US" sz="1150" strike="noStrike" u="none">
              <a:solidFill>
                <a:srgbClr val="000000"/>
              </a:solidFill>
              <a:effectLst/>
              <a:uFillTx/>
              <a:latin typeface="Arial"/>
            </a:endParaRPr>
          </a:p>
        </p:txBody>
      </p:sp>
      <p:sp>
        <p:nvSpPr>
          <p:cNvPr id="356" name="Shape 13"/>
          <p:cNvSpPr/>
          <p:nvPr/>
        </p:nvSpPr>
        <p:spPr>
          <a:xfrm>
            <a:off x="7946280" y="1783080"/>
            <a:ext cx="3428640" cy="1325520"/>
          </a:xfrm>
          <a:prstGeom prst="roundRect">
            <a:avLst>
              <a:gd name="adj" fmla="val 11034"/>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57" name="Shape 14"/>
          <p:cNvSpPr/>
          <p:nvPr/>
        </p:nvSpPr>
        <p:spPr>
          <a:xfrm>
            <a:off x="8129160" y="1965960"/>
            <a:ext cx="347040" cy="347040"/>
          </a:xfrm>
          <a:prstGeom prst="ellipse">
            <a:avLst/>
          </a:prstGeom>
          <a:solidFill>
            <a:srgbClr val="f4a261"/>
          </a:solidFill>
          <a:ln w="12700">
            <a:solidFill>
              <a:srgbClr val="f4a261">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58" name="Text 15"/>
          <p:cNvSpPr/>
          <p:nvPr/>
        </p:nvSpPr>
        <p:spPr>
          <a:xfrm>
            <a:off x="8129160" y="198432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3</a:t>
            </a:r>
            <a:endParaRPr b="0" lang="en-US" sz="1000" strike="noStrike" u="none">
              <a:solidFill>
                <a:srgbClr val="000000"/>
              </a:solidFill>
              <a:effectLst/>
              <a:uFillTx/>
              <a:latin typeface="Arial"/>
            </a:endParaRPr>
          </a:p>
        </p:txBody>
      </p:sp>
      <p:sp>
        <p:nvSpPr>
          <p:cNvPr id="359" name="Text 16"/>
          <p:cNvSpPr/>
          <p:nvPr/>
        </p:nvSpPr>
        <p:spPr>
          <a:xfrm>
            <a:off x="8586360" y="1938600"/>
            <a:ext cx="2605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Inventory risk</a:t>
            </a:r>
            <a:endParaRPr b="0" lang="en-US" sz="1600" strike="noStrike" u="none">
              <a:solidFill>
                <a:srgbClr val="000000"/>
              </a:solidFill>
              <a:effectLst/>
              <a:uFillTx/>
              <a:latin typeface="Arial"/>
            </a:endParaRPr>
          </a:p>
        </p:txBody>
      </p:sp>
      <p:sp>
        <p:nvSpPr>
          <p:cNvPr id="360" name="Text 17"/>
          <p:cNvSpPr/>
          <p:nvPr/>
        </p:nvSpPr>
        <p:spPr>
          <a:xfrm>
            <a:off x="8586360" y="2286000"/>
            <a:ext cx="2605680" cy="7128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Measure stock coverage or sales velocity over a rolling time window.</a:t>
            </a:r>
            <a:endParaRPr b="0" lang="en-US" sz="1150" strike="noStrike" u="none">
              <a:solidFill>
                <a:srgbClr val="000000"/>
              </a:solidFill>
              <a:effectLst/>
              <a:uFillTx/>
              <a:latin typeface="Arial"/>
            </a:endParaRPr>
          </a:p>
        </p:txBody>
      </p:sp>
      <p:sp>
        <p:nvSpPr>
          <p:cNvPr id="361" name="Shape 18"/>
          <p:cNvSpPr/>
          <p:nvPr/>
        </p:nvSpPr>
        <p:spPr>
          <a:xfrm>
            <a:off x="594360" y="3355920"/>
            <a:ext cx="3428640" cy="1325520"/>
          </a:xfrm>
          <a:prstGeom prst="roundRect">
            <a:avLst>
              <a:gd name="adj" fmla="val 11034"/>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62" name="Shape 19"/>
          <p:cNvSpPr/>
          <p:nvPr/>
        </p:nvSpPr>
        <p:spPr>
          <a:xfrm>
            <a:off x="777240" y="3538800"/>
            <a:ext cx="347040" cy="347040"/>
          </a:xfrm>
          <a:prstGeom prst="ellipse">
            <a:avLst/>
          </a:prstGeom>
          <a:solidFill>
            <a:srgbClr val="14213d"/>
          </a:solidFill>
          <a:ln w="12700">
            <a:solidFill>
              <a:srgbClr val="14213d">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63" name="Text 20"/>
          <p:cNvSpPr/>
          <p:nvPr/>
        </p:nvSpPr>
        <p:spPr>
          <a:xfrm>
            <a:off x="777240" y="355716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4</a:t>
            </a:r>
            <a:endParaRPr b="0" lang="en-US" sz="1000" strike="noStrike" u="none">
              <a:solidFill>
                <a:srgbClr val="000000"/>
              </a:solidFill>
              <a:effectLst/>
              <a:uFillTx/>
              <a:latin typeface="Arial"/>
            </a:endParaRPr>
          </a:p>
        </p:txBody>
      </p:sp>
      <p:sp>
        <p:nvSpPr>
          <p:cNvPr id="364" name="Text 21"/>
          <p:cNvSpPr/>
          <p:nvPr/>
        </p:nvSpPr>
        <p:spPr>
          <a:xfrm>
            <a:off x="1234440" y="3511440"/>
            <a:ext cx="2605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Store performance</a:t>
            </a:r>
            <a:endParaRPr b="0" lang="en-US" sz="1600" strike="noStrike" u="none">
              <a:solidFill>
                <a:srgbClr val="000000"/>
              </a:solidFill>
              <a:effectLst/>
              <a:uFillTx/>
              <a:latin typeface="Arial"/>
            </a:endParaRPr>
          </a:p>
        </p:txBody>
      </p:sp>
      <p:sp>
        <p:nvSpPr>
          <p:cNvPr id="365" name="Text 22"/>
          <p:cNvSpPr/>
          <p:nvPr/>
        </p:nvSpPr>
        <p:spPr>
          <a:xfrm>
            <a:off x="1234440" y="3858840"/>
            <a:ext cx="2605680" cy="7128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Compare customer retention and product demand by Store_ID.</a:t>
            </a:r>
            <a:endParaRPr b="0" lang="en-US" sz="1150" strike="noStrike" u="none">
              <a:solidFill>
                <a:srgbClr val="000000"/>
              </a:solidFill>
              <a:effectLst/>
              <a:uFillTx/>
              <a:latin typeface="Arial"/>
            </a:endParaRPr>
          </a:p>
        </p:txBody>
      </p:sp>
      <p:sp>
        <p:nvSpPr>
          <p:cNvPr id="366" name="Shape 23"/>
          <p:cNvSpPr/>
          <p:nvPr/>
        </p:nvSpPr>
        <p:spPr>
          <a:xfrm>
            <a:off x="4270320" y="3355920"/>
            <a:ext cx="3428640" cy="1325520"/>
          </a:xfrm>
          <a:prstGeom prst="roundRect">
            <a:avLst>
              <a:gd name="adj" fmla="val 11034"/>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67" name="Shape 24"/>
          <p:cNvSpPr/>
          <p:nvPr/>
        </p:nvSpPr>
        <p:spPr>
          <a:xfrm>
            <a:off x="4453200" y="3538800"/>
            <a:ext cx="347040" cy="347040"/>
          </a:xfrm>
          <a:prstGeom prst="ellipse">
            <a:avLst/>
          </a:prstGeom>
          <a:solidFill>
            <a:srgbClr val="2a9d8f"/>
          </a:solidFill>
          <a:ln w="12700">
            <a:solidFill>
              <a:srgbClr val="2a9d8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68" name="Text 25"/>
          <p:cNvSpPr/>
          <p:nvPr/>
        </p:nvSpPr>
        <p:spPr>
          <a:xfrm>
            <a:off x="4453200" y="355716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5</a:t>
            </a:r>
            <a:endParaRPr b="0" lang="en-US" sz="1000" strike="noStrike" u="none">
              <a:solidFill>
                <a:srgbClr val="000000"/>
              </a:solidFill>
              <a:effectLst/>
              <a:uFillTx/>
              <a:latin typeface="Arial"/>
            </a:endParaRPr>
          </a:p>
        </p:txBody>
      </p:sp>
      <p:sp>
        <p:nvSpPr>
          <p:cNvPr id="369" name="Text 26"/>
          <p:cNvSpPr/>
          <p:nvPr/>
        </p:nvSpPr>
        <p:spPr>
          <a:xfrm>
            <a:off x="4910400" y="3511440"/>
            <a:ext cx="2605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Seasonality</a:t>
            </a:r>
            <a:endParaRPr b="0" lang="en-US" sz="1600" strike="noStrike" u="none">
              <a:solidFill>
                <a:srgbClr val="000000"/>
              </a:solidFill>
              <a:effectLst/>
              <a:uFillTx/>
              <a:latin typeface="Arial"/>
            </a:endParaRPr>
          </a:p>
        </p:txBody>
      </p:sp>
      <p:sp>
        <p:nvSpPr>
          <p:cNvPr id="370" name="Text 27"/>
          <p:cNvSpPr/>
          <p:nvPr/>
        </p:nvSpPr>
        <p:spPr>
          <a:xfrm>
            <a:off x="4910400" y="3858840"/>
            <a:ext cx="2605680" cy="7128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Break purchase gaps and demand by month / quarter to separate normal cycles from churn.</a:t>
            </a:r>
            <a:endParaRPr b="0" lang="en-US" sz="1150" strike="noStrike" u="none">
              <a:solidFill>
                <a:srgbClr val="000000"/>
              </a:solidFill>
              <a:effectLst/>
              <a:uFillTx/>
              <a:latin typeface="Arial"/>
            </a:endParaRPr>
          </a:p>
        </p:txBody>
      </p:sp>
      <p:sp>
        <p:nvSpPr>
          <p:cNvPr id="371" name="Shape 28"/>
          <p:cNvSpPr/>
          <p:nvPr/>
        </p:nvSpPr>
        <p:spPr>
          <a:xfrm>
            <a:off x="7946280" y="3355920"/>
            <a:ext cx="3428640" cy="1325520"/>
          </a:xfrm>
          <a:prstGeom prst="roundRect">
            <a:avLst>
              <a:gd name="adj" fmla="val 11034"/>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72" name="Shape 29"/>
          <p:cNvSpPr/>
          <p:nvPr/>
        </p:nvSpPr>
        <p:spPr>
          <a:xfrm>
            <a:off x="8129160" y="3538800"/>
            <a:ext cx="347040" cy="347040"/>
          </a:xfrm>
          <a:prstGeom prst="ellipse">
            <a:avLst/>
          </a:prstGeom>
          <a:solidFill>
            <a:srgbClr val="f6bd60"/>
          </a:solidFill>
          <a:ln w="12700">
            <a:solidFill>
              <a:srgbClr val="f6bd60">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73" name="Text 30"/>
          <p:cNvSpPr/>
          <p:nvPr/>
        </p:nvSpPr>
        <p:spPr>
          <a:xfrm>
            <a:off x="8129160" y="3557160"/>
            <a:ext cx="34704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ffffff"/>
                </a:solidFill>
                <a:effectLst/>
                <a:uFillTx/>
                <a:latin typeface="Arial"/>
                <a:ea typeface="Arial"/>
              </a:rPr>
              <a:t>6</a:t>
            </a:r>
            <a:endParaRPr b="0" lang="en-US" sz="1000" strike="noStrike" u="none">
              <a:solidFill>
                <a:srgbClr val="000000"/>
              </a:solidFill>
              <a:effectLst/>
              <a:uFillTx/>
              <a:latin typeface="Arial"/>
            </a:endParaRPr>
          </a:p>
        </p:txBody>
      </p:sp>
      <p:sp>
        <p:nvSpPr>
          <p:cNvPr id="374" name="Text 31"/>
          <p:cNvSpPr/>
          <p:nvPr/>
        </p:nvSpPr>
        <p:spPr>
          <a:xfrm>
            <a:off x="8586360" y="3511440"/>
            <a:ext cx="2605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4213d"/>
                </a:solidFill>
                <a:effectLst/>
                <a:uFillTx/>
                <a:latin typeface="Arial"/>
                <a:ea typeface="Arial"/>
              </a:rPr>
              <a:t>Margin view</a:t>
            </a:r>
            <a:endParaRPr b="0" lang="en-US" sz="1600" strike="noStrike" u="none">
              <a:solidFill>
                <a:srgbClr val="000000"/>
              </a:solidFill>
              <a:effectLst/>
              <a:uFillTx/>
              <a:latin typeface="Arial"/>
            </a:endParaRPr>
          </a:p>
        </p:txBody>
      </p:sp>
      <p:sp>
        <p:nvSpPr>
          <p:cNvPr id="375" name="Text 32"/>
          <p:cNvSpPr/>
          <p:nvPr/>
        </p:nvSpPr>
        <p:spPr>
          <a:xfrm>
            <a:off x="8586360" y="3858840"/>
            <a:ext cx="2605680" cy="7128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67085"/>
                </a:solidFill>
                <a:effectLst/>
                <a:uFillTx/>
                <a:latin typeface="Arial"/>
                <a:ea typeface="Arial"/>
              </a:rPr>
              <a:t>Replace pure revenue with gross-margin contribution for stronger prioritization.</a:t>
            </a:r>
            <a:endParaRPr b="0" lang="en-US" sz="1150" strike="noStrike" u="none">
              <a:solidFill>
                <a:srgbClr val="000000"/>
              </a:solidFill>
              <a:effectLst/>
              <a:uFillTx/>
              <a:latin typeface="Arial"/>
            </a:endParaRPr>
          </a:p>
        </p:txBody>
      </p:sp>
      <p:sp>
        <p:nvSpPr>
          <p:cNvPr id="376" name="Shape 33"/>
          <p:cNvSpPr/>
          <p:nvPr/>
        </p:nvSpPr>
        <p:spPr>
          <a:xfrm>
            <a:off x="594360" y="5376600"/>
            <a:ext cx="10743840" cy="658080"/>
          </a:xfrm>
          <a:prstGeom prst="roundRect">
            <a:avLst>
              <a:gd name="adj" fmla="val 19444"/>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77" name="Text 34"/>
          <p:cNvSpPr/>
          <p:nvPr/>
        </p:nvSpPr>
        <p:spPr>
          <a:xfrm>
            <a:off x="822960" y="5559480"/>
            <a:ext cx="10240920" cy="273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14213d"/>
                </a:solidFill>
                <a:effectLst/>
                <a:uFillTx/>
                <a:latin typeface="Cambria"/>
                <a:ea typeface="Cambria"/>
              </a:rPr>
              <a:t>Modular SQL makes it easier to extend the analysis with additional metrics.</a:t>
            </a:r>
            <a:endParaRPr b="0" lang="en-US" sz="1600" strike="noStrike" u="none">
              <a:solidFill>
                <a:srgbClr val="000000"/>
              </a:solidFill>
              <a:effectLst/>
              <a:uFillTx/>
              <a:latin typeface="Arial"/>
            </a:endParaRPr>
          </a:p>
        </p:txBody>
      </p:sp>
      <p:sp>
        <p:nvSpPr>
          <p:cNvPr id="378" name="PlaceHolder 1"/>
          <p:cNvSpPr>
            <a:spLocks noGrp="1"/>
          </p:cNvSpPr>
          <p:nvPr>
            <p:ph type="sldNum" idx="14"/>
          </p:nvPr>
        </p:nvSpPr>
        <p:spPr>
          <a:xfrm>
            <a:off x="11685960" y="6464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trike="noStrike" u="none">
                <a:solidFill>
                  <a:srgbClr val="7a8595"/>
                </a:solidFill>
                <a:effectLst/>
                <a:uFillTx/>
                <a:latin typeface="Arial"/>
                <a:ea typeface="Arial"/>
              </a:defRPr>
            </a:lvl1pPr>
          </a:lstStyle>
          <a:p>
            <a:pPr indent="0" defTabSz="914400">
              <a:lnSpc>
                <a:spcPct val="100000"/>
              </a:lnSpc>
              <a:buNone/>
            </a:pPr>
            <a:fld id="{83712A81-5C5B-4C66-AC3A-58850F006D92}" type="slidenum">
              <a:rPr b="0" lang="en-US" sz="800" strike="noStrike" u="none">
                <a:solidFill>
                  <a:srgbClr val="7a8595"/>
                </a:solidFill>
                <a:effectLst/>
                <a:uFillTx/>
                <a:latin typeface="Arial"/>
                <a:ea typeface="Arial"/>
              </a:rPr>
              <a:t>&lt;number&gt;</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Text 0"/>
          <p:cNvSpPr/>
          <p:nvPr/>
        </p:nvSpPr>
        <p:spPr>
          <a:xfrm>
            <a:off x="548640" y="347400"/>
            <a:ext cx="2559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1" strike="noStrike" u="none">
                <a:solidFill>
                  <a:srgbClr val="008c95"/>
                </a:solidFill>
                <a:effectLst/>
                <a:uFillTx/>
                <a:latin typeface="Arial"/>
                <a:ea typeface="Arial"/>
              </a:rPr>
              <a:t>11 • PROJECT REPOSITORY</a:t>
            </a:r>
            <a:endParaRPr b="0" lang="en-US" sz="900" strike="noStrike" u="none">
              <a:solidFill>
                <a:srgbClr val="000000"/>
              </a:solidFill>
              <a:effectLst/>
              <a:uFillTx/>
              <a:latin typeface="Arial"/>
            </a:endParaRPr>
          </a:p>
        </p:txBody>
      </p:sp>
      <p:sp>
        <p:nvSpPr>
          <p:cNvPr id="380" name="Text 1"/>
          <p:cNvSpPr/>
          <p:nvPr/>
        </p:nvSpPr>
        <p:spPr>
          <a:xfrm>
            <a:off x="548640" y="640080"/>
            <a:ext cx="10606680" cy="566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14213d"/>
                </a:solidFill>
                <a:effectLst/>
                <a:uFillTx/>
                <a:latin typeface="Cambria"/>
                <a:ea typeface="Cambria"/>
              </a:rPr>
              <a:t>Project repository</a:t>
            </a:r>
            <a:endParaRPr b="0" lang="en-US" sz="2900" strike="noStrike" u="none">
              <a:solidFill>
                <a:srgbClr val="000000"/>
              </a:solidFill>
              <a:effectLst/>
              <a:uFillTx/>
              <a:latin typeface="Arial"/>
            </a:endParaRPr>
          </a:p>
        </p:txBody>
      </p:sp>
      <p:sp>
        <p:nvSpPr>
          <p:cNvPr id="381" name="Text 2"/>
          <p:cNvSpPr/>
          <p:nvPr/>
        </p:nvSpPr>
        <p:spPr>
          <a:xfrm>
            <a:off x="548640" y="1243440"/>
            <a:ext cx="106066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667085"/>
                </a:solidFill>
                <a:effectLst/>
                <a:uFillTx/>
                <a:latin typeface="Arial"/>
                <a:ea typeface="Arial"/>
              </a:rPr>
              <a:t>The repository contains the database schema, practice queries, and analytical SQL used in this project.</a:t>
            </a:r>
            <a:endParaRPr b="0" lang="en-US" sz="1250" strike="noStrike" u="none">
              <a:solidFill>
                <a:srgbClr val="000000"/>
              </a:solidFill>
              <a:effectLst/>
              <a:uFillTx/>
              <a:latin typeface="Arial"/>
            </a:endParaRPr>
          </a:p>
        </p:txBody>
      </p:sp>
      <p:sp>
        <p:nvSpPr>
          <p:cNvPr id="382" name="Shape 3"/>
          <p:cNvSpPr/>
          <p:nvPr/>
        </p:nvSpPr>
        <p:spPr>
          <a:xfrm>
            <a:off x="594360" y="1783080"/>
            <a:ext cx="6994800" cy="3565800"/>
          </a:xfrm>
          <a:prstGeom prst="roundRect">
            <a:avLst>
              <a:gd name="adj" fmla="val 4359"/>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83" name="Shape 4"/>
          <p:cNvSpPr/>
          <p:nvPr/>
        </p:nvSpPr>
        <p:spPr>
          <a:xfrm>
            <a:off x="868680" y="2048400"/>
            <a:ext cx="1645560" cy="310680"/>
          </a:xfrm>
          <a:prstGeom prst="roundRect">
            <a:avLst>
              <a:gd name="adj" fmla="val 50000"/>
            </a:avLst>
          </a:prstGeom>
          <a:solidFill>
            <a:srgbClr val="eaf7f8"/>
          </a:solidFill>
          <a:ln w="12700">
            <a:solidFill>
              <a:srgbClr val="eaf7f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84" name="Text 5"/>
          <p:cNvSpPr/>
          <p:nvPr/>
        </p:nvSpPr>
        <p:spPr>
          <a:xfrm>
            <a:off x="868680" y="2066400"/>
            <a:ext cx="16455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008c95"/>
                </a:solidFill>
                <a:effectLst/>
                <a:uFillTx/>
                <a:latin typeface="Arial"/>
                <a:ea typeface="Arial"/>
              </a:rPr>
              <a:t>GITHUB REPOSITORY</a:t>
            </a:r>
            <a:endParaRPr b="0" lang="en-US" sz="900" strike="noStrike" u="none">
              <a:solidFill>
                <a:srgbClr val="000000"/>
              </a:solidFill>
              <a:effectLst/>
              <a:uFillTx/>
              <a:latin typeface="Arial"/>
            </a:endParaRPr>
          </a:p>
        </p:txBody>
      </p:sp>
      <p:sp>
        <p:nvSpPr>
          <p:cNvPr id="385" name="Text 6"/>
          <p:cNvSpPr/>
          <p:nvPr/>
        </p:nvSpPr>
        <p:spPr>
          <a:xfrm>
            <a:off x="868680" y="2606040"/>
            <a:ext cx="598896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400" strike="noStrike" u="none">
                <a:solidFill>
                  <a:srgbClr val="14213d"/>
                </a:solidFill>
                <a:effectLst/>
                <a:uFillTx/>
                <a:latin typeface="Cambria"/>
                <a:ea typeface="Cambria"/>
              </a:rPr>
              <a:t>sql-data-science-mastery</a:t>
            </a:r>
            <a:endParaRPr b="0" lang="en-US" sz="2400" strike="noStrike" u="none">
              <a:solidFill>
                <a:srgbClr val="000000"/>
              </a:solidFill>
              <a:effectLst/>
              <a:uFillTx/>
              <a:latin typeface="Arial"/>
            </a:endParaRPr>
          </a:p>
        </p:txBody>
      </p:sp>
      <p:sp>
        <p:nvSpPr>
          <p:cNvPr id="386" name="Text 7"/>
          <p:cNvSpPr/>
          <p:nvPr/>
        </p:nvSpPr>
        <p:spPr>
          <a:xfrm>
            <a:off x="868680" y="3200400"/>
            <a:ext cx="6034680" cy="438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008c95"/>
                </a:solidFill>
                <a:effectLst/>
                <a:uFillTx/>
                <a:latin typeface="Arial"/>
                <a:ea typeface="Arial"/>
              </a:rPr>
              <a:t>github.com/kalipindiprasanthsai1267-hub/sql-data-science-mastery</a:t>
            </a:r>
            <a:endParaRPr b="0" lang="en-US" sz="1150" strike="noStrike" u="none">
              <a:solidFill>
                <a:srgbClr val="000000"/>
              </a:solidFill>
              <a:effectLst/>
              <a:uFillTx/>
              <a:latin typeface="Arial"/>
            </a:endParaRPr>
          </a:p>
        </p:txBody>
      </p:sp>
      <p:sp>
        <p:nvSpPr>
          <p:cNvPr id="387" name="Shape 8"/>
          <p:cNvSpPr/>
          <p:nvPr/>
        </p:nvSpPr>
        <p:spPr>
          <a:xfrm>
            <a:off x="896040" y="3977640"/>
            <a:ext cx="136800" cy="13680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88" name="Text 9"/>
          <p:cNvSpPr/>
          <p:nvPr/>
        </p:nvSpPr>
        <p:spPr>
          <a:xfrm>
            <a:off x="1170360" y="3922920"/>
            <a:ext cx="53031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152238"/>
                </a:solidFill>
                <a:effectLst/>
                <a:uFillTx/>
                <a:latin typeface="Arial"/>
                <a:ea typeface="Arial"/>
              </a:rPr>
              <a:t>Database schema</a:t>
            </a:r>
            <a:endParaRPr b="0" lang="en-US" sz="1150" strike="noStrike" u="none">
              <a:solidFill>
                <a:srgbClr val="000000"/>
              </a:solidFill>
              <a:effectLst/>
              <a:uFillTx/>
              <a:latin typeface="Arial"/>
            </a:endParaRPr>
          </a:p>
        </p:txBody>
      </p:sp>
      <p:sp>
        <p:nvSpPr>
          <p:cNvPr id="389" name="Shape 10"/>
          <p:cNvSpPr/>
          <p:nvPr/>
        </p:nvSpPr>
        <p:spPr>
          <a:xfrm>
            <a:off x="896040" y="4297680"/>
            <a:ext cx="136800" cy="13680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90" name="Text 11"/>
          <p:cNvSpPr/>
          <p:nvPr/>
        </p:nvSpPr>
        <p:spPr>
          <a:xfrm>
            <a:off x="1170360" y="4242960"/>
            <a:ext cx="53031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152238"/>
                </a:solidFill>
                <a:effectLst/>
                <a:uFillTx/>
                <a:latin typeface="Arial"/>
                <a:ea typeface="Arial"/>
              </a:rPr>
              <a:t>Practice queries</a:t>
            </a:r>
            <a:endParaRPr b="0" lang="en-US" sz="1150" strike="noStrike" u="none">
              <a:solidFill>
                <a:srgbClr val="000000"/>
              </a:solidFill>
              <a:effectLst/>
              <a:uFillTx/>
              <a:latin typeface="Arial"/>
            </a:endParaRPr>
          </a:p>
        </p:txBody>
      </p:sp>
      <p:sp>
        <p:nvSpPr>
          <p:cNvPr id="391" name="Shape 12"/>
          <p:cNvSpPr/>
          <p:nvPr/>
        </p:nvSpPr>
        <p:spPr>
          <a:xfrm>
            <a:off x="896040" y="4617720"/>
            <a:ext cx="136800" cy="13680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92" name="Text 13"/>
          <p:cNvSpPr/>
          <p:nvPr/>
        </p:nvSpPr>
        <p:spPr>
          <a:xfrm>
            <a:off x="1170360" y="4563000"/>
            <a:ext cx="53031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152238"/>
                </a:solidFill>
                <a:effectLst/>
                <a:uFillTx/>
                <a:latin typeface="Arial"/>
                <a:ea typeface="Arial"/>
              </a:rPr>
              <a:t>Progressive SQL concepts</a:t>
            </a:r>
            <a:endParaRPr b="0" lang="en-US" sz="1150" strike="noStrike" u="none">
              <a:solidFill>
                <a:srgbClr val="000000"/>
              </a:solidFill>
              <a:effectLst/>
              <a:uFillTx/>
              <a:latin typeface="Arial"/>
            </a:endParaRPr>
          </a:p>
        </p:txBody>
      </p:sp>
      <p:sp>
        <p:nvSpPr>
          <p:cNvPr id="393" name="Shape 14"/>
          <p:cNvSpPr/>
          <p:nvPr/>
        </p:nvSpPr>
        <p:spPr>
          <a:xfrm>
            <a:off x="896040" y="4937760"/>
            <a:ext cx="136800" cy="13680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394" name="Text 15"/>
          <p:cNvSpPr/>
          <p:nvPr/>
        </p:nvSpPr>
        <p:spPr>
          <a:xfrm>
            <a:off x="1170360" y="4883040"/>
            <a:ext cx="53031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50" strike="noStrike" u="none">
                <a:solidFill>
                  <a:srgbClr val="152238"/>
                </a:solidFill>
                <a:effectLst/>
                <a:uFillTx/>
                <a:latin typeface="Arial"/>
                <a:ea typeface="Arial"/>
              </a:rPr>
              <a:t>Business-style analytical questions</a:t>
            </a:r>
            <a:endParaRPr b="0" lang="en-US" sz="1150" strike="noStrike" u="none">
              <a:solidFill>
                <a:srgbClr val="000000"/>
              </a:solidFill>
              <a:effectLst/>
              <a:uFillTx/>
              <a:latin typeface="Arial"/>
            </a:endParaRPr>
          </a:p>
        </p:txBody>
      </p:sp>
      <p:pic>
        <p:nvPicPr>
          <p:cNvPr id="395" name="Image 0" descr="/mnt/data/sql_deck_assets/github.png"/>
          <p:cNvPicPr/>
          <p:nvPr/>
        </p:nvPicPr>
        <p:blipFill>
          <a:blip r:embed="rId1"/>
          <a:stretch/>
        </p:blipFill>
        <p:spPr>
          <a:xfrm>
            <a:off x="8275320" y="1920240"/>
            <a:ext cx="1554120" cy="1554120"/>
          </a:xfrm>
          <a:prstGeom prst="rect">
            <a:avLst/>
          </a:prstGeom>
          <a:noFill/>
          <a:ln w="0">
            <a:noFill/>
          </a:ln>
        </p:spPr>
      </p:pic>
      <p:sp>
        <p:nvSpPr>
          <p:cNvPr id="396" name="Text 16"/>
          <p:cNvSpPr/>
          <p:nvPr/>
        </p:nvSpPr>
        <p:spPr>
          <a:xfrm>
            <a:off x="7936920" y="3675960"/>
            <a:ext cx="223992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4213d"/>
                </a:solidFill>
                <a:effectLst/>
                <a:uFillTx/>
                <a:latin typeface="Arial"/>
                <a:ea typeface="Arial"/>
              </a:rPr>
              <a:t>Scan to open the repository</a:t>
            </a:r>
            <a:endParaRPr b="0" lang="en-US" sz="1100" strike="noStrike" u="none">
              <a:solidFill>
                <a:srgbClr val="000000"/>
              </a:solidFill>
              <a:effectLst/>
              <a:uFillTx/>
              <a:latin typeface="Arial"/>
            </a:endParaRPr>
          </a:p>
        </p:txBody>
      </p:sp>
      <p:sp>
        <p:nvSpPr>
          <p:cNvPr id="397" name="Text 17"/>
          <p:cNvSpPr/>
          <p:nvPr/>
        </p:nvSpPr>
        <p:spPr>
          <a:xfrm>
            <a:off x="7973640" y="4069080"/>
            <a:ext cx="214848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00" strike="noStrike" u="none">
                <a:solidFill>
                  <a:srgbClr val="667085"/>
                </a:solidFill>
                <a:effectLst/>
                <a:uFillTx/>
                <a:latin typeface="Arial"/>
                <a:ea typeface="Arial"/>
              </a:rPr>
              <a:t>Project source • SQL</a:t>
            </a:r>
            <a:endParaRPr b="0" lang="en-US" sz="1000" strike="noStrike" u="none">
              <a:solidFill>
                <a:srgbClr val="000000"/>
              </a:solidFill>
              <a:effectLst/>
              <a:uFillTx/>
              <a:latin typeface="Arial"/>
            </a:endParaRPr>
          </a:p>
        </p:txBody>
      </p:sp>
      <p:sp>
        <p:nvSpPr>
          <p:cNvPr id="398" name="PlaceHolder 1"/>
          <p:cNvSpPr>
            <a:spLocks noGrp="1"/>
          </p:cNvSpPr>
          <p:nvPr>
            <p:ph type="sldNum" idx="15"/>
          </p:nvPr>
        </p:nvSpPr>
        <p:spPr>
          <a:xfrm>
            <a:off x="11685960" y="6464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trike="noStrike" u="none">
                <a:solidFill>
                  <a:srgbClr val="7a8595"/>
                </a:solidFill>
                <a:effectLst/>
                <a:uFillTx/>
                <a:latin typeface="Arial"/>
                <a:ea typeface="Arial"/>
              </a:defRPr>
            </a:lvl1pPr>
          </a:lstStyle>
          <a:p>
            <a:pPr indent="0" defTabSz="914400">
              <a:lnSpc>
                <a:spcPct val="100000"/>
              </a:lnSpc>
              <a:buNone/>
            </a:pPr>
            <a:fld id="{2AF463D8-2677-4552-886D-1426F58384E9}" type="slidenum">
              <a:rPr b="0" lang="en-US" sz="800" strike="noStrike" u="none">
                <a:solidFill>
                  <a:srgbClr val="7a8595"/>
                </a:solidFill>
                <a:effectLst/>
                <a:uFillTx/>
                <a:latin typeface="Arial"/>
                <a:ea typeface="Arial"/>
              </a:rPr>
              <a:t>&lt;number&gt;</a:t>
            </a:fld>
            <a:endParaRPr b="0" lang="en-US" sz="8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Text 0"/>
          <p:cNvSpPr/>
          <p:nvPr/>
        </p:nvSpPr>
        <p:spPr>
          <a:xfrm>
            <a:off x="548640" y="347400"/>
            <a:ext cx="25599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11" strike="noStrike" u="none">
                <a:solidFill>
                  <a:srgbClr val="008c95"/>
                </a:solidFill>
                <a:effectLst/>
                <a:uFillTx/>
                <a:latin typeface="Arial"/>
                <a:ea typeface="Arial"/>
              </a:rPr>
              <a:t>12 • DATA SCIENCE FOUNDATION</a:t>
            </a:r>
            <a:endParaRPr b="0" lang="en-US" sz="900" strike="noStrike" u="none">
              <a:solidFill>
                <a:srgbClr val="000000"/>
              </a:solidFill>
              <a:effectLst/>
              <a:uFillTx/>
              <a:latin typeface="Arial"/>
            </a:endParaRPr>
          </a:p>
        </p:txBody>
      </p:sp>
      <p:sp>
        <p:nvSpPr>
          <p:cNvPr id="400" name="Text 1"/>
          <p:cNvSpPr/>
          <p:nvPr/>
        </p:nvSpPr>
        <p:spPr>
          <a:xfrm>
            <a:off x="548640" y="640080"/>
            <a:ext cx="10606680" cy="566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900" strike="noStrike" u="none">
                <a:solidFill>
                  <a:srgbClr val="14213d"/>
                </a:solidFill>
                <a:effectLst/>
                <a:uFillTx/>
                <a:latin typeface="Cambria"/>
                <a:ea typeface="Cambria"/>
              </a:rPr>
              <a:t>Data science foundation</a:t>
            </a:r>
            <a:endParaRPr b="0" lang="en-US" sz="2900" strike="noStrike" u="none">
              <a:solidFill>
                <a:srgbClr val="000000"/>
              </a:solidFill>
              <a:effectLst/>
              <a:uFillTx/>
              <a:latin typeface="Arial"/>
            </a:endParaRPr>
          </a:p>
        </p:txBody>
      </p:sp>
      <p:sp>
        <p:nvSpPr>
          <p:cNvPr id="401" name="Text 2"/>
          <p:cNvSpPr/>
          <p:nvPr/>
        </p:nvSpPr>
        <p:spPr>
          <a:xfrm>
            <a:off x="548640" y="1243440"/>
            <a:ext cx="1060668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667085"/>
                </a:solidFill>
                <a:effectLst/>
                <a:uFillTx/>
                <a:latin typeface="Arial"/>
                <a:ea typeface="Arial"/>
              </a:rPr>
              <a:t>This project builds core foundations for data science: SQL, relational data modeling, analytical reasoning, and business interpretation.</a:t>
            </a:r>
            <a:endParaRPr b="0" lang="en-US" sz="1250" strike="noStrike" u="none">
              <a:solidFill>
                <a:srgbClr val="000000"/>
              </a:solidFill>
              <a:effectLst/>
              <a:uFillTx/>
              <a:latin typeface="Arial"/>
            </a:endParaRPr>
          </a:p>
        </p:txBody>
      </p:sp>
      <p:sp>
        <p:nvSpPr>
          <p:cNvPr id="402" name="PlaceHolder 1"/>
          <p:cNvSpPr>
            <a:spLocks noGrp="1"/>
          </p:cNvSpPr>
          <p:nvPr>
            <p:ph type="sldNum" idx="16"/>
          </p:nvPr>
        </p:nvSpPr>
        <p:spPr>
          <a:xfrm>
            <a:off x="11685960" y="646488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800" strike="noStrike" u="none">
                <a:solidFill>
                  <a:srgbClr val="7a8595"/>
                </a:solidFill>
                <a:effectLst/>
                <a:uFillTx/>
                <a:latin typeface="Arial"/>
                <a:ea typeface="Arial"/>
              </a:defRPr>
            </a:lvl1pPr>
          </a:lstStyle>
          <a:p>
            <a:pPr indent="0" defTabSz="914400">
              <a:lnSpc>
                <a:spcPct val="100000"/>
              </a:lnSpc>
              <a:buNone/>
            </a:pPr>
            <a:fld id="{3C3514C2-FDE6-4927-B25C-0AEC42864034}" type="slidenum">
              <a:rPr b="0" lang="en-US" sz="800" strike="noStrike" u="none">
                <a:solidFill>
                  <a:srgbClr val="7a8595"/>
                </a:solidFill>
                <a:effectLst/>
                <a:uFillTx/>
                <a:latin typeface="Arial"/>
                <a:ea typeface="Arial"/>
              </a:rPr>
              <a:t>&lt;number&gt;</a:t>
            </a:fld>
            <a:endParaRPr b="0" lang="en-US" sz="800" strike="noStrike" u="none">
              <a:solidFill>
                <a:srgbClr val="000000"/>
              </a:solidFill>
              <a:effectLst/>
              <a:uFillTx/>
              <a:latin typeface="Times New Roman"/>
            </a:endParaRPr>
          </a:p>
        </p:txBody>
      </p:sp>
      <p:sp>
        <p:nvSpPr>
          <p:cNvPr id="403" name="Rounded Rectangle 25"/>
          <p:cNvSpPr/>
          <p:nvPr/>
        </p:nvSpPr>
        <p:spPr>
          <a:xfrm>
            <a:off x="594360" y="1847160"/>
            <a:ext cx="5257440" cy="1572480"/>
          </a:xfrm>
          <a:prstGeom prst="roundRect">
            <a:avLst>
              <a:gd name="adj" fmla="val 16667"/>
            </a:avLst>
          </a:prstGeom>
          <a:solidFill>
            <a:srgbClr val="ffffff"/>
          </a:solidFill>
          <a:ln w="10160">
            <a:solidFill>
              <a:srgbClr val="e4e9e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Arial"/>
            </a:endParaRPr>
          </a:p>
        </p:txBody>
      </p:sp>
      <p:sp>
        <p:nvSpPr>
          <p:cNvPr id="404" name="Oval 26"/>
          <p:cNvSpPr/>
          <p:nvPr/>
        </p:nvSpPr>
        <p:spPr>
          <a:xfrm>
            <a:off x="795600" y="2103120"/>
            <a:ext cx="383760" cy="383760"/>
          </a:xfrm>
          <a:prstGeom prst="ellipse">
            <a:avLst/>
          </a:prstGeom>
          <a:solidFill>
            <a:srgbClr val="008c95"/>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Arial"/>
            </a:endParaRPr>
          </a:p>
        </p:txBody>
      </p:sp>
      <p:sp>
        <p:nvSpPr>
          <p:cNvPr id="405" name="TextBox 27"/>
          <p:cNvSpPr/>
          <p:nvPr/>
        </p:nvSpPr>
        <p:spPr>
          <a:xfrm>
            <a:off x="795600" y="2126160"/>
            <a:ext cx="383760" cy="2282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900" strike="noStrike" u="none">
                <a:solidFill>
                  <a:srgbClr val="14213d"/>
                </a:solidFill>
                <a:effectLst/>
                <a:uFillTx/>
                <a:latin typeface="Arial"/>
              </a:rPr>
              <a:t>1</a:t>
            </a:r>
            <a:endParaRPr b="0" lang="en-US" sz="900" strike="noStrike" u="none">
              <a:solidFill>
                <a:srgbClr val="000000"/>
              </a:solidFill>
              <a:effectLst/>
              <a:uFillTx/>
              <a:latin typeface="Arial"/>
            </a:endParaRPr>
          </a:p>
        </p:txBody>
      </p:sp>
      <p:sp>
        <p:nvSpPr>
          <p:cNvPr id="406" name="TextBox 28"/>
          <p:cNvSpPr/>
          <p:nvPr/>
        </p:nvSpPr>
        <p:spPr>
          <a:xfrm>
            <a:off x="1344240" y="2048400"/>
            <a:ext cx="4306320" cy="2923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700" strike="noStrike" u="none">
                <a:solidFill>
                  <a:srgbClr val="14213d"/>
                </a:solidFill>
                <a:effectLst/>
                <a:uFillTx/>
                <a:latin typeface="Arial"/>
              </a:rPr>
              <a:t>SQL analysis</a:t>
            </a:r>
            <a:endParaRPr b="0" lang="en-US" sz="1700" strike="noStrike" u="none">
              <a:solidFill>
                <a:srgbClr val="000000"/>
              </a:solidFill>
              <a:effectLst/>
              <a:uFillTx/>
              <a:latin typeface="Arial"/>
            </a:endParaRPr>
          </a:p>
        </p:txBody>
      </p:sp>
      <p:sp>
        <p:nvSpPr>
          <p:cNvPr id="407" name="TextBox 29"/>
          <p:cNvSpPr/>
          <p:nvPr/>
        </p:nvSpPr>
        <p:spPr>
          <a:xfrm>
            <a:off x="1344240" y="2450520"/>
            <a:ext cx="4297320" cy="6854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250" strike="noStrike" u="none">
                <a:solidFill>
                  <a:srgbClr val="667085"/>
                </a:solidFill>
                <a:effectLst/>
                <a:uFillTx/>
                <a:latin typeface="Arial"/>
              </a:rPr>
              <a:t>CTEs, window functions, JOINs, aggregations, and date functions.</a:t>
            </a:r>
            <a:endParaRPr b="0" lang="en-US" sz="1250" strike="noStrike" u="none">
              <a:solidFill>
                <a:srgbClr val="000000"/>
              </a:solidFill>
              <a:effectLst/>
              <a:uFillTx/>
              <a:latin typeface="Arial"/>
            </a:endParaRPr>
          </a:p>
        </p:txBody>
      </p:sp>
      <p:sp>
        <p:nvSpPr>
          <p:cNvPr id="408" name="Rounded Rectangle 30"/>
          <p:cNvSpPr/>
          <p:nvPr/>
        </p:nvSpPr>
        <p:spPr>
          <a:xfrm>
            <a:off x="6263640" y="1847160"/>
            <a:ext cx="5257440" cy="1572480"/>
          </a:xfrm>
          <a:prstGeom prst="roundRect">
            <a:avLst>
              <a:gd name="adj" fmla="val 16667"/>
            </a:avLst>
          </a:prstGeom>
          <a:solidFill>
            <a:srgbClr val="ffffff"/>
          </a:solidFill>
          <a:ln w="10160">
            <a:solidFill>
              <a:srgbClr val="e4e9e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Arial"/>
            </a:endParaRPr>
          </a:p>
        </p:txBody>
      </p:sp>
      <p:sp>
        <p:nvSpPr>
          <p:cNvPr id="409" name="Oval 31"/>
          <p:cNvSpPr/>
          <p:nvPr/>
        </p:nvSpPr>
        <p:spPr>
          <a:xfrm>
            <a:off x="6464880" y="2103120"/>
            <a:ext cx="383760" cy="383760"/>
          </a:xfrm>
          <a:prstGeom prst="ellipse">
            <a:avLst/>
          </a:prstGeom>
          <a:solidFill>
            <a:srgbClr val="36c5d8"/>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Arial"/>
            </a:endParaRPr>
          </a:p>
        </p:txBody>
      </p:sp>
      <p:sp>
        <p:nvSpPr>
          <p:cNvPr id="410" name="TextBox 32"/>
          <p:cNvSpPr/>
          <p:nvPr/>
        </p:nvSpPr>
        <p:spPr>
          <a:xfrm>
            <a:off x="6464880" y="2126160"/>
            <a:ext cx="383760" cy="2282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900" strike="noStrike" u="none">
                <a:solidFill>
                  <a:srgbClr val="14213d"/>
                </a:solidFill>
                <a:effectLst/>
                <a:uFillTx/>
                <a:latin typeface="Arial"/>
              </a:rPr>
              <a:t>2</a:t>
            </a:r>
            <a:endParaRPr b="0" lang="en-US" sz="900" strike="noStrike" u="none">
              <a:solidFill>
                <a:srgbClr val="000000"/>
              </a:solidFill>
              <a:effectLst/>
              <a:uFillTx/>
              <a:latin typeface="Arial"/>
            </a:endParaRPr>
          </a:p>
        </p:txBody>
      </p:sp>
      <p:sp>
        <p:nvSpPr>
          <p:cNvPr id="411" name="TextBox 33"/>
          <p:cNvSpPr/>
          <p:nvPr/>
        </p:nvSpPr>
        <p:spPr>
          <a:xfrm>
            <a:off x="7013520" y="2048400"/>
            <a:ext cx="4306320" cy="2923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700" strike="noStrike" u="none">
                <a:solidFill>
                  <a:srgbClr val="14213d"/>
                </a:solidFill>
                <a:effectLst/>
                <a:uFillTx/>
                <a:latin typeface="Arial"/>
              </a:rPr>
              <a:t>Relational data modeling</a:t>
            </a:r>
            <a:endParaRPr b="0" lang="en-US" sz="1700" strike="noStrike" u="none">
              <a:solidFill>
                <a:srgbClr val="000000"/>
              </a:solidFill>
              <a:effectLst/>
              <a:uFillTx/>
              <a:latin typeface="Arial"/>
            </a:endParaRPr>
          </a:p>
        </p:txBody>
      </p:sp>
      <p:sp>
        <p:nvSpPr>
          <p:cNvPr id="412" name="TextBox 34"/>
          <p:cNvSpPr/>
          <p:nvPr/>
        </p:nvSpPr>
        <p:spPr>
          <a:xfrm>
            <a:off x="7013520" y="2450520"/>
            <a:ext cx="4297320" cy="6854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250" strike="noStrike" u="none">
                <a:solidFill>
                  <a:srgbClr val="667085"/>
                </a:solidFill>
                <a:effectLst/>
                <a:uFillTx/>
                <a:latin typeface="Arial"/>
              </a:rPr>
              <a:t>Customers, orders, products, inventory, stores, and line-item relationships.</a:t>
            </a:r>
            <a:endParaRPr b="0" lang="en-US" sz="1250" strike="noStrike" u="none">
              <a:solidFill>
                <a:srgbClr val="000000"/>
              </a:solidFill>
              <a:effectLst/>
              <a:uFillTx/>
              <a:latin typeface="Arial"/>
            </a:endParaRPr>
          </a:p>
        </p:txBody>
      </p:sp>
      <p:sp>
        <p:nvSpPr>
          <p:cNvPr id="413" name="Rounded Rectangle 35"/>
          <p:cNvSpPr/>
          <p:nvPr/>
        </p:nvSpPr>
        <p:spPr>
          <a:xfrm>
            <a:off x="594360" y="3675960"/>
            <a:ext cx="5257440" cy="1572480"/>
          </a:xfrm>
          <a:prstGeom prst="roundRect">
            <a:avLst>
              <a:gd name="adj" fmla="val 16667"/>
            </a:avLst>
          </a:prstGeom>
          <a:solidFill>
            <a:srgbClr val="ffffff"/>
          </a:solidFill>
          <a:ln w="10160">
            <a:solidFill>
              <a:srgbClr val="e4e9e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Arial"/>
            </a:endParaRPr>
          </a:p>
        </p:txBody>
      </p:sp>
      <p:sp>
        <p:nvSpPr>
          <p:cNvPr id="414" name="Oval 36"/>
          <p:cNvSpPr/>
          <p:nvPr/>
        </p:nvSpPr>
        <p:spPr>
          <a:xfrm>
            <a:off x="795600" y="3931920"/>
            <a:ext cx="383760" cy="383760"/>
          </a:xfrm>
          <a:prstGeom prst="ellipse">
            <a:avLst/>
          </a:prstGeom>
          <a:solidFill>
            <a:srgbClr val="f4a26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Arial"/>
            </a:endParaRPr>
          </a:p>
        </p:txBody>
      </p:sp>
      <p:sp>
        <p:nvSpPr>
          <p:cNvPr id="415" name="TextBox 37"/>
          <p:cNvSpPr/>
          <p:nvPr/>
        </p:nvSpPr>
        <p:spPr>
          <a:xfrm>
            <a:off x="795600" y="3954600"/>
            <a:ext cx="383760" cy="2282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900" strike="noStrike" u="none">
                <a:solidFill>
                  <a:srgbClr val="14213d"/>
                </a:solidFill>
                <a:effectLst/>
                <a:uFillTx/>
                <a:latin typeface="Arial"/>
              </a:rPr>
              <a:t>3</a:t>
            </a:r>
            <a:endParaRPr b="0" lang="en-US" sz="900" strike="noStrike" u="none">
              <a:solidFill>
                <a:srgbClr val="000000"/>
              </a:solidFill>
              <a:effectLst/>
              <a:uFillTx/>
              <a:latin typeface="Arial"/>
            </a:endParaRPr>
          </a:p>
        </p:txBody>
      </p:sp>
      <p:sp>
        <p:nvSpPr>
          <p:cNvPr id="416" name="TextBox 38"/>
          <p:cNvSpPr/>
          <p:nvPr/>
        </p:nvSpPr>
        <p:spPr>
          <a:xfrm>
            <a:off x="1344240" y="3877200"/>
            <a:ext cx="4306320" cy="2923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700" strike="noStrike" u="none">
                <a:solidFill>
                  <a:srgbClr val="14213d"/>
                </a:solidFill>
                <a:effectLst/>
                <a:uFillTx/>
                <a:latin typeface="Arial"/>
              </a:rPr>
              <a:t>Analytical thinking</a:t>
            </a:r>
            <a:endParaRPr b="0" lang="en-US" sz="1700" strike="noStrike" u="none">
              <a:solidFill>
                <a:srgbClr val="000000"/>
              </a:solidFill>
              <a:effectLst/>
              <a:uFillTx/>
              <a:latin typeface="Arial"/>
            </a:endParaRPr>
          </a:p>
        </p:txBody>
      </p:sp>
      <p:sp>
        <p:nvSpPr>
          <p:cNvPr id="417" name="TextBox 39"/>
          <p:cNvSpPr/>
          <p:nvPr/>
        </p:nvSpPr>
        <p:spPr>
          <a:xfrm>
            <a:off x="1344240" y="4279320"/>
            <a:ext cx="4297320" cy="6854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250" strike="noStrike" u="none">
                <a:solidFill>
                  <a:srgbClr val="667085"/>
                </a:solidFill>
                <a:effectLst/>
                <a:uFillTx/>
                <a:latin typeface="Arial"/>
              </a:rPr>
              <a:t>Translate business questions into measurable metrics, comparisons, and patterns.</a:t>
            </a:r>
            <a:endParaRPr b="0" lang="en-US" sz="1250" strike="noStrike" u="none">
              <a:solidFill>
                <a:srgbClr val="000000"/>
              </a:solidFill>
              <a:effectLst/>
              <a:uFillTx/>
              <a:latin typeface="Arial"/>
            </a:endParaRPr>
          </a:p>
        </p:txBody>
      </p:sp>
      <p:sp>
        <p:nvSpPr>
          <p:cNvPr id="418" name="Rounded Rectangle 40"/>
          <p:cNvSpPr/>
          <p:nvPr/>
        </p:nvSpPr>
        <p:spPr>
          <a:xfrm>
            <a:off x="6263640" y="3675960"/>
            <a:ext cx="5257440" cy="1572480"/>
          </a:xfrm>
          <a:prstGeom prst="roundRect">
            <a:avLst>
              <a:gd name="adj" fmla="val 16667"/>
            </a:avLst>
          </a:prstGeom>
          <a:solidFill>
            <a:srgbClr val="ffffff"/>
          </a:solidFill>
          <a:ln w="10160">
            <a:solidFill>
              <a:srgbClr val="e4e9ef"/>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Arial"/>
            </a:endParaRPr>
          </a:p>
        </p:txBody>
      </p:sp>
      <p:sp>
        <p:nvSpPr>
          <p:cNvPr id="419" name="Oval 41"/>
          <p:cNvSpPr/>
          <p:nvPr/>
        </p:nvSpPr>
        <p:spPr>
          <a:xfrm>
            <a:off x="6464880" y="3931920"/>
            <a:ext cx="383760" cy="383760"/>
          </a:xfrm>
          <a:prstGeom prst="ellipse">
            <a:avLst/>
          </a:prstGeom>
          <a:solidFill>
            <a:srgbClr val="f6bd6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Arial"/>
            </a:endParaRPr>
          </a:p>
        </p:txBody>
      </p:sp>
      <p:sp>
        <p:nvSpPr>
          <p:cNvPr id="420" name="TextBox 42"/>
          <p:cNvSpPr/>
          <p:nvPr/>
        </p:nvSpPr>
        <p:spPr>
          <a:xfrm>
            <a:off x="6464880" y="3954600"/>
            <a:ext cx="383760" cy="22824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900" strike="noStrike" u="none">
                <a:solidFill>
                  <a:srgbClr val="14213d"/>
                </a:solidFill>
                <a:effectLst/>
                <a:uFillTx/>
                <a:latin typeface="Arial"/>
              </a:rPr>
              <a:t>4</a:t>
            </a:r>
            <a:endParaRPr b="0" lang="en-US" sz="900" strike="noStrike" u="none">
              <a:solidFill>
                <a:srgbClr val="000000"/>
              </a:solidFill>
              <a:effectLst/>
              <a:uFillTx/>
              <a:latin typeface="Arial"/>
            </a:endParaRPr>
          </a:p>
        </p:txBody>
      </p:sp>
      <p:sp>
        <p:nvSpPr>
          <p:cNvPr id="421" name="TextBox 43"/>
          <p:cNvSpPr/>
          <p:nvPr/>
        </p:nvSpPr>
        <p:spPr>
          <a:xfrm>
            <a:off x="7013520" y="3877200"/>
            <a:ext cx="4306320" cy="2923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en-US" sz="1700" strike="noStrike" u="none">
                <a:solidFill>
                  <a:srgbClr val="14213d"/>
                </a:solidFill>
                <a:effectLst/>
                <a:uFillTx/>
                <a:latin typeface="Arial"/>
              </a:rPr>
              <a:t>Next focus in data science</a:t>
            </a:r>
            <a:endParaRPr b="0" lang="en-US" sz="1700" strike="noStrike" u="none">
              <a:solidFill>
                <a:srgbClr val="000000"/>
              </a:solidFill>
              <a:effectLst/>
              <a:uFillTx/>
              <a:latin typeface="Arial"/>
            </a:endParaRPr>
          </a:p>
        </p:txBody>
      </p:sp>
      <p:sp>
        <p:nvSpPr>
          <p:cNvPr id="422" name="TextBox 44"/>
          <p:cNvSpPr/>
          <p:nvPr/>
        </p:nvSpPr>
        <p:spPr>
          <a:xfrm>
            <a:off x="7013520" y="4279320"/>
            <a:ext cx="4297320" cy="68544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250" strike="noStrike" u="none">
                <a:solidFill>
                  <a:srgbClr val="667085"/>
                </a:solidFill>
                <a:effectLst/>
                <a:uFillTx/>
                <a:latin typeface="Arial"/>
              </a:rPr>
              <a:t>Build deeper skills in statistics, machine learning, feature engineering, and applied modeling.</a:t>
            </a:r>
            <a:endParaRPr b="0" lang="en-US" sz="1250" strike="noStrike" u="none">
              <a:solidFill>
                <a:srgbClr val="000000"/>
              </a:solidFill>
              <a:effectLst/>
              <a:uFillTx/>
              <a:latin typeface="Arial"/>
            </a:endParaRPr>
          </a:p>
        </p:txBody>
      </p:sp>
      <p:sp>
        <p:nvSpPr>
          <p:cNvPr id="423" name="TextBox 45"/>
          <p:cNvSpPr/>
          <p:nvPr/>
        </p:nvSpPr>
        <p:spPr>
          <a:xfrm>
            <a:off x="594360" y="5504760"/>
            <a:ext cx="10789560" cy="2923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050" strike="noStrike" u="none">
                <a:solidFill>
                  <a:srgbClr val="667085"/>
                </a:solidFill>
                <a:effectLst/>
                <a:uFillTx/>
                <a:latin typeface="Arial"/>
              </a:rPr>
              <a:t>This project strengthens the SQL and analytical foundation used for broader data science work.</a:t>
            </a:r>
            <a:endParaRPr b="0" lang="en-US" sz="10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213d"/>
        </a:solidFill>
      </p:bgPr>
    </p:bg>
    <p:spTree>
      <p:nvGrpSpPr>
        <p:cNvPr id="1" name=""/>
        <p:cNvGrpSpPr/>
        <p:nvPr/>
      </p:nvGrpSpPr>
      <p:grpSpPr>
        <a:xfrm>
          <a:off x="0" y="0"/>
          <a:ext cx="0" cy="0"/>
          <a:chOff x="0" y="0"/>
          <a:chExt cx="0" cy="0"/>
        </a:xfrm>
      </p:grpSpPr>
      <p:sp>
        <p:nvSpPr>
          <p:cNvPr id="424" name="Text 0"/>
          <p:cNvSpPr/>
          <p:nvPr/>
        </p:nvSpPr>
        <p:spPr>
          <a:xfrm>
            <a:off x="713160" y="960120"/>
            <a:ext cx="7223400" cy="1234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ffffff"/>
                </a:solidFill>
                <a:effectLst/>
                <a:uFillTx/>
                <a:latin typeface="Cambria"/>
                <a:ea typeface="Cambria"/>
              </a:rPr>
              <a:t>SQL Data Science Mastery</a:t>
            </a:r>
            <a:endParaRPr b="0" lang="en-US" sz="3800" strike="noStrike" u="none">
              <a:solidFill>
                <a:srgbClr val="ffffff"/>
              </a:solidFill>
              <a:effectLst/>
              <a:uFillTx/>
              <a:latin typeface="Arial"/>
            </a:endParaRPr>
          </a:p>
          <a:p>
            <a:pPr defTabSz="914400">
              <a:lnSpc>
                <a:spcPct val="100000"/>
              </a:lnSpc>
              <a:tabLst>
                <a:tab algn="l" pos="0"/>
              </a:tabLst>
            </a:pPr>
            <a:endParaRPr b="0" lang="en-US" sz="3800" strike="noStrike" u="none">
              <a:solidFill>
                <a:srgbClr val="ffffff"/>
              </a:solidFill>
              <a:effectLst/>
              <a:uFillTx/>
              <a:latin typeface="Arial"/>
            </a:endParaRPr>
          </a:p>
        </p:txBody>
      </p:sp>
      <p:sp>
        <p:nvSpPr>
          <p:cNvPr id="425" name="Text 1"/>
          <p:cNvSpPr/>
          <p:nvPr/>
        </p:nvSpPr>
        <p:spPr>
          <a:xfrm>
            <a:off x="731520" y="2487240"/>
            <a:ext cx="6674760" cy="639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700" strike="noStrike" u="none">
                <a:solidFill>
                  <a:srgbClr val="d9e4f1"/>
                </a:solidFill>
                <a:effectLst/>
                <a:uFillTx/>
                <a:latin typeface="Arial"/>
                <a:ea typeface="Arial"/>
              </a:rPr>
              <a:t>Retail order analytics using relational data and SQL.</a:t>
            </a:r>
            <a:endParaRPr b="0" lang="en-US" sz="1700" strike="noStrike" u="none">
              <a:solidFill>
                <a:srgbClr val="ffffff"/>
              </a:solidFill>
              <a:effectLst/>
              <a:uFillTx/>
              <a:latin typeface="Arial"/>
            </a:endParaRPr>
          </a:p>
        </p:txBody>
      </p:sp>
      <p:sp>
        <p:nvSpPr>
          <p:cNvPr id="426" name="Shape 2">
            <a:hlinkClick r:id="rId1"/>
          </p:cNvPr>
          <p:cNvSpPr/>
          <p:nvPr/>
        </p:nvSpPr>
        <p:spPr>
          <a:xfrm>
            <a:off x="731520" y="3822120"/>
            <a:ext cx="233136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427" name="Shape 3"/>
          <p:cNvSpPr/>
          <p:nvPr/>
        </p:nvSpPr>
        <p:spPr>
          <a:xfrm>
            <a:off x="896040" y="3986640"/>
            <a:ext cx="200880" cy="200880"/>
          </a:xfrm>
          <a:prstGeom prst="ellipse">
            <a:avLst/>
          </a:prstGeom>
          <a:solidFill>
            <a:srgbClr val="36c5d8"/>
          </a:solidFill>
          <a:ln w="12700">
            <a:solidFill>
              <a:srgbClr val="36c5d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428" name="Text 4"/>
          <p:cNvSpPr/>
          <p:nvPr/>
        </p:nvSpPr>
        <p:spPr>
          <a:xfrm>
            <a:off x="1188720" y="3959280"/>
            <a:ext cx="173700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31.62%</a:t>
            </a:r>
            <a:endParaRPr b="0" lang="en-US" sz="2700" strike="noStrike" u="none">
              <a:solidFill>
                <a:srgbClr val="ffffff"/>
              </a:solidFill>
              <a:effectLst/>
              <a:uFillTx/>
              <a:latin typeface="Arial"/>
            </a:endParaRPr>
          </a:p>
        </p:txBody>
      </p:sp>
      <p:sp>
        <p:nvSpPr>
          <p:cNvPr id="429" name="Text 5"/>
          <p:cNvSpPr/>
          <p:nvPr/>
        </p:nvSpPr>
        <p:spPr>
          <a:xfrm>
            <a:off x="1188720" y="4425840"/>
            <a:ext cx="16912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repeat customer rate</a:t>
            </a:r>
            <a:endParaRPr b="0" lang="en-US" sz="1050" strike="noStrike" u="none">
              <a:solidFill>
                <a:srgbClr val="ffffff"/>
              </a:solidFill>
              <a:effectLst/>
              <a:uFillTx/>
              <a:latin typeface="Arial"/>
            </a:endParaRPr>
          </a:p>
        </p:txBody>
      </p:sp>
      <p:sp>
        <p:nvSpPr>
          <p:cNvPr id="430" name="Shape 6"/>
          <p:cNvSpPr/>
          <p:nvPr/>
        </p:nvSpPr>
        <p:spPr>
          <a:xfrm>
            <a:off x="3246120" y="3822120"/>
            <a:ext cx="233136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431" name="Shape 7"/>
          <p:cNvSpPr/>
          <p:nvPr/>
        </p:nvSpPr>
        <p:spPr>
          <a:xfrm>
            <a:off x="3410640" y="3986640"/>
            <a:ext cx="200880" cy="200880"/>
          </a:xfrm>
          <a:prstGeom prst="ellipse">
            <a:avLst/>
          </a:prstGeom>
          <a:solidFill>
            <a:srgbClr val="f4a261"/>
          </a:solidFill>
          <a:ln w="12700">
            <a:solidFill>
              <a:srgbClr val="f4a261">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432" name="Text 8"/>
          <p:cNvSpPr/>
          <p:nvPr/>
        </p:nvSpPr>
        <p:spPr>
          <a:xfrm>
            <a:off x="3703320" y="3959280"/>
            <a:ext cx="173700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241 days</a:t>
            </a:r>
            <a:endParaRPr b="0" lang="en-US" sz="2700" strike="noStrike" u="none">
              <a:solidFill>
                <a:srgbClr val="ffffff"/>
              </a:solidFill>
              <a:effectLst/>
              <a:uFillTx/>
              <a:latin typeface="Arial"/>
            </a:endParaRPr>
          </a:p>
        </p:txBody>
      </p:sp>
      <p:sp>
        <p:nvSpPr>
          <p:cNvPr id="433" name="Text 9"/>
          <p:cNvSpPr/>
          <p:nvPr/>
        </p:nvSpPr>
        <p:spPr>
          <a:xfrm>
            <a:off x="3703320" y="4425840"/>
            <a:ext cx="16912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085"/>
                </a:solidFill>
                <a:effectLst/>
                <a:uFillTx/>
                <a:latin typeface="Arial"/>
                <a:ea typeface="Arial"/>
              </a:rPr>
              <a:t>longest purchase gap</a:t>
            </a:r>
            <a:endParaRPr b="0" lang="en-US" sz="1050" strike="noStrike" u="none">
              <a:solidFill>
                <a:srgbClr val="ffffff"/>
              </a:solidFill>
              <a:effectLst/>
              <a:uFillTx/>
              <a:latin typeface="Arial"/>
            </a:endParaRPr>
          </a:p>
        </p:txBody>
      </p:sp>
      <p:sp>
        <p:nvSpPr>
          <p:cNvPr id="434" name="Shape 10"/>
          <p:cNvSpPr/>
          <p:nvPr/>
        </p:nvSpPr>
        <p:spPr>
          <a:xfrm>
            <a:off x="5760720" y="3822120"/>
            <a:ext cx="2331360" cy="1051200"/>
          </a:xfrm>
          <a:prstGeom prst="roundRect">
            <a:avLst>
              <a:gd name="adj" fmla="val 13913"/>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435" name="Shape 11"/>
          <p:cNvSpPr/>
          <p:nvPr/>
        </p:nvSpPr>
        <p:spPr>
          <a:xfrm>
            <a:off x="5925240" y="3986640"/>
            <a:ext cx="200880" cy="20088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436" name="Text 12"/>
          <p:cNvSpPr/>
          <p:nvPr/>
        </p:nvSpPr>
        <p:spPr>
          <a:xfrm>
            <a:off x="6217920" y="3959280"/>
            <a:ext cx="1737000" cy="4111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700" strike="noStrike" u="none">
                <a:solidFill>
                  <a:srgbClr val="14213d"/>
                </a:solidFill>
                <a:effectLst/>
                <a:uFillTx/>
                <a:latin typeface="Arial"/>
                <a:ea typeface="Arial"/>
              </a:rPr>
              <a:t>12</a:t>
            </a:r>
            <a:endParaRPr b="0" lang="en-US" sz="2700" strike="noStrike" u="none">
              <a:solidFill>
                <a:srgbClr val="ffffff"/>
              </a:solidFill>
              <a:effectLst/>
              <a:uFillTx/>
              <a:latin typeface="Arial"/>
            </a:endParaRPr>
          </a:p>
        </p:txBody>
      </p:sp>
      <p:sp>
        <p:nvSpPr>
          <p:cNvPr id="437" name="Text 13"/>
          <p:cNvSpPr/>
          <p:nvPr/>
        </p:nvSpPr>
        <p:spPr>
          <a:xfrm>
            <a:off x="6217920" y="4425840"/>
            <a:ext cx="1691280" cy="22824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050" strike="noStrike" u="none">
                <a:solidFill>
                  <a:srgbClr val="667085"/>
                </a:solidFill>
                <a:effectLst/>
                <a:uFillTx/>
                <a:latin typeface="Arial"/>
                <a:ea typeface="Arial"/>
              </a:rPr>
              <a:t>high-sales / low-stock products</a:t>
            </a:r>
            <a:endParaRPr b="0" lang="en-US" sz="1050" strike="noStrike" u="none">
              <a:solidFill>
                <a:srgbClr val="ffffff"/>
              </a:solidFill>
              <a:effectLst/>
              <a:uFillTx/>
              <a:latin typeface="Arial"/>
            </a:endParaRPr>
          </a:p>
        </p:txBody>
      </p:sp>
      <p:sp>
        <p:nvSpPr>
          <p:cNvPr id="438" name="Shape 14"/>
          <p:cNvSpPr/>
          <p:nvPr/>
        </p:nvSpPr>
        <p:spPr>
          <a:xfrm>
            <a:off x="731520" y="5440680"/>
            <a:ext cx="868320" cy="310680"/>
          </a:xfrm>
          <a:prstGeom prst="roundRect">
            <a:avLst>
              <a:gd name="adj" fmla="val 50000"/>
            </a:avLst>
          </a:prstGeom>
          <a:solidFill>
            <a:srgbClr val="214e64"/>
          </a:solidFill>
          <a:ln w="12700">
            <a:solidFill>
              <a:srgbClr val="214e64">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439" name="Text 15">
            <a:hlinkClick r:id="rId2"/>
          </p:cNvPr>
          <p:cNvSpPr/>
          <p:nvPr/>
        </p:nvSpPr>
        <p:spPr>
          <a:xfrm>
            <a:off x="731520" y="5459040"/>
            <a:ext cx="8683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8fe7ef"/>
                </a:solidFill>
                <a:effectLst/>
                <a:uFillTx/>
                <a:latin typeface="Arial"/>
                <a:ea typeface="Arial"/>
              </a:rPr>
              <a:t>GITHUB</a:t>
            </a:r>
            <a:endParaRPr b="0" lang="en-US" sz="900" strike="noStrike" u="none">
              <a:solidFill>
                <a:srgbClr val="ffffff"/>
              </a:solidFill>
              <a:effectLst/>
              <a:uFillTx/>
              <a:latin typeface="Arial"/>
            </a:endParaRPr>
          </a:p>
        </p:txBody>
      </p:sp>
      <p:sp>
        <p:nvSpPr>
          <p:cNvPr id="440" name="Text 16">
            <a:hlinkClick r:id="rId3"/>
          </p:cNvPr>
          <p:cNvSpPr/>
          <p:nvPr/>
        </p:nvSpPr>
        <p:spPr>
          <a:xfrm>
            <a:off x="1764720" y="5459040"/>
            <a:ext cx="32457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8fe7ef"/>
                </a:solidFill>
                <a:effectLst/>
                <a:uFillTx/>
                <a:latin typeface="Arial"/>
                <a:ea typeface="Arial"/>
              </a:rPr>
              <a:t>sql-data-science-mastery</a:t>
            </a:r>
            <a:endParaRPr b="0" lang="en-US" sz="1100" strike="noStrike" u="none">
              <a:solidFill>
                <a:srgbClr val="ffffff"/>
              </a:solidFill>
              <a:effectLst/>
              <a:uFillTx/>
              <a:latin typeface="Arial"/>
            </a:endParaRPr>
          </a:p>
        </p:txBody>
      </p:sp>
      <p:sp>
        <p:nvSpPr>
          <p:cNvPr id="441" name="Shape 17">
            <a:hlinkClick r:id="rId4"/>
          </p:cNvPr>
          <p:cNvSpPr/>
          <p:nvPr/>
        </p:nvSpPr>
        <p:spPr>
          <a:xfrm>
            <a:off x="5266800" y="5440680"/>
            <a:ext cx="987120" cy="310680"/>
          </a:xfrm>
          <a:prstGeom prst="roundRect">
            <a:avLst>
              <a:gd name="adj" fmla="val 50000"/>
            </a:avLst>
          </a:prstGeom>
          <a:solidFill>
            <a:srgbClr val="214e64"/>
          </a:solidFill>
          <a:ln w="12700">
            <a:solidFill>
              <a:srgbClr val="214e64">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442" name="Text 18">
            <a:hlinkClick r:id="rId5"/>
          </p:cNvPr>
          <p:cNvSpPr/>
          <p:nvPr/>
        </p:nvSpPr>
        <p:spPr>
          <a:xfrm>
            <a:off x="5266800" y="5459040"/>
            <a:ext cx="9871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8fe7ef"/>
                </a:solidFill>
                <a:effectLst/>
                <a:uFillTx/>
                <a:latin typeface="Arial"/>
                <a:ea typeface="Arial"/>
              </a:rPr>
              <a:t>LINKEDIN</a:t>
            </a:r>
            <a:endParaRPr b="0" lang="en-US" sz="900" strike="noStrike" u="none">
              <a:solidFill>
                <a:srgbClr val="ffffff"/>
              </a:solidFill>
              <a:effectLst/>
              <a:uFillTx/>
              <a:latin typeface="Arial"/>
            </a:endParaRPr>
          </a:p>
        </p:txBody>
      </p:sp>
      <p:sp>
        <p:nvSpPr>
          <p:cNvPr id="443" name="Text 19">
            <a:hlinkClick r:id="rId6"/>
          </p:cNvPr>
          <p:cNvSpPr/>
          <p:nvPr/>
        </p:nvSpPr>
        <p:spPr>
          <a:xfrm>
            <a:off x="6419160" y="5459040"/>
            <a:ext cx="255996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8fe7ef"/>
                </a:solidFill>
                <a:effectLst/>
                <a:uFillTx/>
                <a:latin typeface="Arial"/>
                <a:ea typeface="Arial"/>
              </a:rPr>
              <a:t>Prasanth Sai Kalipindi</a:t>
            </a:r>
            <a:endParaRPr b="0" lang="en-US" sz="1100" strike="noStrike" u="none">
              <a:solidFill>
                <a:srgbClr val="ffffff"/>
              </a:solidFill>
              <a:effectLst/>
              <a:uFillTx/>
              <a:latin typeface="Arial"/>
            </a:endParaRPr>
          </a:p>
        </p:txBody>
      </p:sp>
      <p:sp>
        <p:nvSpPr>
          <p:cNvPr id="444" name="Shape 20"/>
          <p:cNvSpPr/>
          <p:nvPr/>
        </p:nvSpPr>
        <p:spPr>
          <a:xfrm>
            <a:off x="9875520" y="1463040"/>
            <a:ext cx="1096920" cy="1096920"/>
          </a:xfrm>
          <a:prstGeom prst="ellipse">
            <a:avLst/>
          </a:prstGeom>
          <a:solidFill>
            <a:srgbClr val="008c95"/>
          </a:solidFill>
          <a:ln w="12700">
            <a:solidFill>
              <a:srgbClr val="008c95">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445" name="Text 21"/>
          <p:cNvSpPr/>
          <p:nvPr/>
        </p:nvSpPr>
        <p:spPr>
          <a:xfrm>
            <a:off x="9875520" y="1810440"/>
            <a:ext cx="1096920" cy="27396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1" lang="en-US" sz="2000" strike="noStrike" u="none">
                <a:solidFill>
                  <a:srgbClr val="ffffff"/>
                </a:solidFill>
                <a:effectLst/>
                <a:uFillTx/>
                <a:latin typeface="Cambria"/>
                <a:ea typeface="Cambria"/>
              </a:rPr>
              <a:t>SQL</a:t>
            </a:r>
            <a:endParaRPr b="0" lang="en-US" sz="2000" strike="noStrike" u="none">
              <a:solidFill>
                <a:srgbClr val="ffffff"/>
              </a:solidFill>
              <a:effectLst/>
              <a:uFillTx/>
              <a:latin typeface="Arial"/>
            </a:endParaRPr>
          </a:p>
        </p:txBody>
      </p:sp>
      <p:sp>
        <p:nvSpPr>
          <p:cNvPr id="446" name="Shape 22"/>
          <p:cNvSpPr/>
          <p:nvPr/>
        </p:nvSpPr>
        <p:spPr>
          <a:xfrm>
            <a:off x="9464040" y="2880360"/>
            <a:ext cx="1234440" cy="360"/>
          </a:xfrm>
          <a:prstGeom prst="line">
            <a:avLst/>
          </a:prstGeom>
          <a:ln w="25400">
            <a:solidFill>
              <a:srgbClr val="36c5d8"/>
            </a:solidFill>
            <a:roun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Arial"/>
            </a:endParaRPr>
          </a:p>
        </p:txBody>
      </p:sp>
      <p:sp>
        <p:nvSpPr>
          <p:cNvPr id="447" name="Shape 23"/>
          <p:cNvSpPr/>
          <p:nvPr/>
        </p:nvSpPr>
        <p:spPr>
          <a:xfrm>
            <a:off x="10058400" y="3657600"/>
            <a:ext cx="502560" cy="502560"/>
          </a:xfrm>
          <a:prstGeom prst="ellipse">
            <a:avLst/>
          </a:prstGeom>
          <a:solidFill>
            <a:srgbClr val="f4a261"/>
          </a:solidFill>
          <a:ln w="12700">
            <a:solidFill>
              <a:srgbClr val="f4a261">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448" name="Shape 24"/>
          <p:cNvSpPr/>
          <p:nvPr/>
        </p:nvSpPr>
        <p:spPr>
          <a:xfrm>
            <a:off x="9372600" y="4343400"/>
            <a:ext cx="319680" cy="319680"/>
          </a:xfrm>
          <a:prstGeom prst="ellipse">
            <a:avLst/>
          </a:prstGeom>
          <a:solidFill>
            <a:srgbClr val="36c5d8"/>
          </a:solidFill>
          <a:ln w="12700">
            <a:solidFill>
              <a:srgbClr val="36c5d8">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449" name="Shape 25"/>
          <p:cNvSpPr/>
          <p:nvPr/>
        </p:nvSpPr>
        <p:spPr>
          <a:xfrm>
            <a:off x="10652760" y="4297680"/>
            <a:ext cx="292320" cy="292320"/>
          </a:xfrm>
          <a:prstGeom prst="ellipse">
            <a:avLst/>
          </a:prstGeom>
          <a:solidFill>
            <a:srgbClr val="f6bd60"/>
          </a:solidFill>
          <a:ln w="12700">
            <a:solidFill>
              <a:srgbClr val="f6bd60">
                <a:alpha val="0"/>
              </a:srgbClr>
            </a:solidFill>
            <a:round/>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Arial"/>
            </a:endParaRPr>
          </a:p>
        </p:txBody>
      </p:sp>
      <p:sp>
        <p:nvSpPr>
          <p:cNvPr id="450" name="Text 26"/>
          <p:cNvSpPr/>
          <p:nvPr/>
        </p:nvSpPr>
        <p:spPr>
          <a:xfrm>
            <a:off x="9006840" y="5212080"/>
            <a:ext cx="196560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000" strike="noStrike" u="none">
                <a:solidFill>
                  <a:srgbClr val="ffffff"/>
                </a:solidFill>
                <a:effectLst/>
                <a:uFillTx/>
                <a:latin typeface="Arial"/>
                <a:ea typeface="Arial"/>
              </a:rPr>
              <a:t>Thank you</a:t>
            </a:r>
            <a:endParaRPr b="0" lang="en-US"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Words>0</Words>
  <Paragraphs>0</Paragraphs>
  <Company>Personal Portfolio</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2026-09-10T15:22:55Z</dcterms:created>
  <dc:creator>Prasanth Sai Kalipindi</dc:creator>
  <dc:description/>
  <dc:language>en-US</dc:language>
  <cp:lastModifiedBy>Prasanth Sai Kalipindi</cp:lastModifiedBy>
  <dcterms:modified xsi:type="dcterms:W3CDTF">2026-09-10T15:22:55Z</dcterms:modified>
  <cp:revision>1</cp:revision>
  <dc:subject>SQL Data Science Mastery — Portfolio Project</dc:subject>
  <dc:title>SQL Data Science Mastery</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15</vt:r8>
  </property>
  <property fmtid="{D5CDD505-2E9C-101B-9397-08002B2CF9AE}" pid="3" name="PresentationFormat">
    <vt:lpwstr>On-screen Show (16:9)</vt:lpwstr>
  </property>
  <property fmtid="{D5CDD505-2E9C-101B-9397-08002B2CF9AE}" pid="4" name="Slides">
    <vt:r8>15</vt:r8>
  </property>
</Properties>
</file>